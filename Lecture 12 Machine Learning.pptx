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60"/>
  </p:notesMasterIdLst>
  <p:sldIdLst>
    <p:sldId id="285" r:id="rId2"/>
    <p:sldId id="504" r:id="rId3"/>
    <p:sldId id="505" r:id="rId4"/>
    <p:sldId id="506" r:id="rId5"/>
    <p:sldId id="507" r:id="rId6"/>
    <p:sldId id="508" r:id="rId7"/>
    <p:sldId id="509" r:id="rId8"/>
    <p:sldId id="406" r:id="rId9"/>
    <p:sldId id="407" r:id="rId10"/>
    <p:sldId id="408" r:id="rId11"/>
    <p:sldId id="409" r:id="rId12"/>
    <p:sldId id="410" r:id="rId13"/>
    <p:sldId id="414" r:id="rId14"/>
    <p:sldId id="457" r:id="rId15"/>
    <p:sldId id="458" r:id="rId16"/>
    <p:sldId id="456" r:id="rId17"/>
    <p:sldId id="400" r:id="rId18"/>
    <p:sldId id="401" r:id="rId19"/>
    <p:sldId id="420" r:id="rId20"/>
    <p:sldId id="435" r:id="rId21"/>
    <p:sldId id="460" r:id="rId22"/>
    <p:sldId id="461" r:id="rId23"/>
    <p:sldId id="462" r:id="rId24"/>
    <p:sldId id="464" r:id="rId25"/>
    <p:sldId id="465" r:id="rId26"/>
    <p:sldId id="466" r:id="rId27"/>
    <p:sldId id="467" r:id="rId28"/>
    <p:sldId id="468" r:id="rId29"/>
    <p:sldId id="469" r:id="rId30"/>
    <p:sldId id="470" r:id="rId31"/>
    <p:sldId id="471" r:id="rId32"/>
    <p:sldId id="472" r:id="rId33"/>
    <p:sldId id="473" r:id="rId34"/>
    <p:sldId id="474" r:id="rId35"/>
    <p:sldId id="475" r:id="rId36"/>
    <p:sldId id="486" r:id="rId37"/>
    <p:sldId id="519" r:id="rId38"/>
    <p:sldId id="521" r:id="rId39"/>
    <p:sldId id="522" r:id="rId40"/>
    <p:sldId id="523" r:id="rId41"/>
    <p:sldId id="524" r:id="rId42"/>
    <p:sldId id="525" r:id="rId43"/>
    <p:sldId id="489" r:id="rId44"/>
    <p:sldId id="388" r:id="rId45"/>
    <p:sldId id="392" r:id="rId46"/>
    <p:sldId id="452" r:id="rId47"/>
    <p:sldId id="453" r:id="rId48"/>
    <p:sldId id="494" r:id="rId49"/>
    <p:sldId id="490" r:id="rId50"/>
    <p:sldId id="501" r:id="rId51"/>
    <p:sldId id="511" r:id="rId52"/>
    <p:sldId id="512" r:id="rId53"/>
    <p:sldId id="513" r:id="rId54"/>
    <p:sldId id="515" r:id="rId55"/>
    <p:sldId id="516" r:id="rId56"/>
    <p:sldId id="517" r:id="rId57"/>
    <p:sldId id="518" r:id="rId58"/>
    <p:sldId id="451" r:id="rId59"/>
  </p:sldIdLst>
  <p:sldSz cx="9144000" cy="6858000" type="screen4x3"/>
  <p:notesSz cx="6896100" cy="9182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1864" autoAdjust="0"/>
  </p:normalViewPr>
  <p:slideViewPr>
    <p:cSldViewPr>
      <p:cViewPr varScale="1">
        <p:scale>
          <a:sx n="87" d="100"/>
          <a:sy n="87" d="100"/>
        </p:scale>
        <p:origin x="124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58245BB-8BB1-2AEF-7E83-2E47EDA937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76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94E06BD-2EE3-B0B1-F6E4-0FF74E5EB4F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8425" y="0"/>
            <a:ext cx="29876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6BF2777-36C3-D573-C99E-EB4423E447A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688975"/>
            <a:ext cx="4591050" cy="3443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FE09AA6D-36D8-B7AE-E2E6-7C76EBF906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3" y="4360863"/>
            <a:ext cx="5057775" cy="413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5CA82509-E011-B3FB-4234-6F943CE1E1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3313"/>
            <a:ext cx="298767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C66E44A3-B451-107F-33FD-4BE7648428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8425" y="8723313"/>
            <a:ext cx="298767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pPr>
              <a:defRPr/>
            </a:pPr>
            <a:fld id="{4AB063D4-6207-4B41-956A-BCA6CBEAD2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0A3D0420-1132-CCAB-99C7-8F8429BE9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8D3A0CC0-3EEF-62DC-5CC7-D99CEC99B2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4ED63C0B-29CF-CB34-5C7A-FA15045F1B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85DC98D-D0BF-4817-8C63-EF5F9F2CF299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62B759FD-0800-8746-9E11-03E866CB71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E08156-BD59-49CA-A26C-EDC702D0AA6C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0243" name="Rectangle 2050">
            <a:extLst>
              <a:ext uri="{FF2B5EF4-FFF2-40B4-BE49-F238E27FC236}">
                <a16:creationId xmlns:a16="http://schemas.microsoft.com/office/drawing/2014/main" id="{F2AC8531-B9C0-6CDE-B7F0-CB7F201966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2051">
            <a:extLst>
              <a:ext uri="{FF2B5EF4-FFF2-40B4-BE49-F238E27FC236}">
                <a16:creationId xmlns:a16="http://schemas.microsoft.com/office/drawing/2014/main" id="{C486704C-9FE5-9EDA-EA0C-6FB2BB3C9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1AE8B09C-2EB3-D5E1-811E-E5FEDE5C5A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FDFBE8-82EB-421E-A6E3-F0D3E54B3AF4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5C97768-F56F-CD24-2279-FD2811F03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DEB6616-8759-1588-058E-51E634DF3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1A32C35-BF31-DA9F-AA11-3E55DF933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8FA3F63-1155-48CD-82DA-B6F91E0861E1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14339" name="Rectangle 2050">
            <a:extLst>
              <a:ext uri="{FF2B5EF4-FFF2-40B4-BE49-F238E27FC236}">
                <a16:creationId xmlns:a16="http://schemas.microsoft.com/office/drawing/2014/main" id="{312E83EA-5D80-9435-DF76-BAE299B273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2051">
            <a:extLst>
              <a:ext uri="{FF2B5EF4-FFF2-40B4-BE49-F238E27FC236}">
                <a16:creationId xmlns:a16="http://schemas.microsoft.com/office/drawing/2014/main" id="{4FA31EC9-9B67-9E34-E9ED-C1E7322A8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BD5F841C-D8AE-4742-A9D4-38BD139FB7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8E96D8-942E-4F4A-911B-53271B1EA66B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6387" name="Rectangle 1026">
            <a:extLst>
              <a:ext uri="{FF2B5EF4-FFF2-40B4-BE49-F238E27FC236}">
                <a16:creationId xmlns:a16="http://schemas.microsoft.com/office/drawing/2014/main" id="{2CE7CD5B-588A-5AC3-AC2D-7587709B46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1027">
            <a:extLst>
              <a:ext uri="{FF2B5EF4-FFF2-40B4-BE49-F238E27FC236}">
                <a16:creationId xmlns:a16="http://schemas.microsoft.com/office/drawing/2014/main" id="{07506E01-1B79-14B4-2A66-78D3B0A30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C900143C-2821-9BE2-0C44-698580789E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E0411A-C277-4FE2-865B-53841B8ADBF9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7734C69-FD3A-C5F7-5879-F8202459D2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6BDB444-F997-2C24-348C-22D7D4654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>
            <a:extLst>
              <a:ext uri="{FF2B5EF4-FFF2-40B4-BE49-F238E27FC236}">
                <a16:creationId xmlns:a16="http://schemas.microsoft.com/office/drawing/2014/main" id="{5937504A-12E6-09BE-6BBA-C412208C29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0AC912-F8A5-41AF-83B2-8158965982E1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B2FCE0A-F317-FAB1-0378-4D0374281D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E203C67-09B5-724A-9B1B-C27EBB445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>
            <a:extLst>
              <a:ext uri="{FF2B5EF4-FFF2-40B4-BE49-F238E27FC236}">
                <a16:creationId xmlns:a16="http://schemas.microsoft.com/office/drawing/2014/main" id="{89872438-EF32-E905-EA05-3DD115411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BB5922-90B6-4EA8-B531-A51596F08E45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871F69D-BE78-109F-FFAB-311F1D4635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36ACD09-92D0-A503-3718-C67748499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5418FAD3-5A16-DF90-0FB6-BCDD816F70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DAA46AE7-4C13-DF17-D4AA-C5595A0AE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37607628-9B31-F5A1-0BE7-1A863E206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420EA8B-48BB-4949-A063-756FC891C04D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3A4EE6BC-DA1B-D718-C7E2-2150942008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E88AA399-2A3C-2C2D-D95B-77B758D8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41B1F56E-7140-70A4-BE03-74740CCDB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F655E8-47AD-4322-97E4-877BAAB14962}" type="slidenum">
              <a:rPr lang="en-US" altLang="en-US" sz="1200" smtClean="0"/>
              <a:pPr/>
              <a:t>23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6AFFCC56-4104-095B-E5D5-7B5F530AEB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E62F8D2B-AC18-055D-D53A-672435EB8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1906CA42-FE4B-DD56-AFE2-B404FB643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5B984A-8A9B-404C-A2D6-B9931836941A}" type="slidenum">
              <a:rPr lang="en-US" altLang="en-US" sz="1200" smtClean="0"/>
              <a:pPr/>
              <a:t>29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C2521FEC-0390-CE98-0608-A7A1FE13F3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D674D7A2-D259-B82F-862B-ADF255A0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09A55957-AC7D-DE8F-4FD9-506EB315A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31532B-7E23-4DF3-822A-224208A40243}" type="slidenum">
              <a:rPr lang="en-US" altLang="en-US" sz="1200" smtClean="0"/>
              <a:pPr/>
              <a:t>41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E7CFCC2C-8DCB-093E-941E-485F3614E1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96913"/>
            <a:ext cx="4572000" cy="3429000"/>
          </a:xfrm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8E5D6B54-E4C7-3EC9-A137-6C7D5791E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FCC7D980-9F13-EB7C-291E-8FE1B01856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96913"/>
            <a:ext cx="4572000" cy="3429000"/>
          </a:xfrm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9B6C237C-F3A8-E272-38C2-CDCE4D057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157CBC11-4B7A-094A-36A2-C493F42B9C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96913"/>
            <a:ext cx="4572000" cy="3429000"/>
          </a:xfrm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E40F4CFC-0CAD-19D3-F07D-8C2968871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4784E6B-FA2F-F30B-2524-D5AC48F0AC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34775567-96E7-8F34-5565-1B360D1A46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22C729B3-307B-E6E7-3798-331A56604E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B877BEC-4DDD-420B-3129-49EE0054D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A6E99A-4F86-ED07-68FE-C8A39E2BED8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" name="Rounded Rectangle 10">
            <a:extLst>
              <a:ext uri="{FF2B5EF4-FFF2-40B4-BE49-F238E27FC236}">
                <a16:creationId xmlns:a16="http://schemas.microsoft.com/office/drawing/2014/main" id="{78E646E7-E98F-5A65-D7A1-7C6871D4EFB6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06151-017B-51BF-1994-FCE394A12DE8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1FC51-E0D5-1693-D41E-94E0AAF69894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9B6EA-B6DD-504B-5715-8491683308AF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F68E9644-D394-9F2A-A39F-6DF80E6D2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5D276-0C02-4FCB-88A0-CADE528E81BE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C939A85A-25A7-3D06-EF89-53110D16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4D42881-AB57-C7FD-6BF5-877345F9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893E5-724D-48A3-8C81-2ACFC38852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2159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BCF9845-CB74-2B6D-F839-02C4D9F9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B49AD-5D4A-45A7-B41A-54D895A8E1E6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F1D824A-A26F-E3A5-18A4-A39A2259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350AA9-52A8-C985-37D9-60D29C9E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24DEF-1E6F-46BD-A004-1026554A1B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01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28426F-76C0-6CE1-3316-13D0F605590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462E7303-5746-9029-59B9-CFDC93A89890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9EF551-FF5A-7047-D375-22620A105489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D0643-6904-F605-4ED0-618C83592EFB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13A18F-9B06-D2CC-C4E5-7936290CD348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511D89D-BE9A-350C-44A9-2F556FDC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CC00F-A539-43EA-8F03-8FB44A16118B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1E4FDE3-B226-884D-CD9D-02280537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B1B1827-1DDC-0BF6-0790-B4FD47A7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C23C4-BB54-4B73-881D-CDB8E16311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9274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624FA1C6-05EA-97DE-BF60-F22C636C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8F51A-C351-4863-B8D0-68A941C46D5B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E6F1965-03D1-D3AE-2A4F-BF98024C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A03D32A8-B979-0BF0-AD08-74CA2450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D650E-B9DD-4BDD-9C3E-C44CC55E45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77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3691AFCE-496B-7644-E05E-772CAFCA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A3397-0DD9-49F0-8D30-AE38F90A4F0E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FC81B0E-6CC9-DB71-EFA5-8BE2E9E4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DA12BEC7-4677-434B-8BBB-89124D3A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4DDC1-C370-4307-9AB0-1269893D4B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3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7BE063A-CBD0-80CD-FE5B-AC06DC24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E859E0-B020-49C0-B10B-6894F59B3F15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BE539BD-157A-3EFC-F88E-AB75B339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72B0C8A1-C658-5D4C-1954-2254ECA2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972EA-EA9E-4E4F-8865-804B4452E8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50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9E924EB0-CB48-E142-78D8-B58341F7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C952B-A304-432C-AF55-2992789EDE4C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7DDF0-7851-8B9A-BF47-7E833F92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20D013BA-7C83-28A3-B2E6-07175F0A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B3902-FE12-4742-BAAD-EDE373CDA4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76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A89236-EB2C-20F1-7331-331D30B1F81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DBE9EADF-1994-64A2-2D09-B9200BC29DB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09BB48D-1803-000B-45C7-E95166E0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4319C-D7AD-4B24-ABCA-4556A7591B08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C6CE455-F0B1-3EAE-EE67-825762E03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5570DA9-45E7-60E1-A441-62671336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E720A-2522-4A1D-823A-44BD58A911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27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2783BF-9DE5-7533-5EF6-6B43485099EA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8DDFB-66F9-3C8F-FAC5-86521E968460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3F372-93E3-B811-549A-3A20BA019AC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69FEF53D-5482-801F-27BC-52466149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5B2CA-5F34-4237-97B3-C147CD9E4DDD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58ACB7F-40F0-0BCA-A5A4-18188CBF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C9401C5-3D64-8B40-E7D6-99B1DF21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859F8-F08D-40FE-BEFF-1ADF8B6903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20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7955E980-2430-83E0-72F5-7635AF1E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6FA19-8748-48B5-9B94-5F2ED1C05AF7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7C6DE4D-E758-907F-91F2-7F95BE2D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AADD796-BEBD-1752-1971-892A4996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F491D-C79F-43D2-9F1F-14CCDC23BA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208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B03D3CE9-A694-E72F-8DA6-D84E6E5A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D0F7E-7496-41AB-AAA2-1A13DD2FDB79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09B1A4F-0654-1394-09B1-AAEA3C35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9D2D0EF-16CF-50BF-A566-90800579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A18EA9-D60C-40A5-9B04-8FEB5E46F6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15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17D8728-990F-3ECD-5734-17BAF831850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87733FBF-DEA6-9779-CB64-6569B150DC7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32B8067E-B11C-BCA7-EF7A-EBF45E57B2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047109A7-52C2-ED61-1ADD-0A5E4614C4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9DEC728-4FDD-5984-95F7-B03825529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91D37FD-D6A0-4A8F-83C7-B5447DF3E3AB}" type="datetimeFigureOut">
              <a:rPr lang="en-US"/>
              <a:pPr>
                <a:defRPr/>
              </a:pPr>
              <a:t>4/24/2025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BE26FA-5D47-70CE-04E8-E23896A4D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5F8C8C-6838-9189-4868-C32BC57CD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9BB0F329-9169-4448-BE29-BAD1F2AF96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2" r:id="rId2"/>
    <p:sldLayoutId id="2147483870" r:id="rId3"/>
    <p:sldLayoutId id="2147483863" r:id="rId4"/>
    <p:sldLayoutId id="2147483864" r:id="rId5"/>
    <p:sldLayoutId id="2147483865" r:id="rId6"/>
    <p:sldLayoutId id="2147483866" r:id="rId7"/>
    <p:sldLayoutId id="2147483871" r:id="rId8"/>
    <p:sldLayoutId id="2147483872" r:id="rId9"/>
    <p:sldLayoutId id="2147483867" r:id="rId10"/>
    <p:sldLayoutId id="214748386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MU Serif" panose="02000603000000000000" pitchFamily="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MU Serif" panose="02000603000000000000" pitchFamily="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MU Serif" panose="02000603000000000000" pitchFamily="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MU Serif" panose="02000603000000000000" pitchFamily="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2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>
            <a:extLst>
              <a:ext uri="{FF2B5EF4-FFF2-40B4-BE49-F238E27FC236}">
                <a16:creationId xmlns:a16="http://schemas.microsoft.com/office/drawing/2014/main" id="{7564F7D8-A63A-3E08-A736-178FDEE49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>
                <a:ea typeface="CMU Serif" panose="02000603000000000000" pitchFamily="2" charset="0"/>
                <a:cs typeface="CMU Serif" panose="02000603000000000000" pitchFamily="2" charset="0"/>
              </a:rPr>
              <a:t>Machine Learning</a:t>
            </a:r>
          </a:p>
        </p:txBody>
      </p:sp>
      <p:pic>
        <p:nvPicPr>
          <p:cNvPr id="7171" name="Picture 4" descr="16,700+ Machine Learning Deep Learning Stock Illustrations ...">
            <a:extLst>
              <a:ext uri="{FF2B5EF4-FFF2-40B4-BE49-F238E27FC236}">
                <a16:creationId xmlns:a16="http://schemas.microsoft.com/office/drawing/2014/main" id="{AF461F82-E30F-CFD9-09E6-A00C3E1EC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3124200"/>
            <a:ext cx="5229225" cy="360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Box 2">
            <a:extLst>
              <a:ext uri="{FF2B5EF4-FFF2-40B4-BE49-F238E27FC236}">
                <a16:creationId xmlns:a16="http://schemas.microsoft.com/office/drawing/2014/main" id="{307EEC64-3AC1-1468-8AB8-400FF51BD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0" y="128588"/>
            <a:ext cx="66802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40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CSE 440 </a:t>
            </a:r>
          </a:p>
          <a:p>
            <a:pPr algn="ctr"/>
            <a:r>
              <a:rPr lang="en-US" altLang="en-US" sz="440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B9BA860-1111-F563-AC3C-C86CF168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152400"/>
            <a:ext cx="8404225" cy="914400"/>
          </a:xfrm>
        </p:spPr>
        <p:txBody>
          <a:bodyPr/>
          <a:lstStyle/>
          <a:p>
            <a:r>
              <a:rPr lang="en-US" altLang="en-US"/>
              <a:t>What is Machine Learning?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DD92CD9-9B67-EF07-C3E8-3D67E2592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1238" y="1933575"/>
            <a:ext cx="2900362" cy="1328738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200" b="1"/>
              <a:t>Learning</a:t>
            </a:r>
          </a:p>
          <a:p>
            <a:pPr algn="ctr">
              <a:buFontTx/>
              <a:buNone/>
            </a:pPr>
            <a:r>
              <a:rPr lang="en-US" altLang="en-US" sz="3200" b="1"/>
              <a:t>algorithm</a:t>
            </a:r>
          </a:p>
        </p:txBody>
      </p:sp>
      <p:sp>
        <p:nvSpPr>
          <p:cNvPr id="9220" name="AutoShape 4">
            <a:extLst>
              <a:ext uri="{FF2B5EF4-FFF2-40B4-BE49-F238E27FC236}">
                <a16:creationId xmlns:a16="http://schemas.microsoft.com/office/drawing/2014/main" id="{41BE6F37-4AF7-3EB2-6DEF-4B3E186DD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3243263"/>
            <a:ext cx="1743075" cy="2114550"/>
          </a:xfrm>
          <a:prstGeom prst="can">
            <a:avLst>
              <a:gd name="adj" fmla="val 30328"/>
            </a:avLst>
          </a:prstGeom>
          <a:gradFill rotWithShape="0">
            <a:gsLst>
              <a:gs pos="0">
                <a:srgbClr val="336699"/>
              </a:gs>
              <a:gs pos="100000">
                <a:srgbClr val="F9FAFC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TRAINING</a:t>
            </a:r>
          </a:p>
          <a:p>
            <a:pPr eaLnBrk="1" hangingPunct="1"/>
            <a:r>
              <a:rPr lang="en-US" altLang="en-US"/>
              <a:t>DATA</a:t>
            </a:r>
          </a:p>
        </p:txBody>
      </p:sp>
      <p:sp>
        <p:nvSpPr>
          <p:cNvPr id="9221" name="AutoShape 6">
            <a:extLst>
              <a:ext uri="{FF2B5EF4-FFF2-40B4-BE49-F238E27FC236}">
                <a16:creationId xmlns:a16="http://schemas.microsoft.com/office/drawing/2014/main" id="{10B43414-9F2B-3189-6180-727877D0C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4000500"/>
            <a:ext cx="600075" cy="74295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366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9222" name="AutoShape 7">
            <a:extLst>
              <a:ext uri="{FF2B5EF4-FFF2-40B4-BE49-F238E27FC236}">
                <a16:creationId xmlns:a16="http://schemas.microsoft.com/office/drawing/2014/main" id="{4E22F1C6-762D-F537-2F55-A8BEBC339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038600"/>
            <a:ext cx="600075" cy="74295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366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9223" name="mainfrm">
            <a:extLst>
              <a:ext uri="{FF2B5EF4-FFF2-40B4-BE49-F238E27FC236}">
                <a16:creationId xmlns:a16="http://schemas.microsoft.com/office/drawing/2014/main" id="{61ECDF00-4756-0417-CB1D-5BEC9F08FAE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38450" y="3467100"/>
            <a:ext cx="1809750" cy="1809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0 h 21600"/>
              <a:gd name="T4" fmla="*/ 2147483646 w 21600"/>
              <a:gd name="T5" fmla="*/ 0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0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32 w 21600"/>
              <a:gd name="T25" fmla="*/ 22174 h 21600"/>
              <a:gd name="T26" fmla="*/ 21579 w 21600"/>
              <a:gd name="T27" fmla="*/ 2791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21600" y="10885"/>
                </a:moveTo>
                <a:lnTo>
                  <a:pt x="21600" y="0"/>
                </a:lnTo>
                <a:lnTo>
                  <a:pt x="10634" y="0"/>
                </a:lnTo>
                <a:lnTo>
                  <a:pt x="0" y="0"/>
                </a:lnTo>
                <a:lnTo>
                  <a:pt x="0" y="10885"/>
                </a:lnTo>
                <a:lnTo>
                  <a:pt x="0" y="19729"/>
                </a:lnTo>
                <a:lnTo>
                  <a:pt x="1163" y="19729"/>
                </a:lnTo>
                <a:lnTo>
                  <a:pt x="1163" y="21600"/>
                </a:lnTo>
                <a:lnTo>
                  <a:pt x="10800" y="21600"/>
                </a:lnTo>
                <a:lnTo>
                  <a:pt x="20603" y="21600"/>
                </a:lnTo>
                <a:lnTo>
                  <a:pt x="20603" y="19729"/>
                </a:lnTo>
                <a:lnTo>
                  <a:pt x="21600" y="19729"/>
                </a:lnTo>
                <a:lnTo>
                  <a:pt x="21600" y="10885"/>
                </a:lnTo>
                <a:close/>
              </a:path>
              <a:path w="21600" h="21600" extrusionOk="0">
                <a:moveTo>
                  <a:pt x="1163" y="19729"/>
                </a:moveTo>
                <a:lnTo>
                  <a:pt x="4320" y="19729"/>
                </a:lnTo>
                <a:lnTo>
                  <a:pt x="16449" y="19729"/>
                </a:lnTo>
                <a:lnTo>
                  <a:pt x="20603" y="19729"/>
                </a:lnTo>
                <a:lnTo>
                  <a:pt x="1163" y="19729"/>
                </a:lnTo>
                <a:moveTo>
                  <a:pt x="1495" y="2381"/>
                </a:moveTo>
                <a:lnTo>
                  <a:pt x="2160" y="2381"/>
                </a:lnTo>
                <a:lnTo>
                  <a:pt x="4985" y="2381"/>
                </a:lnTo>
                <a:lnTo>
                  <a:pt x="5982" y="2381"/>
                </a:lnTo>
                <a:lnTo>
                  <a:pt x="1495" y="2381"/>
                </a:lnTo>
                <a:lnTo>
                  <a:pt x="1495" y="3402"/>
                </a:lnTo>
                <a:lnTo>
                  <a:pt x="2160" y="3402"/>
                </a:lnTo>
                <a:lnTo>
                  <a:pt x="4985" y="3402"/>
                </a:lnTo>
                <a:lnTo>
                  <a:pt x="5982" y="3402"/>
                </a:lnTo>
                <a:lnTo>
                  <a:pt x="1495" y="3402"/>
                </a:lnTo>
                <a:lnTo>
                  <a:pt x="1495" y="4422"/>
                </a:lnTo>
                <a:lnTo>
                  <a:pt x="2160" y="4422"/>
                </a:lnTo>
                <a:lnTo>
                  <a:pt x="4985" y="4422"/>
                </a:lnTo>
                <a:lnTo>
                  <a:pt x="5982" y="4422"/>
                </a:lnTo>
                <a:lnTo>
                  <a:pt x="1495" y="4422"/>
                </a:lnTo>
                <a:lnTo>
                  <a:pt x="1495" y="5443"/>
                </a:lnTo>
                <a:lnTo>
                  <a:pt x="2160" y="5443"/>
                </a:lnTo>
                <a:lnTo>
                  <a:pt x="4985" y="5443"/>
                </a:lnTo>
                <a:lnTo>
                  <a:pt x="5982" y="5443"/>
                </a:lnTo>
                <a:lnTo>
                  <a:pt x="1495" y="5443"/>
                </a:lnTo>
                <a:lnTo>
                  <a:pt x="1495" y="6463"/>
                </a:lnTo>
                <a:lnTo>
                  <a:pt x="2160" y="6463"/>
                </a:lnTo>
                <a:lnTo>
                  <a:pt x="4985" y="6463"/>
                </a:lnTo>
                <a:lnTo>
                  <a:pt x="5982" y="6463"/>
                </a:lnTo>
                <a:lnTo>
                  <a:pt x="1495" y="6463"/>
                </a:lnTo>
                <a:lnTo>
                  <a:pt x="1495" y="7483"/>
                </a:lnTo>
                <a:lnTo>
                  <a:pt x="2160" y="7483"/>
                </a:lnTo>
                <a:lnTo>
                  <a:pt x="4985" y="7483"/>
                </a:lnTo>
                <a:lnTo>
                  <a:pt x="5982" y="7483"/>
                </a:lnTo>
                <a:lnTo>
                  <a:pt x="1495" y="7483"/>
                </a:lnTo>
                <a:lnTo>
                  <a:pt x="1495" y="8504"/>
                </a:lnTo>
                <a:lnTo>
                  <a:pt x="2160" y="8504"/>
                </a:lnTo>
                <a:lnTo>
                  <a:pt x="4985" y="8504"/>
                </a:lnTo>
                <a:lnTo>
                  <a:pt x="5982" y="8504"/>
                </a:lnTo>
                <a:lnTo>
                  <a:pt x="1495" y="8504"/>
                </a:lnTo>
                <a:lnTo>
                  <a:pt x="1495" y="9524"/>
                </a:lnTo>
                <a:lnTo>
                  <a:pt x="2160" y="9524"/>
                </a:lnTo>
                <a:lnTo>
                  <a:pt x="4985" y="9524"/>
                </a:lnTo>
                <a:lnTo>
                  <a:pt x="5982" y="9524"/>
                </a:lnTo>
                <a:lnTo>
                  <a:pt x="1495" y="9524"/>
                </a:lnTo>
                <a:lnTo>
                  <a:pt x="1495" y="10545"/>
                </a:lnTo>
                <a:lnTo>
                  <a:pt x="2160" y="10545"/>
                </a:lnTo>
                <a:lnTo>
                  <a:pt x="4985" y="10545"/>
                </a:lnTo>
                <a:lnTo>
                  <a:pt x="5982" y="10545"/>
                </a:lnTo>
                <a:lnTo>
                  <a:pt x="1495" y="10545"/>
                </a:lnTo>
                <a:lnTo>
                  <a:pt x="1495" y="11565"/>
                </a:lnTo>
                <a:lnTo>
                  <a:pt x="2160" y="11565"/>
                </a:lnTo>
                <a:lnTo>
                  <a:pt x="4985" y="11565"/>
                </a:lnTo>
                <a:lnTo>
                  <a:pt x="5982" y="11565"/>
                </a:lnTo>
                <a:lnTo>
                  <a:pt x="1495" y="11565"/>
                </a:lnTo>
                <a:lnTo>
                  <a:pt x="1495" y="12586"/>
                </a:lnTo>
                <a:lnTo>
                  <a:pt x="2160" y="12586"/>
                </a:lnTo>
                <a:lnTo>
                  <a:pt x="4985" y="12586"/>
                </a:lnTo>
                <a:lnTo>
                  <a:pt x="5982" y="12586"/>
                </a:lnTo>
                <a:lnTo>
                  <a:pt x="1495" y="12586"/>
                </a:lnTo>
                <a:lnTo>
                  <a:pt x="1495" y="13606"/>
                </a:lnTo>
                <a:lnTo>
                  <a:pt x="2160" y="13606"/>
                </a:lnTo>
                <a:lnTo>
                  <a:pt x="4985" y="13606"/>
                </a:lnTo>
                <a:lnTo>
                  <a:pt x="5982" y="13606"/>
                </a:lnTo>
                <a:lnTo>
                  <a:pt x="1495" y="13606"/>
                </a:lnTo>
                <a:lnTo>
                  <a:pt x="1495" y="14627"/>
                </a:lnTo>
                <a:lnTo>
                  <a:pt x="2160" y="14627"/>
                </a:lnTo>
                <a:lnTo>
                  <a:pt x="4985" y="14627"/>
                </a:lnTo>
                <a:lnTo>
                  <a:pt x="5982" y="14627"/>
                </a:lnTo>
                <a:lnTo>
                  <a:pt x="1495" y="14627"/>
                </a:lnTo>
                <a:lnTo>
                  <a:pt x="1495" y="15647"/>
                </a:lnTo>
                <a:lnTo>
                  <a:pt x="2160" y="15647"/>
                </a:lnTo>
                <a:lnTo>
                  <a:pt x="4985" y="15647"/>
                </a:lnTo>
                <a:lnTo>
                  <a:pt x="5982" y="15647"/>
                </a:lnTo>
                <a:lnTo>
                  <a:pt x="1495" y="15647"/>
                </a:lnTo>
                <a:lnTo>
                  <a:pt x="1495" y="16668"/>
                </a:lnTo>
                <a:lnTo>
                  <a:pt x="2160" y="16668"/>
                </a:lnTo>
                <a:lnTo>
                  <a:pt x="4985" y="16668"/>
                </a:lnTo>
                <a:lnTo>
                  <a:pt x="5982" y="16668"/>
                </a:lnTo>
                <a:lnTo>
                  <a:pt x="1495" y="16668"/>
                </a:lnTo>
                <a:lnTo>
                  <a:pt x="1495" y="17688"/>
                </a:lnTo>
                <a:lnTo>
                  <a:pt x="2160" y="17688"/>
                </a:lnTo>
                <a:lnTo>
                  <a:pt x="4985" y="17688"/>
                </a:lnTo>
                <a:lnTo>
                  <a:pt x="5982" y="17688"/>
                </a:lnTo>
                <a:lnTo>
                  <a:pt x="1495" y="17688"/>
                </a:lnTo>
                <a:moveTo>
                  <a:pt x="1994" y="19729"/>
                </a:moveTo>
                <a:lnTo>
                  <a:pt x="1994" y="20069"/>
                </a:lnTo>
                <a:lnTo>
                  <a:pt x="1994" y="21260"/>
                </a:lnTo>
                <a:lnTo>
                  <a:pt x="1994" y="21600"/>
                </a:lnTo>
                <a:lnTo>
                  <a:pt x="1994" y="19729"/>
                </a:lnTo>
                <a:lnTo>
                  <a:pt x="2658" y="19729"/>
                </a:lnTo>
                <a:lnTo>
                  <a:pt x="2658" y="20069"/>
                </a:lnTo>
                <a:lnTo>
                  <a:pt x="2658" y="21260"/>
                </a:lnTo>
                <a:lnTo>
                  <a:pt x="2658" y="21600"/>
                </a:lnTo>
                <a:lnTo>
                  <a:pt x="2658" y="19729"/>
                </a:lnTo>
                <a:lnTo>
                  <a:pt x="3489" y="19729"/>
                </a:lnTo>
                <a:lnTo>
                  <a:pt x="3489" y="20069"/>
                </a:lnTo>
                <a:lnTo>
                  <a:pt x="3489" y="21260"/>
                </a:lnTo>
                <a:lnTo>
                  <a:pt x="3489" y="21600"/>
                </a:lnTo>
                <a:lnTo>
                  <a:pt x="3489" y="19729"/>
                </a:lnTo>
                <a:lnTo>
                  <a:pt x="4320" y="19729"/>
                </a:lnTo>
                <a:lnTo>
                  <a:pt x="4320" y="20069"/>
                </a:lnTo>
                <a:lnTo>
                  <a:pt x="4320" y="21260"/>
                </a:lnTo>
                <a:lnTo>
                  <a:pt x="4320" y="21600"/>
                </a:lnTo>
                <a:lnTo>
                  <a:pt x="4320" y="19729"/>
                </a:lnTo>
                <a:lnTo>
                  <a:pt x="5151" y="19729"/>
                </a:lnTo>
                <a:lnTo>
                  <a:pt x="5151" y="20069"/>
                </a:lnTo>
                <a:lnTo>
                  <a:pt x="5151" y="21260"/>
                </a:lnTo>
                <a:lnTo>
                  <a:pt x="5151" y="21600"/>
                </a:lnTo>
                <a:lnTo>
                  <a:pt x="5151" y="19729"/>
                </a:lnTo>
                <a:lnTo>
                  <a:pt x="5982" y="19729"/>
                </a:lnTo>
                <a:lnTo>
                  <a:pt x="5982" y="20069"/>
                </a:lnTo>
                <a:lnTo>
                  <a:pt x="5982" y="21260"/>
                </a:lnTo>
                <a:lnTo>
                  <a:pt x="5982" y="21600"/>
                </a:lnTo>
                <a:lnTo>
                  <a:pt x="5982" y="19729"/>
                </a:lnTo>
                <a:lnTo>
                  <a:pt x="6812" y="19729"/>
                </a:lnTo>
                <a:lnTo>
                  <a:pt x="6812" y="20069"/>
                </a:lnTo>
                <a:lnTo>
                  <a:pt x="6812" y="21260"/>
                </a:lnTo>
                <a:lnTo>
                  <a:pt x="6812" y="21600"/>
                </a:lnTo>
                <a:lnTo>
                  <a:pt x="6812" y="19729"/>
                </a:lnTo>
                <a:lnTo>
                  <a:pt x="7643" y="19729"/>
                </a:lnTo>
                <a:lnTo>
                  <a:pt x="7643" y="20069"/>
                </a:lnTo>
                <a:lnTo>
                  <a:pt x="7643" y="21260"/>
                </a:lnTo>
                <a:lnTo>
                  <a:pt x="7643" y="21600"/>
                </a:lnTo>
                <a:lnTo>
                  <a:pt x="7643" y="19729"/>
                </a:lnTo>
                <a:lnTo>
                  <a:pt x="8474" y="19729"/>
                </a:lnTo>
                <a:lnTo>
                  <a:pt x="8474" y="20069"/>
                </a:lnTo>
                <a:lnTo>
                  <a:pt x="8474" y="21260"/>
                </a:lnTo>
                <a:lnTo>
                  <a:pt x="8474" y="21600"/>
                </a:lnTo>
                <a:lnTo>
                  <a:pt x="8474" y="19729"/>
                </a:lnTo>
                <a:lnTo>
                  <a:pt x="9305" y="19729"/>
                </a:lnTo>
                <a:lnTo>
                  <a:pt x="9305" y="20069"/>
                </a:lnTo>
                <a:lnTo>
                  <a:pt x="9305" y="21260"/>
                </a:lnTo>
                <a:lnTo>
                  <a:pt x="9305" y="21600"/>
                </a:lnTo>
                <a:lnTo>
                  <a:pt x="9305" y="19729"/>
                </a:lnTo>
                <a:lnTo>
                  <a:pt x="10135" y="19729"/>
                </a:lnTo>
                <a:lnTo>
                  <a:pt x="10135" y="20069"/>
                </a:lnTo>
                <a:lnTo>
                  <a:pt x="10135" y="21260"/>
                </a:lnTo>
                <a:lnTo>
                  <a:pt x="10135" y="21600"/>
                </a:lnTo>
                <a:lnTo>
                  <a:pt x="10135" y="19729"/>
                </a:lnTo>
                <a:lnTo>
                  <a:pt x="10966" y="19729"/>
                </a:lnTo>
                <a:lnTo>
                  <a:pt x="10966" y="20069"/>
                </a:lnTo>
                <a:lnTo>
                  <a:pt x="10966" y="21260"/>
                </a:lnTo>
                <a:lnTo>
                  <a:pt x="10966" y="21600"/>
                </a:lnTo>
                <a:lnTo>
                  <a:pt x="10966" y="19729"/>
                </a:lnTo>
                <a:lnTo>
                  <a:pt x="11797" y="19729"/>
                </a:lnTo>
                <a:lnTo>
                  <a:pt x="11797" y="20069"/>
                </a:lnTo>
                <a:lnTo>
                  <a:pt x="11797" y="21260"/>
                </a:lnTo>
                <a:lnTo>
                  <a:pt x="11797" y="21600"/>
                </a:lnTo>
                <a:lnTo>
                  <a:pt x="11797" y="19729"/>
                </a:lnTo>
                <a:lnTo>
                  <a:pt x="12462" y="19729"/>
                </a:lnTo>
                <a:lnTo>
                  <a:pt x="12462" y="20069"/>
                </a:lnTo>
                <a:lnTo>
                  <a:pt x="12462" y="21260"/>
                </a:lnTo>
                <a:lnTo>
                  <a:pt x="12462" y="21600"/>
                </a:lnTo>
                <a:lnTo>
                  <a:pt x="12462" y="19729"/>
                </a:lnTo>
                <a:lnTo>
                  <a:pt x="13292" y="19729"/>
                </a:lnTo>
                <a:lnTo>
                  <a:pt x="13292" y="20069"/>
                </a:lnTo>
                <a:lnTo>
                  <a:pt x="13292" y="21260"/>
                </a:lnTo>
                <a:lnTo>
                  <a:pt x="13292" y="21600"/>
                </a:lnTo>
                <a:lnTo>
                  <a:pt x="13292" y="19729"/>
                </a:lnTo>
                <a:lnTo>
                  <a:pt x="14123" y="19729"/>
                </a:lnTo>
                <a:lnTo>
                  <a:pt x="14123" y="20069"/>
                </a:lnTo>
                <a:lnTo>
                  <a:pt x="14123" y="21260"/>
                </a:lnTo>
                <a:lnTo>
                  <a:pt x="14123" y="21600"/>
                </a:lnTo>
                <a:lnTo>
                  <a:pt x="14123" y="19729"/>
                </a:lnTo>
                <a:lnTo>
                  <a:pt x="14954" y="19729"/>
                </a:lnTo>
                <a:lnTo>
                  <a:pt x="14954" y="20069"/>
                </a:lnTo>
                <a:lnTo>
                  <a:pt x="14954" y="21260"/>
                </a:lnTo>
                <a:lnTo>
                  <a:pt x="14954" y="21600"/>
                </a:lnTo>
                <a:lnTo>
                  <a:pt x="14954" y="19729"/>
                </a:lnTo>
                <a:lnTo>
                  <a:pt x="15785" y="19729"/>
                </a:lnTo>
                <a:lnTo>
                  <a:pt x="15785" y="20069"/>
                </a:lnTo>
                <a:lnTo>
                  <a:pt x="15785" y="21260"/>
                </a:lnTo>
                <a:lnTo>
                  <a:pt x="15785" y="21600"/>
                </a:lnTo>
                <a:lnTo>
                  <a:pt x="15785" y="19729"/>
                </a:lnTo>
                <a:lnTo>
                  <a:pt x="16615" y="19729"/>
                </a:lnTo>
                <a:lnTo>
                  <a:pt x="16615" y="20069"/>
                </a:lnTo>
                <a:lnTo>
                  <a:pt x="16615" y="21260"/>
                </a:lnTo>
                <a:lnTo>
                  <a:pt x="16615" y="21600"/>
                </a:lnTo>
                <a:lnTo>
                  <a:pt x="16615" y="19729"/>
                </a:lnTo>
                <a:lnTo>
                  <a:pt x="17446" y="19729"/>
                </a:lnTo>
                <a:lnTo>
                  <a:pt x="17446" y="20069"/>
                </a:lnTo>
                <a:lnTo>
                  <a:pt x="17446" y="21260"/>
                </a:lnTo>
                <a:lnTo>
                  <a:pt x="17446" y="21600"/>
                </a:lnTo>
                <a:lnTo>
                  <a:pt x="17446" y="19729"/>
                </a:lnTo>
                <a:lnTo>
                  <a:pt x="18277" y="19729"/>
                </a:lnTo>
                <a:lnTo>
                  <a:pt x="18277" y="20069"/>
                </a:lnTo>
                <a:lnTo>
                  <a:pt x="18277" y="21260"/>
                </a:lnTo>
                <a:lnTo>
                  <a:pt x="18277" y="21600"/>
                </a:lnTo>
                <a:lnTo>
                  <a:pt x="18277" y="19729"/>
                </a:lnTo>
                <a:lnTo>
                  <a:pt x="19108" y="19729"/>
                </a:lnTo>
                <a:lnTo>
                  <a:pt x="19108" y="20069"/>
                </a:lnTo>
                <a:lnTo>
                  <a:pt x="19108" y="21260"/>
                </a:lnTo>
                <a:lnTo>
                  <a:pt x="19108" y="21600"/>
                </a:lnTo>
                <a:lnTo>
                  <a:pt x="19108" y="19729"/>
                </a:lnTo>
                <a:lnTo>
                  <a:pt x="19938" y="19729"/>
                </a:lnTo>
                <a:lnTo>
                  <a:pt x="19938" y="20069"/>
                </a:lnTo>
                <a:lnTo>
                  <a:pt x="19938" y="21260"/>
                </a:lnTo>
                <a:lnTo>
                  <a:pt x="19938" y="21600"/>
                </a:lnTo>
                <a:lnTo>
                  <a:pt x="19938" y="19729"/>
                </a:lnTo>
                <a:moveTo>
                  <a:pt x="1495" y="1531"/>
                </a:moveTo>
                <a:lnTo>
                  <a:pt x="5982" y="1531"/>
                </a:lnTo>
                <a:lnTo>
                  <a:pt x="5982" y="18539"/>
                </a:lnTo>
                <a:lnTo>
                  <a:pt x="1495" y="18539"/>
                </a:lnTo>
                <a:lnTo>
                  <a:pt x="1495" y="1531"/>
                </a:lnTo>
                <a:moveTo>
                  <a:pt x="7311" y="1531"/>
                </a:moveTo>
                <a:lnTo>
                  <a:pt x="7975" y="1531"/>
                </a:lnTo>
                <a:lnTo>
                  <a:pt x="7975" y="8334"/>
                </a:lnTo>
                <a:lnTo>
                  <a:pt x="7311" y="8334"/>
                </a:lnTo>
                <a:lnTo>
                  <a:pt x="7311" y="1531"/>
                </a:lnTo>
                <a:moveTo>
                  <a:pt x="7145" y="9865"/>
                </a:moveTo>
                <a:lnTo>
                  <a:pt x="8142" y="9865"/>
                </a:lnTo>
                <a:lnTo>
                  <a:pt x="8142" y="10715"/>
                </a:lnTo>
                <a:lnTo>
                  <a:pt x="7145" y="10715"/>
                </a:lnTo>
                <a:lnTo>
                  <a:pt x="7145" y="9865"/>
                </a:lnTo>
                <a:moveTo>
                  <a:pt x="8972" y="1531"/>
                </a:moveTo>
                <a:lnTo>
                  <a:pt x="12462" y="1531"/>
                </a:lnTo>
                <a:lnTo>
                  <a:pt x="12462" y="5443"/>
                </a:lnTo>
                <a:lnTo>
                  <a:pt x="8972" y="5443"/>
                </a:lnTo>
                <a:lnTo>
                  <a:pt x="8972" y="1531"/>
                </a:lnTo>
                <a:moveTo>
                  <a:pt x="13625" y="1531"/>
                </a:moveTo>
                <a:lnTo>
                  <a:pt x="20271" y="1531"/>
                </a:lnTo>
                <a:lnTo>
                  <a:pt x="20271" y="5443"/>
                </a:lnTo>
                <a:lnTo>
                  <a:pt x="13625" y="5443"/>
                </a:lnTo>
                <a:lnTo>
                  <a:pt x="13625" y="1531"/>
                </a:lnTo>
                <a:moveTo>
                  <a:pt x="18609" y="6463"/>
                </a:moveTo>
                <a:lnTo>
                  <a:pt x="20437" y="6463"/>
                </a:lnTo>
                <a:lnTo>
                  <a:pt x="20437" y="10885"/>
                </a:lnTo>
                <a:lnTo>
                  <a:pt x="18609" y="10885"/>
                </a:lnTo>
                <a:lnTo>
                  <a:pt x="18609" y="6463"/>
                </a:lnTo>
              </a:path>
            </a:pathLst>
          </a:custGeom>
          <a:solidFill>
            <a:srgbClr val="336699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9224" name="Group 8">
            <a:extLst>
              <a:ext uri="{FF2B5EF4-FFF2-40B4-BE49-F238E27FC236}">
                <a16:creationId xmlns:a16="http://schemas.microsoft.com/office/drawing/2014/main" id="{4A3F8551-4CC0-8049-C1A3-9FC22C707F35}"/>
              </a:ext>
            </a:extLst>
          </p:cNvPr>
          <p:cNvGrpSpPr>
            <a:grpSpLocks/>
          </p:cNvGrpSpPr>
          <p:nvPr/>
        </p:nvGrpSpPr>
        <p:grpSpPr bwMode="auto">
          <a:xfrm>
            <a:off x="2957513" y="3529013"/>
            <a:ext cx="1457325" cy="1414462"/>
            <a:chOff x="1632" y="1248"/>
            <a:chExt cx="2682" cy="2286"/>
          </a:xfrm>
        </p:grpSpPr>
        <p:sp>
          <p:nvSpPr>
            <p:cNvPr id="9231" name="Gear">
              <a:extLst>
                <a:ext uri="{FF2B5EF4-FFF2-40B4-BE49-F238E27FC236}">
                  <a16:creationId xmlns:a16="http://schemas.microsoft.com/office/drawing/2014/main" id="{8A69BDBC-7133-947B-21D2-059175D148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9" y="1248"/>
              <a:ext cx="1195" cy="10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4 w 21600"/>
                <a:gd name="T13" fmla="*/ 3957 h 21600"/>
                <a:gd name="T14" fmla="*/ 17840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86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9232" name="AutoShape 10">
              <a:extLst>
                <a:ext uri="{FF2B5EF4-FFF2-40B4-BE49-F238E27FC236}">
                  <a16:creationId xmlns:a16="http://schemas.microsoft.com/office/drawing/2014/main" id="{72430FB9-CD03-D715-5243-63EDE40EF9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2" y="1680"/>
              <a:ext cx="1429" cy="125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68 w 21600"/>
                <a:gd name="T13" fmla="*/ 3965 h 21600"/>
                <a:gd name="T14" fmla="*/ 17836 w 21600"/>
                <a:gd name="T15" fmla="*/ 176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86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9233" name="AutoShape 11">
              <a:extLst>
                <a:ext uri="{FF2B5EF4-FFF2-40B4-BE49-F238E27FC236}">
                  <a16:creationId xmlns:a16="http://schemas.microsoft.com/office/drawing/2014/main" id="{EBA1271D-EAD5-7CA6-83C8-28C097DC90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59" y="2142"/>
              <a:ext cx="1588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80 w 21600"/>
                <a:gd name="T13" fmla="*/ 3957 h 21600"/>
                <a:gd name="T14" fmla="*/ 17846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86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>
              <a:flatTx/>
            </a:bodyPr>
            <a:lstStyle/>
            <a:p>
              <a:endParaRPr lang="en-US"/>
            </a:p>
          </p:txBody>
        </p:sp>
      </p:grpSp>
      <p:sp>
        <p:nvSpPr>
          <p:cNvPr id="9225" name="mainfrm">
            <a:extLst>
              <a:ext uri="{FF2B5EF4-FFF2-40B4-BE49-F238E27FC236}">
                <a16:creationId xmlns:a16="http://schemas.microsoft.com/office/drawing/2014/main" id="{F9EB258D-2F21-20E6-3035-32C40FC8E20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05438" y="3505200"/>
            <a:ext cx="1809750" cy="1809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0 h 21600"/>
              <a:gd name="T4" fmla="*/ 2147483646 w 21600"/>
              <a:gd name="T5" fmla="*/ 0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0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32 w 21600"/>
              <a:gd name="T25" fmla="*/ 22174 h 21600"/>
              <a:gd name="T26" fmla="*/ 21579 w 21600"/>
              <a:gd name="T27" fmla="*/ 2791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21600" y="10885"/>
                </a:moveTo>
                <a:lnTo>
                  <a:pt x="21600" y="0"/>
                </a:lnTo>
                <a:lnTo>
                  <a:pt x="10634" y="0"/>
                </a:lnTo>
                <a:lnTo>
                  <a:pt x="0" y="0"/>
                </a:lnTo>
                <a:lnTo>
                  <a:pt x="0" y="10885"/>
                </a:lnTo>
                <a:lnTo>
                  <a:pt x="0" y="19729"/>
                </a:lnTo>
                <a:lnTo>
                  <a:pt x="1163" y="19729"/>
                </a:lnTo>
                <a:lnTo>
                  <a:pt x="1163" y="21600"/>
                </a:lnTo>
                <a:lnTo>
                  <a:pt x="10800" y="21600"/>
                </a:lnTo>
                <a:lnTo>
                  <a:pt x="20603" y="21600"/>
                </a:lnTo>
                <a:lnTo>
                  <a:pt x="20603" y="19729"/>
                </a:lnTo>
                <a:lnTo>
                  <a:pt x="21600" y="19729"/>
                </a:lnTo>
                <a:lnTo>
                  <a:pt x="21600" y="10885"/>
                </a:lnTo>
                <a:close/>
              </a:path>
              <a:path w="21600" h="21600" extrusionOk="0">
                <a:moveTo>
                  <a:pt x="1163" y="19729"/>
                </a:moveTo>
                <a:lnTo>
                  <a:pt x="4320" y="19729"/>
                </a:lnTo>
                <a:lnTo>
                  <a:pt x="16449" y="19729"/>
                </a:lnTo>
                <a:lnTo>
                  <a:pt x="20603" y="19729"/>
                </a:lnTo>
                <a:lnTo>
                  <a:pt x="1163" y="19729"/>
                </a:lnTo>
                <a:moveTo>
                  <a:pt x="1495" y="2381"/>
                </a:moveTo>
                <a:lnTo>
                  <a:pt x="2160" y="2381"/>
                </a:lnTo>
                <a:lnTo>
                  <a:pt x="4985" y="2381"/>
                </a:lnTo>
                <a:lnTo>
                  <a:pt x="5982" y="2381"/>
                </a:lnTo>
                <a:lnTo>
                  <a:pt x="1495" y="2381"/>
                </a:lnTo>
                <a:lnTo>
                  <a:pt x="1495" y="3402"/>
                </a:lnTo>
                <a:lnTo>
                  <a:pt x="2160" y="3402"/>
                </a:lnTo>
                <a:lnTo>
                  <a:pt x="4985" y="3402"/>
                </a:lnTo>
                <a:lnTo>
                  <a:pt x="5982" y="3402"/>
                </a:lnTo>
                <a:lnTo>
                  <a:pt x="1495" y="3402"/>
                </a:lnTo>
                <a:lnTo>
                  <a:pt x="1495" y="4422"/>
                </a:lnTo>
                <a:lnTo>
                  <a:pt x="2160" y="4422"/>
                </a:lnTo>
                <a:lnTo>
                  <a:pt x="4985" y="4422"/>
                </a:lnTo>
                <a:lnTo>
                  <a:pt x="5982" y="4422"/>
                </a:lnTo>
                <a:lnTo>
                  <a:pt x="1495" y="4422"/>
                </a:lnTo>
                <a:lnTo>
                  <a:pt x="1495" y="5443"/>
                </a:lnTo>
                <a:lnTo>
                  <a:pt x="2160" y="5443"/>
                </a:lnTo>
                <a:lnTo>
                  <a:pt x="4985" y="5443"/>
                </a:lnTo>
                <a:lnTo>
                  <a:pt x="5982" y="5443"/>
                </a:lnTo>
                <a:lnTo>
                  <a:pt x="1495" y="5443"/>
                </a:lnTo>
                <a:lnTo>
                  <a:pt x="1495" y="6463"/>
                </a:lnTo>
                <a:lnTo>
                  <a:pt x="2160" y="6463"/>
                </a:lnTo>
                <a:lnTo>
                  <a:pt x="4985" y="6463"/>
                </a:lnTo>
                <a:lnTo>
                  <a:pt x="5982" y="6463"/>
                </a:lnTo>
                <a:lnTo>
                  <a:pt x="1495" y="6463"/>
                </a:lnTo>
                <a:lnTo>
                  <a:pt x="1495" y="7483"/>
                </a:lnTo>
                <a:lnTo>
                  <a:pt x="2160" y="7483"/>
                </a:lnTo>
                <a:lnTo>
                  <a:pt x="4985" y="7483"/>
                </a:lnTo>
                <a:lnTo>
                  <a:pt x="5982" y="7483"/>
                </a:lnTo>
                <a:lnTo>
                  <a:pt x="1495" y="7483"/>
                </a:lnTo>
                <a:lnTo>
                  <a:pt x="1495" y="8504"/>
                </a:lnTo>
                <a:lnTo>
                  <a:pt x="2160" y="8504"/>
                </a:lnTo>
                <a:lnTo>
                  <a:pt x="4985" y="8504"/>
                </a:lnTo>
                <a:lnTo>
                  <a:pt x="5982" y="8504"/>
                </a:lnTo>
                <a:lnTo>
                  <a:pt x="1495" y="8504"/>
                </a:lnTo>
                <a:lnTo>
                  <a:pt x="1495" y="9524"/>
                </a:lnTo>
                <a:lnTo>
                  <a:pt x="2160" y="9524"/>
                </a:lnTo>
                <a:lnTo>
                  <a:pt x="4985" y="9524"/>
                </a:lnTo>
                <a:lnTo>
                  <a:pt x="5982" y="9524"/>
                </a:lnTo>
                <a:lnTo>
                  <a:pt x="1495" y="9524"/>
                </a:lnTo>
                <a:lnTo>
                  <a:pt x="1495" y="10545"/>
                </a:lnTo>
                <a:lnTo>
                  <a:pt x="2160" y="10545"/>
                </a:lnTo>
                <a:lnTo>
                  <a:pt x="4985" y="10545"/>
                </a:lnTo>
                <a:lnTo>
                  <a:pt x="5982" y="10545"/>
                </a:lnTo>
                <a:lnTo>
                  <a:pt x="1495" y="10545"/>
                </a:lnTo>
                <a:lnTo>
                  <a:pt x="1495" y="11565"/>
                </a:lnTo>
                <a:lnTo>
                  <a:pt x="2160" y="11565"/>
                </a:lnTo>
                <a:lnTo>
                  <a:pt x="4985" y="11565"/>
                </a:lnTo>
                <a:lnTo>
                  <a:pt x="5982" y="11565"/>
                </a:lnTo>
                <a:lnTo>
                  <a:pt x="1495" y="11565"/>
                </a:lnTo>
                <a:lnTo>
                  <a:pt x="1495" y="12586"/>
                </a:lnTo>
                <a:lnTo>
                  <a:pt x="2160" y="12586"/>
                </a:lnTo>
                <a:lnTo>
                  <a:pt x="4985" y="12586"/>
                </a:lnTo>
                <a:lnTo>
                  <a:pt x="5982" y="12586"/>
                </a:lnTo>
                <a:lnTo>
                  <a:pt x="1495" y="12586"/>
                </a:lnTo>
                <a:lnTo>
                  <a:pt x="1495" y="13606"/>
                </a:lnTo>
                <a:lnTo>
                  <a:pt x="2160" y="13606"/>
                </a:lnTo>
                <a:lnTo>
                  <a:pt x="4985" y="13606"/>
                </a:lnTo>
                <a:lnTo>
                  <a:pt x="5982" y="13606"/>
                </a:lnTo>
                <a:lnTo>
                  <a:pt x="1495" y="13606"/>
                </a:lnTo>
                <a:lnTo>
                  <a:pt x="1495" y="14627"/>
                </a:lnTo>
                <a:lnTo>
                  <a:pt x="2160" y="14627"/>
                </a:lnTo>
                <a:lnTo>
                  <a:pt x="4985" y="14627"/>
                </a:lnTo>
                <a:lnTo>
                  <a:pt x="5982" y="14627"/>
                </a:lnTo>
                <a:lnTo>
                  <a:pt x="1495" y="14627"/>
                </a:lnTo>
                <a:lnTo>
                  <a:pt x="1495" y="15647"/>
                </a:lnTo>
                <a:lnTo>
                  <a:pt x="2160" y="15647"/>
                </a:lnTo>
                <a:lnTo>
                  <a:pt x="4985" y="15647"/>
                </a:lnTo>
                <a:lnTo>
                  <a:pt x="5982" y="15647"/>
                </a:lnTo>
                <a:lnTo>
                  <a:pt x="1495" y="15647"/>
                </a:lnTo>
                <a:lnTo>
                  <a:pt x="1495" y="16668"/>
                </a:lnTo>
                <a:lnTo>
                  <a:pt x="2160" y="16668"/>
                </a:lnTo>
                <a:lnTo>
                  <a:pt x="4985" y="16668"/>
                </a:lnTo>
                <a:lnTo>
                  <a:pt x="5982" y="16668"/>
                </a:lnTo>
                <a:lnTo>
                  <a:pt x="1495" y="16668"/>
                </a:lnTo>
                <a:lnTo>
                  <a:pt x="1495" y="17688"/>
                </a:lnTo>
                <a:lnTo>
                  <a:pt x="2160" y="17688"/>
                </a:lnTo>
                <a:lnTo>
                  <a:pt x="4985" y="17688"/>
                </a:lnTo>
                <a:lnTo>
                  <a:pt x="5982" y="17688"/>
                </a:lnTo>
                <a:lnTo>
                  <a:pt x="1495" y="17688"/>
                </a:lnTo>
                <a:moveTo>
                  <a:pt x="1994" y="19729"/>
                </a:moveTo>
                <a:lnTo>
                  <a:pt x="1994" y="20069"/>
                </a:lnTo>
                <a:lnTo>
                  <a:pt x="1994" y="21260"/>
                </a:lnTo>
                <a:lnTo>
                  <a:pt x="1994" y="21600"/>
                </a:lnTo>
                <a:lnTo>
                  <a:pt x="1994" y="19729"/>
                </a:lnTo>
                <a:lnTo>
                  <a:pt x="2658" y="19729"/>
                </a:lnTo>
                <a:lnTo>
                  <a:pt x="2658" y="20069"/>
                </a:lnTo>
                <a:lnTo>
                  <a:pt x="2658" y="21260"/>
                </a:lnTo>
                <a:lnTo>
                  <a:pt x="2658" y="21600"/>
                </a:lnTo>
                <a:lnTo>
                  <a:pt x="2658" y="19729"/>
                </a:lnTo>
                <a:lnTo>
                  <a:pt x="3489" y="19729"/>
                </a:lnTo>
                <a:lnTo>
                  <a:pt x="3489" y="20069"/>
                </a:lnTo>
                <a:lnTo>
                  <a:pt x="3489" y="21260"/>
                </a:lnTo>
                <a:lnTo>
                  <a:pt x="3489" y="21600"/>
                </a:lnTo>
                <a:lnTo>
                  <a:pt x="3489" y="19729"/>
                </a:lnTo>
                <a:lnTo>
                  <a:pt x="4320" y="19729"/>
                </a:lnTo>
                <a:lnTo>
                  <a:pt x="4320" y="20069"/>
                </a:lnTo>
                <a:lnTo>
                  <a:pt x="4320" y="21260"/>
                </a:lnTo>
                <a:lnTo>
                  <a:pt x="4320" y="21600"/>
                </a:lnTo>
                <a:lnTo>
                  <a:pt x="4320" y="19729"/>
                </a:lnTo>
                <a:lnTo>
                  <a:pt x="5151" y="19729"/>
                </a:lnTo>
                <a:lnTo>
                  <a:pt x="5151" y="20069"/>
                </a:lnTo>
                <a:lnTo>
                  <a:pt x="5151" y="21260"/>
                </a:lnTo>
                <a:lnTo>
                  <a:pt x="5151" y="21600"/>
                </a:lnTo>
                <a:lnTo>
                  <a:pt x="5151" y="19729"/>
                </a:lnTo>
                <a:lnTo>
                  <a:pt x="5982" y="19729"/>
                </a:lnTo>
                <a:lnTo>
                  <a:pt x="5982" y="20069"/>
                </a:lnTo>
                <a:lnTo>
                  <a:pt x="5982" y="21260"/>
                </a:lnTo>
                <a:lnTo>
                  <a:pt x="5982" y="21600"/>
                </a:lnTo>
                <a:lnTo>
                  <a:pt x="5982" y="19729"/>
                </a:lnTo>
                <a:lnTo>
                  <a:pt x="6812" y="19729"/>
                </a:lnTo>
                <a:lnTo>
                  <a:pt x="6812" y="20069"/>
                </a:lnTo>
                <a:lnTo>
                  <a:pt x="6812" y="21260"/>
                </a:lnTo>
                <a:lnTo>
                  <a:pt x="6812" y="21600"/>
                </a:lnTo>
                <a:lnTo>
                  <a:pt x="6812" y="19729"/>
                </a:lnTo>
                <a:lnTo>
                  <a:pt x="7643" y="19729"/>
                </a:lnTo>
                <a:lnTo>
                  <a:pt x="7643" y="20069"/>
                </a:lnTo>
                <a:lnTo>
                  <a:pt x="7643" y="21260"/>
                </a:lnTo>
                <a:lnTo>
                  <a:pt x="7643" y="21600"/>
                </a:lnTo>
                <a:lnTo>
                  <a:pt x="7643" y="19729"/>
                </a:lnTo>
                <a:lnTo>
                  <a:pt x="8474" y="19729"/>
                </a:lnTo>
                <a:lnTo>
                  <a:pt x="8474" y="20069"/>
                </a:lnTo>
                <a:lnTo>
                  <a:pt x="8474" y="21260"/>
                </a:lnTo>
                <a:lnTo>
                  <a:pt x="8474" y="21600"/>
                </a:lnTo>
                <a:lnTo>
                  <a:pt x="8474" y="19729"/>
                </a:lnTo>
                <a:lnTo>
                  <a:pt x="9305" y="19729"/>
                </a:lnTo>
                <a:lnTo>
                  <a:pt x="9305" y="20069"/>
                </a:lnTo>
                <a:lnTo>
                  <a:pt x="9305" y="21260"/>
                </a:lnTo>
                <a:lnTo>
                  <a:pt x="9305" y="21600"/>
                </a:lnTo>
                <a:lnTo>
                  <a:pt x="9305" y="19729"/>
                </a:lnTo>
                <a:lnTo>
                  <a:pt x="10135" y="19729"/>
                </a:lnTo>
                <a:lnTo>
                  <a:pt x="10135" y="20069"/>
                </a:lnTo>
                <a:lnTo>
                  <a:pt x="10135" y="21260"/>
                </a:lnTo>
                <a:lnTo>
                  <a:pt x="10135" y="21600"/>
                </a:lnTo>
                <a:lnTo>
                  <a:pt x="10135" y="19729"/>
                </a:lnTo>
                <a:lnTo>
                  <a:pt x="10966" y="19729"/>
                </a:lnTo>
                <a:lnTo>
                  <a:pt x="10966" y="20069"/>
                </a:lnTo>
                <a:lnTo>
                  <a:pt x="10966" y="21260"/>
                </a:lnTo>
                <a:lnTo>
                  <a:pt x="10966" y="21600"/>
                </a:lnTo>
                <a:lnTo>
                  <a:pt x="10966" y="19729"/>
                </a:lnTo>
                <a:lnTo>
                  <a:pt x="11797" y="19729"/>
                </a:lnTo>
                <a:lnTo>
                  <a:pt x="11797" y="20069"/>
                </a:lnTo>
                <a:lnTo>
                  <a:pt x="11797" y="21260"/>
                </a:lnTo>
                <a:lnTo>
                  <a:pt x="11797" y="21600"/>
                </a:lnTo>
                <a:lnTo>
                  <a:pt x="11797" y="19729"/>
                </a:lnTo>
                <a:lnTo>
                  <a:pt x="12462" y="19729"/>
                </a:lnTo>
                <a:lnTo>
                  <a:pt x="12462" y="20069"/>
                </a:lnTo>
                <a:lnTo>
                  <a:pt x="12462" y="21260"/>
                </a:lnTo>
                <a:lnTo>
                  <a:pt x="12462" y="21600"/>
                </a:lnTo>
                <a:lnTo>
                  <a:pt x="12462" y="19729"/>
                </a:lnTo>
                <a:lnTo>
                  <a:pt x="13292" y="19729"/>
                </a:lnTo>
                <a:lnTo>
                  <a:pt x="13292" y="20069"/>
                </a:lnTo>
                <a:lnTo>
                  <a:pt x="13292" y="21260"/>
                </a:lnTo>
                <a:lnTo>
                  <a:pt x="13292" y="21600"/>
                </a:lnTo>
                <a:lnTo>
                  <a:pt x="13292" y="19729"/>
                </a:lnTo>
                <a:lnTo>
                  <a:pt x="14123" y="19729"/>
                </a:lnTo>
                <a:lnTo>
                  <a:pt x="14123" y="20069"/>
                </a:lnTo>
                <a:lnTo>
                  <a:pt x="14123" y="21260"/>
                </a:lnTo>
                <a:lnTo>
                  <a:pt x="14123" y="21600"/>
                </a:lnTo>
                <a:lnTo>
                  <a:pt x="14123" y="19729"/>
                </a:lnTo>
                <a:lnTo>
                  <a:pt x="14954" y="19729"/>
                </a:lnTo>
                <a:lnTo>
                  <a:pt x="14954" y="20069"/>
                </a:lnTo>
                <a:lnTo>
                  <a:pt x="14954" y="21260"/>
                </a:lnTo>
                <a:lnTo>
                  <a:pt x="14954" y="21600"/>
                </a:lnTo>
                <a:lnTo>
                  <a:pt x="14954" y="19729"/>
                </a:lnTo>
                <a:lnTo>
                  <a:pt x="15785" y="19729"/>
                </a:lnTo>
                <a:lnTo>
                  <a:pt x="15785" y="20069"/>
                </a:lnTo>
                <a:lnTo>
                  <a:pt x="15785" y="21260"/>
                </a:lnTo>
                <a:lnTo>
                  <a:pt x="15785" y="21600"/>
                </a:lnTo>
                <a:lnTo>
                  <a:pt x="15785" y="19729"/>
                </a:lnTo>
                <a:lnTo>
                  <a:pt x="16615" y="19729"/>
                </a:lnTo>
                <a:lnTo>
                  <a:pt x="16615" y="20069"/>
                </a:lnTo>
                <a:lnTo>
                  <a:pt x="16615" y="21260"/>
                </a:lnTo>
                <a:lnTo>
                  <a:pt x="16615" y="21600"/>
                </a:lnTo>
                <a:lnTo>
                  <a:pt x="16615" y="19729"/>
                </a:lnTo>
                <a:lnTo>
                  <a:pt x="17446" y="19729"/>
                </a:lnTo>
                <a:lnTo>
                  <a:pt x="17446" y="20069"/>
                </a:lnTo>
                <a:lnTo>
                  <a:pt x="17446" y="21260"/>
                </a:lnTo>
                <a:lnTo>
                  <a:pt x="17446" y="21600"/>
                </a:lnTo>
                <a:lnTo>
                  <a:pt x="17446" y="19729"/>
                </a:lnTo>
                <a:lnTo>
                  <a:pt x="18277" y="19729"/>
                </a:lnTo>
                <a:lnTo>
                  <a:pt x="18277" y="20069"/>
                </a:lnTo>
                <a:lnTo>
                  <a:pt x="18277" y="21260"/>
                </a:lnTo>
                <a:lnTo>
                  <a:pt x="18277" y="21600"/>
                </a:lnTo>
                <a:lnTo>
                  <a:pt x="18277" y="19729"/>
                </a:lnTo>
                <a:lnTo>
                  <a:pt x="19108" y="19729"/>
                </a:lnTo>
                <a:lnTo>
                  <a:pt x="19108" y="20069"/>
                </a:lnTo>
                <a:lnTo>
                  <a:pt x="19108" y="21260"/>
                </a:lnTo>
                <a:lnTo>
                  <a:pt x="19108" y="21600"/>
                </a:lnTo>
                <a:lnTo>
                  <a:pt x="19108" y="19729"/>
                </a:lnTo>
                <a:lnTo>
                  <a:pt x="19938" y="19729"/>
                </a:lnTo>
                <a:lnTo>
                  <a:pt x="19938" y="20069"/>
                </a:lnTo>
                <a:lnTo>
                  <a:pt x="19938" y="21260"/>
                </a:lnTo>
                <a:lnTo>
                  <a:pt x="19938" y="21600"/>
                </a:lnTo>
                <a:lnTo>
                  <a:pt x="19938" y="19729"/>
                </a:lnTo>
                <a:moveTo>
                  <a:pt x="1495" y="1531"/>
                </a:moveTo>
                <a:lnTo>
                  <a:pt x="5982" y="1531"/>
                </a:lnTo>
                <a:lnTo>
                  <a:pt x="5982" y="18539"/>
                </a:lnTo>
                <a:lnTo>
                  <a:pt x="1495" y="18539"/>
                </a:lnTo>
                <a:lnTo>
                  <a:pt x="1495" y="1531"/>
                </a:lnTo>
                <a:moveTo>
                  <a:pt x="7311" y="1531"/>
                </a:moveTo>
                <a:lnTo>
                  <a:pt x="7975" y="1531"/>
                </a:lnTo>
                <a:lnTo>
                  <a:pt x="7975" y="8334"/>
                </a:lnTo>
                <a:lnTo>
                  <a:pt x="7311" y="8334"/>
                </a:lnTo>
                <a:lnTo>
                  <a:pt x="7311" y="1531"/>
                </a:lnTo>
                <a:moveTo>
                  <a:pt x="7145" y="9865"/>
                </a:moveTo>
                <a:lnTo>
                  <a:pt x="8142" y="9865"/>
                </a:lnTo>
                <a:lnTo>
                  <a:pt x="8142" y="10715"/>
                </a:lnTo>
                <a:lnTo>
                  <a:pt x="7145" y="10715"/>
                </a:lnTo>
                <a:lnTo>
                  <a:pt x="7145" y="9865"/>
                </a:lnTo>
                <a:moveTo>
                  <a:pt x="8972" y="1531"/>
                </a:moveTo>
                <a:lnTo>
                  <a:pt x="12462" y="1531"/>
                </a:lnTo>
                <a:lnTo>
                  <a:pt x="12462" y="5443"/>
                </a:lnTo>
                <a:lnTo>
                  <a:pt x="8972" y="5443"/>
                </a:lnTo>
                <a:lnTo>
                  <a:pt x="8972" y="1531"/>
                </a:lnTo>
                <a:moveTo>
                  <a:pt x="13625" y="1531"/>
                </a:moveTo>
                <a:lnTo>
                  <a:pt x="20271" y="1531"/>
                </a:lnTo>
                <a:lnTo>
                  <a:pt x="20271" y="5443"/>
                </a:lnTo>
                <a:lnTo>
                  <a:pt x="13625" y="5443"/>
                </a:lnTo>
                <a:lnTo>
                  <a:pt x="13625" y="1531"/>
                </a:lnTo>
                <a:moveTo>
                  <a:pt x="18609" y="6463"/>
                </a:moveTo>
                <a:lnTo>
                  <a:pt x="20437" y="6463"/>
                </a:lnTo>
                <a:lnTo>
                  <a:pt x="20437" y="10885"/>
                </a:lnTo>
                <a:lnTo>
                  <a:pt x="18609" y="10885"/>
                </a:lnTo>
                <a:lnTo>
                  <a:pt x="18609" y="6463"/>
                </a:lnTo>
              </a:path>
            </a:pathLst>
          </a:custGeom>
          <a:solidFill>
            <a:srgbClr val="3366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6" name="WordArt 16">
            <a:extLst>
              <a:ext uri="{FF2B5EF4-FFF2-40B4-BE49-F238E27FC236}">
                <a16:creationId xmlns:a16="http://schemas.microsoft.com/office/drawing/2014/main" id="{2F6C78F1-B3EC-6C17-AE9C-92B5A7DE32F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5400000">
            <a:off x="5869782" y="5584031"/>
            <a:ext cx="1104900" cy="1004887"/>
          </a:xfrm>
          <a:prstGeom prst="rect">
            <a:avLst/>
          </a:prstGeom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  <a:scene3d>
              <a:camera prst="legacyPerspectiveFront">
                <a:rot lat="20639990" lon="20699986" rev="0"/>
              </a:camera>
              <a:lightRig rig="legacyNormal3" dir="l"/>
            </a:scene3d>
            <a:sp3d extrusionH="201600" prstMaterial="legacyPlastic">
              <a:extrusionClr>
                <a:srgbClr val="FF9966"/>
              </a:extrusionClr>
              <a:contourClr>
                <a:srgbClr val="FF0000"/>
              </a:contourClr>
            </a:sp3d>
          </a:bodyPr>
          <a:lstStyle/>
          <a:p>
            <a:pPr fontAlgn="auto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lin ang="0" scaled="1"/>
                </a:gra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9227" name="AutoShape 17">
            <a:extLst>
              <a:ext uri="{FF2B5EF4-FFF2-40B4-BE49-F238E27FC236}">
                <a16:creationId xmlns:a16="http://schemas.microsoft.com/office/drawing/2014/main" id="{F070DD43-E384-9597-0BB0-000BA72E8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4114800"/>
            <a:ext cx="1385887" cy="13001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421 h 21600"/>
              <a:gd name="T14" fmla="*/ 19923 w 21600"/>
              <a:gd name="T15" fmla="*/ 87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7765" y="0"/>
                </a:lnTo>
                <a:lnTo>
                  <a:pt x="17765" y="3421"/>
                </a:lnTo>
                <a:lnTo>
                  <a:pt x="12427" y="3421"/>
                </a:lnTo>
                <a:cubicBezTo>
                  <a:pt x="5564" y="3421"/>
                  <a:pt x="0" y="7333"/>
                  <a:pt x="0" y="12158"/>
                </a:cubicBezTo>
                <a:lnTo>
                  <a:pt x="0" y="21600"/>
                </a:lnTo>
                <a:lnTo>
                  <a:pt x="5434" y="21600"/>
                </a:lnTo>
                <a:lnTo>
                  <a:pt x="5434" y="12158"/>
                </a:lnTo>
                <a:cubicBezTo>
                  <a:pt x="5434" y="10269"/>
                  <a:pt x="8565" y="8737"/>
                  <a:pt x="12427" y="8737"/>
                </a:cubicBezTo>
                <a:lnTo>
                  <a:pt x="17765" y="8737"/>
                </a:lnTo>
                <a:lnTo>
                  <a:pt x="17765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Text Box 18">
            <a:extLst>
              <a:ext uri="{FF2B5EF4-FFF2-40B4-BE49-F238E27FC236}">
                <a16:creationId xmlns:a16="http://schemas.microsoft.com/office/drawing/2014/main" id="{28490D82-D573-9DF8-CADE-6CFB9127A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525" y="4214813"/>
            <a:ext cx="172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Answer</a:t>
            </a:r>
          </a:p>
        </p:txBody>
      </p:sp>
      <p:sp>
        <p:nvSpPr>
          <p:cNvPr id="8205" name="Rectangle 21">
            <a:extLst>
              <a:ext uri="{FF2B5EF4-FFF2-40B4-BE49-F238E27FC236}">
                <a16:creationId xmlns:a16="http://schemas.microsoft.com/office/drawing/2014/main" id="{A376CCC7-AF5D-6BE1-2D85-6958DCE12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1995488"/>
            <a:ext cx="1809750" cy="13287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en-US" sz="3200" b="1" dirty="0">
                <a:latin typeface="+mj-lt"/>
              </a:rPr>
              <a:t>Trained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3200" b="1" dirty="0">
                <a:latin typeface="+mj-lt"/>
              </a:rPr>
              <a:t>machine</a:t>
            </a:r>
          </a:p>
        </p:txBody>
      </p:sp>
      <p:sp>
        <p:nvSpPr>
          <p:cNvPr id="9230" name="Text Box 22">
            <a:extLst>
              <a:ext uri="{FF2B5EF4-FFF2-40B4-BE49-F238E27FC236}">
                <a16:creationId xmlns:a16="http://schemas.microsoft.com/office/drawing/2014/main" id="{B169B53E-8550-97C9-B2FE-E7A970292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738" y="6024563"/>
            <a:ext cx="1728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Query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9DB8760-E108-D492-54CC-1898AD2C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/>
              <a:t>For which tasks ?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090763D7-4EF6-B1E8-0888-BEEA5E81B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5675" y="1676400"/>
            <a:ext cx="7197725" cy="2600325"/>
          </a:xfrm>
        </p:spPr>
        <p:txBody>
          <a:bodyPr/>
          <a:lstStyle/>
          <a:p>
            <a:r>
              <a:rPr lang="en-US" altLang="en-US" sz="2800" b="1">
                <a:solidFill>
                  <a:srgbClr val="CC0000"/>
                </a:solidFill>
              </a:rPr>
              <a:t>Classification</a:t>
            </a:r>
            <a:r>
              <a:rPr lang="en-US" altLang="en-US" sz="2800" b="1">
                <a:solidFill>
                  <a:schemeClr val="folHlink"/>
                </a:solidFill>
              </a:rPr>
              <a:t> </a:t>
            </a:r>
            <a:r>
              <a:rPr lang="en-US" altLang="en-US" sz="2800">
                <a:solidFill>
                  <a:schemeClr val="folHlink"/>
                </a:solidFill>
              </a:rPr>
              <a:t>(binary/categorical target)</a:t>
            </a:r>
          </a:p>
          <a:p>
            <a:r>
              <a:rPr lang="en-US" altLang="en-US" sz="2800" b="1">
                <a:solidFill>
                  <a:srgbClr val="CC0000"/>
                </a:solidFill>
              </a:rPr>
              <a:t>Regression</a:t>
            </a:r>
            <a:r>
              <a:rPr lang="en-US" altLang="en-US" sz="2800" b="1">
                <a:solidFill>
                  <a:schemeClr val="folHlink"/>
                </a:solidFill>
              </a:rPr>
              <a:t> </a:t>
            </a:r>
            <a:r>
              <a:rPr lang="en-US" altLang="en-US" sz="2800">
                <a:solidFill>
                  <a:schemeClr val="folHlink"/>
                </a:solidFill>
              </a:rPr>
              <a:t>and</a:t>
            </a:r>
            <a:r>
              <a:rPr lang="en-US" altLang="en-US" sz="2800" b="1">
                <a:solidFill>
                  <a:schemeClr val="folHlink"/>
                </a:solidFill>
              </a:rPr>
              <a:t> </a:t>
            </a:r>
            <a:r>
              <a:rPr lang="en-US" altLang="en-US" sz="2800" b="1">
                <a:solidFill>
                  <a:srgbClr val="CC0000"/>
                </a:solidFill>
              </a:rPr>
              <a:t>time series prediction</a:t>
            </a:r>
            <a:r>
              <a:rPr lang="en-US" altLang="en-US" sz="2800" b="1">
                <a:solidFill>
                  <a:schemeClr val="folHlink"/>
                </a:solidFill>
              </a:rPr>
              <a:t> </a:t>
            </a:r>
            <a:r>
              <a:rPr lang="en-US" altLang="en-US" sz="2800">
                <a:solidFill>
                  <a:schemeClr val="folHlink"/>
                </a:solidFill>
              </a:rPr>
              <a:t>(continuous targets)</a:t>
            </a:r>
          </a:p>
          <a:p>
            <a:r>
              <a:rPr lang="en-US" altLang="en-US" sz="2800" b="1">
                <a:solidFill>
                  <a:srgbClr val="CC0000"/>
                </a:solidFill>
              </a:rPr>
              <a:t>Clustering</a:t>
            </a:r>
            <a:r>
              <a:rPr lang="en-US" altLang="en-US" sz="2800" b="1">
                <a:solidFill>
                  <a:schemeClr val="folHlink"/>
                </a:solidFill>
              </a:rPr>
              <a:t> </a:t>
            </a:r>
            <a:r>
              <a:rPr lang="en-US" altLang="en-US" sz="2800">
                <a:solidFill>
                  <a:schemeClr val="folHlink"/>
                </a:solidFill>
              </a:rPr>
              <a:t>(targets unknown)</a:t>
            </a:r>
          </a:p>
          <a:p>
            <a:r>
              <a:rPr lang="en-US" altLang="en-US" sz="2800" b="1">
                <a:solidFill>
                  <a:srgbClr val="CC0000"/>
                </a:solidFill>
              </a:rPr>
              <a:t>Rule discovery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Oval 28">
            <a:extLst>
              <a:ext uri="{FF2B5EF4-FFF2-40B4-BE49-F238E27FC236}">
                <a16:creationId xmlns:a16="http://schemas.microsoft.com/office/drawing/2014/main" id="{86BE5C62-4B79-93A0-3151-C94667964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100" y="4148138"/>
            <a:ext cx="3806825" cy="14525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>
              <a:latin typeface="Arial Narrow" panose="020B0606020202030204" pitchFamily="34" charset="0"/>
            </a:endParaRPr>
          </a:p>
          <a:p>
            <a:r>
              <a:rPr lang="en-US" altLang="en-US">
                <a:latin typeface="Arial Narrow" panose="020B0606020202030204" pitchFamily="34" charset="0"/>
              </a:rPr>
              <a:t>      Bioinformatics</a:t>
            </a:r>
            <a:endParaRPr lang="fr-FR" altLang="en-US">
              <a:latin typeface="Arial Narrow" panose="020B0606020202030204" pitchFamily="34" charset="0"/>
            </a:endParaRPr>
          </a:p>
        </p:txBody>
      </p:sp>
      <p:sp>
        <p:nvSpPr>
          <p:cNvPr id="13315" name="Oval 55">
            <a:extLst>
              <a:ext uri="{FF2B5EF4-FFF2-40B4-BE49-F238E27FC236}">
                <a16:creationId xmlns:a16="http://schemas.microsoft.com/office/drawing/2014/main" id="{C301FF95-9582-4B7B-A544-1CC1027EF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1982788"/>
            <a:ext cx="1987550" cy="6191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fr-FR" altLang="en-US" sz="2000">
                <a:latin typeface="Arial Narrow" panose="020B0606020202030204" pitchFamily="34" charset="0"/>
              </a:rPr>
              <a:t>Quality control</a:t>
            </a:r>
          </a:p>
        </p:txBody>
      </p:sp>
      <p:sp>
        <p:nvSpPr>
          <p:cNvPr id="13316" name="Oval 2">
            <a:extLst>
              <a:ext uri="{FF2B5EF4-FFF2-40B4-BE49-F238E27FC236}">
                <a16:creationId xmlns:a16="http://schemas.microsoft.com/office/drawing/2014/main" id="{17F39502-3918-F57B-FC7D-DAEC61BDF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2852738"/>
            <a:ext cx="2387600" cy="15367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>
              <a:latin typeface="Arial Narrow" panose="020B0606020202030204" pitchFamily="34" charset="0"/>
            </a:endParaRPr>
          </a:p>
          <a:p>
            <a:endParaRPr lang="en-US" altLang="en-US">
              <a:latin typeface="Arial Narrow" panose="020B0606020202030204" pitchFamily="34" charset="0"/>
            </a:endParaRPr>
          </a:p>
          <a:p>
            <a:r>
              <a:rPr lang="en-US" altLang="en-US">
                <a:latin typeface="Arial Narrow" panose="020B0606020202030204" pitchFamily="34" charset="0"/>
              </a:rPr>
              <a:t>Machine vision</a:t>
            </a:r>
            <a:endParaRPr lang="fr-FR" altLang="en-US">
              <a:latin typeface="Arial Narrow" panose="020B0606020202030204" pitchFamily="34" charset="0"/>
            </a:endParaRPr>
          </a:p>
        </p:txBody>
      </p:sp>
      <p:sp>
        <p:nvSpPr>
          <p:cNvPr id="13317" name="Oval 54">
            <a:extLst>
              <a:ext uri="{FF2B5EF4-FFF2-40B4-BE49-F238E27FC236}">
                <a16:creationId xmlns:a16="http://schemas.microsoft.com/office/drawing/2014/main" id="{56CBD024-30FA-6194-8301-2465BA946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200" y="1639888"/>
            <a:ext cx="2752725" cy="557212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fr-FR" altLang="en-US" sz="2000">
                <a:latin typeface="Arial Narrow" panose="020B0606020202030204" pitchFamily="34" charset="0"/>
              </a:rPr>
              <a:t>Customer knowledge</a:t>
            </a:r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DAEC493C-E841-BE89-9BE0-E44E192D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884238"/>
          </a:xfrm>
        </p:spPr>
        <p:txBody>
          <a:bodyPr/>
          <a:lstStyle/>
          <a:p>
            <a:r>
              <a:rPr lang="en-US" altLang="en-US"/>
              <a:t>For which applications ?</a:t>
            </a:r>
          </a:p>
        </p:txBody>
      </p:sp>
      <p:sp>
        <p:nvSpPr>
          <p:cNvPr id="13319" name="Line 4">
            <a:extLst>
              <a:ext uri="{FF2B5EF4-FFF2-40B4-BE49-F238E27FC236}">
                <a16:creationId xmlns:a16="http://schemas.microsoft.com/office/drawing/2014/main" id="{A2C8263D-5F52-F9C4-333B-98C82030A7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6950" y="1652588"/>
            <a:ext cx="1588" cy="429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5">
            <a:extLst>
              <a:ext uri="{FF2B5EF4-FFF2-40B4-BE49-F238E27FC236}">
                <a16:creationId xmlns:a16="http://schemas.microsoft.com/office/drawing/2014/main" id="{91D67154-ABAD-E809-81E4-EE581E316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950" y="5951538"/>
            <a:ext cx="5257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Text Box 6">
            <a:extLst>
              <a:ext uri="{FF2B5EF4-FFF2-40B4-BE49-F238E27FC236}">
                <a16:creationId xmlns:a16="http://schemas.microsoft.com/office/drawing/2014/main" id="{E488274C-96B8-D5E5-5D5C-2BA7FFB4C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943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rial Narrow" panose="020B0606020202030204" pitchFamily="34" charset="0"/>
              </a:rPr>
              <a:t>inputs</a:t>
            </a:r>
            <a:endParaRPr lang="en-US" altLang="en-US"/>
          </a:p>
        </p:txBody>
      </p:sp>
      <p:sp>
        <p:nvSpPr>
          <p:cNvPr id="12298" name="Text Box 7">
            <a:extLst>
              <a:ext uri="{FF2B5EF4-FFF2-40B4-BE49-F238E27FC236}">
                <a16:creationId xmlns:a16="http://schemas.microsoft.com/office/drawing/2014/main" id="{6A1DE002-E8B3-76F1-CFE2-C416DCD5C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1184275"/>
            <a:ext cx="1584325" cy="831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dirty="0">
                <a:latin typeface="+mj-lt"/>
              </a:rPr>
              <a:t>training examples</a:t>
            </a:r>
          </a:p>
        </p:txBody>
      </p:sp>
      <p:grpSp>
        <p:nvGrpSpPr>
          <p:cNvPr id="13323" name="Group 8">
            <a:extLst>
              <a:ext uri="{FF2B5EF4-FFF2-40B4-BE49-F238E27FC236}">
                <a16:creationId xmlns:a16="http://schemas.microsoft.com/office/drawing/2014/main" id="{5DCE3FD0-205D-CC24-3D00-ED7FD0359C53}"/>
              </a:ext>
            </a:extLst>
          </p:cNvPr>
          <p:cNvGrpSpPr>
            <a:grpSpLocks/>
          </p:cNvGrpSpPr>
          <p:nvPr/>
        </p:nvGrpSpPr>
        <p:grpSpPr bwMode="auto">
          <a:xfrm>
            <a:off x="2266950" y="5908675"/>
            <a:ext cx="3200400" cy="130175"/>
            <a:chOff x="1872" y="3648"/>
            <a:chExt cx="2880" cy="144"/>
          </a:xfrm>
        </p:grpSpPr>
        <p:sp>
          <p:nvSpPr>
            <p:cNvPr id="13353" name="Line 9">
              <a:extLst>
                <a:ext uri="{FF2B5EF4-FFF2-40B4-BE49-F238E27FC236}">
                  <a16:creationId xmlns:a16="http://schemas.microsoft.com/office/drawing/2014/main" id="{A468ED50-8DCC-75CD-F203-D823E1A4D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Line 10">
              <a:extLst>
                <a:ext uri="{FF2B5EF4-FFF2-40B4-BE49-F238E27FC236}">
                  <a16:creationId xmlns:a16="http://schemas.microsoft.com/office/drawing/2014/main" id="{4C95315D-B54C-6B76-BEA6-9A2F687B4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5" name="Line 11">
              <a:extLst>
                <a:ext uri="{FF2B5EF4-FFF2-40B4-BE49-F238E27FC236}">
                  <a16:creationId xmlns:a16="http://schemas.microsoft.com/office/drawing/2014/main" id="{DA4E6EFA-7DC5-1BEC-5FBB-980B942D4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6" name="Line 12">
              <a:extLst>
                <a:ext uri="{FF2B5EF4-FFF2-40B4-BE49-F238E27FC236}">
                  <a16:creationId xmlns:a16="http://schemas.microsoft.com/office/drawing/2014/main" id="{666D0FDA-4649-35FB-8EAC-94CC7B43D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Line 13">
              <a:extLst>
                <a:ext uri="{FF2B5EF4-FFF2-40B4-BE49-F238E27FC236}">
                  <a16:creationId xmlns:a16="http://schemas.microsoft.com/office/drawing/2014/main" id="{27F73061-13AF-D761-16B0-44DA4C331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324" name="Line 17">
            <a:extLst>
              <a:ext uri="{FF2B5EF4-FFF2-40B4-BE49-F238E27FC236}">
                <a16:creationId xmlns:a16="http://schemas.microsoft.com/office/drawing/2014/main" id="{41852CE9-04E7-C476-6F7C-518F04817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7350" y="5908675"/>
            <a:ext cx="1588" cy="130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Line 18">
            <a:extLst>
              <a:ext uri="{FF2B5EF4-FFF2-40B4-BE49-F238E27FC236}">
                <a16:creationId xmlns:a16="http://schemas.microsoft.com/office/drawing/2014/main" id="{C5D336D0-5B8E-244A-D52C-70C23A561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7450" y="5908675"/>
            <a:ext cx="1588" cy="130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26" name="Group 19">
            <a:extLst>
              <a:ext uri="{FF2B5EF4-FFF2-40B4-BE49-F238E27FC236}">
                <a16:creationId xmlns:a16="http://schemas.microsoft.com/office/drawing/2014/main" id="{8C773745-1E14-7B6D-A46C-C5CE7F6E56C6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1064419" y="4685507"/>
            <a:ext cx="2406650" cy="125412"/>
            <a:chOff x="1872" y="3648"/>
            <a:chExt cx="2880" cy="144"/>
          </a:xfrm>
        </p:grpSpPr>
        <p:sp>
          <p:nvSpPr>
            <p:cNvPr id="13348" name="Line 20">
              <a:extLst>
                <a:ext uri="{FF2B5EF4-FFF2-40B4-BE49-F238E27FC236}">
                  <a16:creationId xmlns:a16="http://schemas.microsoft.com/office/drawing/2014/main" id="{46C44F97-AFB5-120D-8482-3CEDCB036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9" name="Line 21">
              <a:extLst>
                <a:ext uri="{FF2B5EF4-FFF2-40B4-BE49-F238E27FC236}">
                  <a16:creationId xmlns:a16="http://schemas.microsoft.com/office/drawing/2014/main" id="{A075476F-3CE8-6D64-E03B-CAE9D082E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0" name="Line 22">
              <a:extLst>
                <a:ext uri="{FF2B5EF4-FFF2-40B4-BE49-F238E27FC236}">
                  <a16:creationId xmlns:a16="http://schemas.microsoft.com/office/drawing/2014/main" id="{D8F34D21-FAE6-5F48-CC20-A62B5E104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23">
              <a:extLst>
                <a:ext uri="{FF2B5EF4-FFF2-40B4-BE49-F238E27FC236}">
                  <a16:creationId xmlns:a16="http://schemas.microsoft.com/office/drawing/2014/main" id="{8472F1EE-130F-A4D1-FF2E-30A6F5A01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Line 24">
              <a:extLst>
                <a:ext uri="{FF2B5EF4-FFF2-40B4-BE49-F238E27FC236}">
                  <a16:creationId xmlns:a16="http://schemas.microsoft.com/office/drawing/2014/main" id="{CDAD94E9-23CD-C3E7-2480-1565300D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327" name="Line 25">
            <a:extLst>
              <a:ext uri="{FF2B5EF4-FFF2-40B4-BE49-F238E27FC236}">
                <a16:creationId xmlns:a16="http://schemas.microsoft.com/office/drawing/2014/main" id="{8DFEA8C9-4BCA-99B4-3B2C-0C33CE15A6A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65363" y="2344737"/>
            <a:ext cx="1588" cy="125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Oval 31">
            <a:extLst>
              <a:ext uri="{FF2B5EF4-FFF2-40B4-BE49-F238E27FC236}">
                <a16:creationId xmlns:a16="http://schemas.microsoft.com/office/drawing/2014/main" id="{E68AC73F-049E-545F-5400-F16100A4C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2608263"/>
            <a:ext cx="987425" cy="205422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>
              <a:latin typeface="Arial Narrow" panose="020B0606020202030204" pitchFamily="34" charset="0"/>
            </a:endParaRPr>
          </a:p>
          <a:p>
            <a:endParaRPr lang="en-US" altLang="en-US">
              <a:latin typeface="Arial Narrow" panose="020B0606020202030204" pitchFamily="34" charset="0"/>
            </a:endParaRPr>
          </a:p>
          <a:p>
            <a:r>
              <a:rPr lang="en-US" altLang="en-US">
                <a:latin typeface="Arial Narrow" panose="020B0606020202030204" pitchFamily="34" charset="0"/>
              </a:rPr>
              <a:t>OCR</a:t>
            </a:r>
          </a:p>
          <a:p>
            <a:r>
              <a:rPr lang="en-US" altLang="en-US">
                <a:latin typeface="Arial Narrow" panose="020B0606020202030204" pitchFamily="34" charset="0"/>
              </a:rPr>
              <a:t>HWR</a:t>
            </a:r>
          </a:p>
        </p:txBody>
      </p:sp>
      <p:sp>
        <p:nvSpPr>
          <p:cNvPr id="13329" name="Oval 32">
            <a:extLst>
              <a:ext uri="{FF2B5EF4-FFF2-40B4-BE49-F238E27FC236}">
                <a16:creationId xmlns:a16="http://schemas.microsoft.com/office/drawing/2014/main" id="{95573A48-6879-EA70-F47B-88F341BCF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2160588"/>
            <a:ext cx="2020887" cy="733425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latin typeface="Arial Narrow" panose="020B0606020202030204" pitchFamily="34" charset="0"/>
              </a:rPr>
              <a:t>Market Analysis</a:t>
            </a:r>
            <a:endParaRPr lang="en-US" altLang="en-US" sz="2000"/>
          </a:p>
        </p:txBody>
      </p:sp>
      <p:sp>
        <p:nvSpPr>
          <p:cNvPr id="13330" name="Oval 33">
            <a:extLst>
              <a:ext uri="{FF2B5EF4-FFF2-40B4-BE49-F238E27FC236}">
                <a16:creationId xmlns:a16="http://schemas.microsoft.com/office/drawing/2014/main" id="{3CE2CA0D-9E1E-8838-1C85-D6944BE6D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78150"/>
            <a:ext cx="2882900" cy="628650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latin typeface="Arial Narrow" panose="020B0606020202030204" pitchFamily="34" charset="0"/>
              </a:rPr>
              <a:t>Text Categorization</a:t>
            </a:r>
          </a:p>
        </p:txBody>
      </p:sp>
      <p:grpSp>
        <p:nvGrpSpPr>
          <p:cNvPr id="13331" name="Group 41">
            <a:extLst>
              <a:ext uri="{FF2B5EF4-FFF2-40B4-BE49-F238E27FC236}">
                <a16:creationId xmlns:a16="http://schemas.microsoft.com/office/drawing/2014/main" id="{F750F10F-105E-CE28-4B0A-14095635D35D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017838"/>
            <a:ext cx="685800" cy="2286000"/>
            <a:chOff x="2667000" y="3505200"/>
            <a:chExt cx="685800" cy="2286000"/>
          </a:xfrm>
        </p:grpSpPr>
        <p:sp>
          <p:nvSpPr>
            <p:cNvPr id="13346" name="Oval 35">
              <a:extLst>
                <a:ext uri="{FF2B5EF4-FFF2-40B4-BE49-F238E27FC236}">
                  <a16:creationId xmlns:a16="http://schemas.microsoft.com/office/drawing/2014/main" id="{F6B84A2B-70FD-D251-4784-5F3B17804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3505200"/>
              <a:ext cx="685800" cy="2286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fr-FR" altLang="en-US" sz="1800"/>
            </a:p>
          </p:txBody>
        </p:sp>
        <p:sp>
          <p:nvSpPr>
            <p:cNvPr id="13347" name="Rectangle 36">
              <a:extLst>
                <a:ext uri="{FF2B5EF4-FFF2-40B4-BE49-F238E27FC236}">
                  <a16:creationId xmlns:a16="http://schemas.microsoft.com/office/drawing/2014/main" id="{1E043A6A-3C66-DF81-DED6-3C1F239079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107129" y="4446071"/>
              <a:ext cx="1793875" cy="369332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>
                  <a:latin typeface="Arial Narrow" panose="020B0606020202030204" pitchFamily="34" charset="0"/>
                </a:rPr>
                <a:t>System diagnosis</a:t>
              </a:r>
            </a:p>
          </p:txBody>
        </p:sp>
      </p:grpSp>
      <p:grpSp>
        <p:nvGrpSpPr>
          <p:cNvPr id="13332" name="Group 43">
            <a:extLst>
              <a:ext uri="{FF2B5EF4-FFF2-40B4-BE49-F238E27FC236}">
                <a16:creationId xmlns:a16="http://schemas.microsoft.com/office/drawing/2014/main" id="{7F07E445-69C6-0160-E9EC-F25F671FDC68}"/>
              </a:ext>
            </a:extLst>
          </p:cNvPr>
          <p:cNvGrpSpPr>
            <a:grpSpLocks/>
          </p:cNvGrpSpPr>
          <p:nvPr/>
        </p:nvGrpSpPr>
        <p:grpSpPr bwMode="auto">
          <a:xfrm>
            <a:off x="2901950" y="6065838"/>
            <a:ext cx="3879850" cy="400050"/>
            <a:chOff x="2901950" y="6491288"/>
            <a:chExt cx="3879850" cy="400110"/>
          </a:xfrm>
        </p:grpSpPr>
        <p:sp>
          <p:nvSpPr>
            <p:cNvPr id="13341" name="Text Box 37">
              <a:extLst>
                <a:ext uri="{FF2B5EF4-FFF2-40B4-BE49-F238E27FC236}">
                  <a16:creationId xmlns:a16="http://schemas.microsoft.com/office/drawing/2014/main" id="{780114B5-C380-1F2D-9E13-41E38C1C7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1950" y="6491288"/>
              <a:ext cx="60325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endParaRPr lang="en-US" altLang="en-US" sz="2000"/>
            </a:p>
          </p:txBody>
        </p:sp>
        <p:sp>
          <p:nvSpPr>
            <p:cNvPr id="13342" name="Text Box 38">
              <a:extLst>
                <a:ext uri="{FF2B5EF4-FFF2-40B4-BE49-F238E27FC236}">
                  <a16:creationId xmlns:a16="http://schemas.microsoft.com/office/drawing/2014/main" id="{B0CAD17A-EE10-84C3-19B7-EEE3A86D7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5850" y="6491288"/>
              <a:ext cx="64135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2</a:t>
              </a:r>
              <a:endParaRPr lang="en-US" altLang="en-US" sz="2000"/>
            </a:p>
          </p:txBody>
        </p:sp>
        <p:sp>
          <p:nvSpPr>
            <p:cNvPr id="13343" name="Text Box 39">
              <a:extLst>
                <a:ext uri="{FF2B5EF4-FFF2-40B4-BE49-F238E27FC236}">
                  <a16:creationId xmlns:a16="http://schemas.microsoft.com/office/drawing/2014/main" id="{BD3ECEBD-4597-8C6C-78C6-CE3501B60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650" y="6491288"/>
              <a:ext cx="66675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3</a:t>
              </a:r>
              <a:endParaRPr lang="en-US" altLang="en-US" sz="2000"/>
            </a:p>
          </p:txBody>
        </p:sp>
        <p:sp>
          <p:nvSpPr>
            <p:cNvPr id="13344" name="Text Box 40">
              <a:extLst>
                <a:ext uri="{FF2B5EF4-FFF2-40B4-BE49-F238E27FC236}">
                  <a16:creationId xmlns:a16="http://schemas.microsoft.com/office/drawing/2014/main" id="{B633AEC7-76F7-24F6-09DA-610E77E84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8750" y="6491288"/>
              <a:ext cx="62865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4</a:t>
              </a:r>
              <a:endParaRPr lang="en-US" altLang="en-US" sz="2000"/>
            </a:p>
          </p:txBody>
        </p:sp>
        <p:sp>
          <p:nvSpPr>
            <p:cNvPr id="13345" name="Text Box 41">
              <a:extLst>
                <a:ext uri="{FF2B5EF4-FFF2-40B4-BE49-F238E27FC236}">
                  <a16:creationId xmlns:a16="http://schemas.microsoft.com/office/drawing/2014/main" id="{CF30EA2E-7742-4698-B4F8-56CB1476C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1550" y="6491288"/>
              <a:ext cx="73025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5</a:t>
              </a:r>
              <a:endParaRPr lang="en-US" altLang="en-US" sz="2000"/>
            </a:p>
          </p:txBody>
        </p:sp>
      </p:grpSp>
      <p:grpSp>
        <p:nvGrpSpPr>
          <p:cNvPr id="13333" name="Group 44">
            <a:extLst>
              <a:ext uri="{FF2B5EF4-FFF2-40B4-BE49-F238E27FC236}">
                <a16:creationId xmlns:a16="http://schemas.microsoft.com/office/drawing/2014/main" id="{3262D182-A29A-BD20-9042-C1822344677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254250"/>
            <a:ext cx="665163" cy="3297238"/>
            <a:chOff x="1676400" y="2589213"/>
            <a:chExt cx="665163" cy="3297297"/>
          </a:xfrm>
        </p:grpSpPr>
        <p:sp>
          <p:nvSpPr>
            <p:cNvPr id="13335" name="Text Box 14">
              <a:extLst>
                <a:ext uri="{FF2B5EF4-FFF2-40B4-BE49-F238E27FC236}">
                  <a16:creationId xmlns:a16="http://schemas.microsoft.com/office/drawing/2014/main" id="{9E943F93-5C11-28F2-73B1-8DE9C8CFF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5486400"/>
              <a:ext cx="4572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endParaRPr lang="en-US" altLang="en-US" sz="2000"/>
            </a:p>
          </p:txBody>
        </p:sp>
        <p:sp>
          <p:nvSpPr>
            <p:cNvPr id="13336" name="Text Box 15">
              <a:extLst>
                <a:ext uri="{FF2B5EF4-FFF2-40B4-BE49-F238E27FC236}">
                  <a16:creationId xmlns:a16="http://schemas.microsoft.com/office/drawing/2014/main" id="{3CAABD3D-2500-1A9C-3DEE-DB3C09996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4872335"/>
              <a:ext cx="6096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2</a:t>
              </a:r>
              <a:endParaRPr lang="en-US" altLang="en-US" sz="2000"/>
            </a:p>
          </p:txBody>
        </p:sp>
        <p:sp>
          <p:nvSpPr>
            <p:cNvPr id="13337" name="Text Box 16">
              <a:extLst>
                <a:ext uri="{FF2B5EF4-FFF2-40B4-BE49-F238E27FC236}">
                  <a16:creationId xmlns:a16="http://schemas.microsoft.com/office/drawing/2014/main" id="{8750B9AE-85FA-A3C3-C417-8F7A475AD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4262735"/>
              <a:ext cx="6096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3</a:t>
              </a:r>
              <a:endParaRPr lang="en-US" altLang="en-US" sz="2000"/>
            </a:p>
          </p:txBody>
        </p:sp>
        <p:sp>
          <p:nvSpPr>
            <p:cNvPr id="13338" name="Text Box 26">
              <a:extLst>
                <a:ext uri="{FF2B5EF4-FFF2-40B4-BE49-F238E27FC236}">
                  <a16:creationId xmlns:a16="http://schemas.microsoft.com/office/drawing/2014/main" id="{BCD9771E-E755-1322-63F6-419BE0B6C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657600"/>
              <a:ext cx="6096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4</a:t>
              </a:r>
              <a:endParaRPr lang="en-US" altLang="en-US" sz="2000"/>
            </a:p>
          </p:txBody>
        </p:sp>
        <p:sp>
          <p:nvSpPr>
            <p:cNvPr id="13339" name="Text Box 27">
              <a:extLst>
                <a:ext uri="{FF2B5EF4-FFF2-40B4-BE49-F238E27FC236}">
                  <a16:creationId xmlns:a16="http://schemas.microsoft.com/office/drawing/2014/main" id="{C05730CB-C416-AC45-7029-47760E258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124200"/>
              <a:ext cx="6096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5</a:t>
              </a:r>
              <a:endParaRPr lang="en-US" altLang="en-US" sz="2000" baseline="30000"/>
            </a:p>
          </p:txBody>
        </p:sp>
        <p:sp>
          <p:nvSpPr>
            <p:cNvPr id="13340" name="Text Box 64">
              <a:extLst>
                <a:ext uri="{FF2B5EF4-FFF2-40B4-BE49-F238E27FC236}">
                  <a16:creationId xmlns:a16="http://schemas.microsoft.com/office/drawing/2014/main" id="{539E1AF9-D438-A2AD-06F3-9BDB23C83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589213"/>
              <a:ext cx="6651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Arial Narrow" panose="020B0606020202030204" pitchFamily="34" charset="0"/>
                </a:rPr>
                <a:t>10</a:t>
              </a:r>
              <a:r>
                <a:rPr lang="en-US" altLang="en-US" sz="2000" baseline="30000">
                  <a:latin typeface="Arial Narrow" panose="020B0606020202030204" pitchFamily="34" charset="0"/>
                </a:rPr>
                <a:t>6</a:t>
              </a:r>
              <a:endParaRPr lang="en-US" altLang="en-US" sz="2000" baseline="30000"/>
            </a:p>
          </p:txBody>
        </p:sp>
      </p:grpSp>
      <p:sp>
        <p:nvSpPr>
          <p:cNvPr id="13334" name="Line 25">
            <a:extLst>
              <a:ext uri="{FF2B5EF4-FFF2-40B4-BE49-F238E27FC236}">
                <a16:creationId xmlns:a16="http://schemas.microsoft.com/office/drawing/2014/main" id="{285E6051-D857-4C0A-DBBA-8F74924F8DC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71713" y="2954337"/>
            <a:ext cx="1588" cy="125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35EA3174-7789-BBB7-04F8-8826AF39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7772400" cy="960438"/>
          </a:xfrm>
        </p:spPr>
        <p:txBody>
          <a:bodyPr/>
          <a:lstStyle/>
          <a:p>
            <a:r>
              <a:rPr lang="en-US" altLang="en-US"/>
              <a:t>Banking / Telecom / Retail</a:t>
            </a:r>
          </a:p>
        </p:txBody>
      </p:sp>
      <p:sp>
        <p:nvSpPr>
          <p:cNvPr id="254980" name="Rectangle 4">
            <a:extLst>
              <a:ext uri="{FF2B5EF4-FFF2-40B4-BE49-F238E27FC236}">
                <a16:creationId xmlns:a16="http://schemas.microsoft.com/office/drawing/2014/main" id="{301D05F5-E2CE-0342-696E-34F4B5196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5263" y="1371600"/>
            <a:ext cx="4833937" cy="5138738"/>
          </a:xfrm>
          <a:solidFill>
            <a:schemeClr val="bg1"/>
          </a:solidFill>
        </p:spPr>
        <p:txBody>
          <a:bodyPr lIns="457200" rIns="457200"/>
          <a:lstStyle/>
          <a:p>
            <a:endParaRPr lang="en-US" altLang="en-US" sz="1800" b="1">
              <a:solidFill>
                <a:schemeClr val="folHlink"/>
              </a:solidFill>
            </a:endParaRPr>
          </a:p>
          <a:p>
            <a:r>
              <a:rPr lang="en-US" altLang="en-US" sz="2800" b="1">
                <a:solidFill>
                  <a:schemeClr val="folHlink"/>
                </a:solidFill>
              </a:rPr>
              <a:t>Identify:</a:t>
            </a:r>
          </a:p>
          <a:p>
            <a:pPr lvl="1"/>
            <a:r>
              <a:rPr lang="en-US" altLang="en-US" b="1"/>
              <a:t>Prospective customers</a:t>
            </a:r>
          </a:p>
          <a:p>
            <a:pPr lvl="1"/>
            <a:r>
              <a:rPr lang="en-US" altLang="en-US" b="1"/>
              <a:t>Dissatisfied customers</a:t>
            </a:r>
          </a:p>
          <a:p>
            <a:pPr lvl="1"/>
            <a:r>
              <a:rPr lang="en-US" altLang="en-US" b="1"/>
              <a:t>Good customers</a:t>
            </a:r>
          </a:p>
          <a:p>
            <a:pPr lvl="1"/>
            <a:r>
              <a:rPr lang="en-US" altLang="en-US" b="1"/>
              <a:t>Bad payers</a:t>
            </a:r>
          </a:p>
          <a:p>
            <a:r>
              <a:rPr lang="en-US" altLang="en-US" sz="2800" b="1">
                <a:solidFill>
                  <a:schemeClr val="folHlink"/>
                </a:solidFill>
              </a:rPr>
              <a:t>Obtain:</a:t>
            </a:r>
          </a:p>
          <a:p>
            <a:pPr lvl="1"/>
            <a:r>
              <a:rPr lang="en-US" altLang="en-US" b="1"/>
              <a:t>More effective advertising</a:t>
            </a:r>
          </a:p>
          <a:p>
            <a:pPr lvl="1"/>
            <a:r>
              <a:rPr lang="en-US" altLang="en-US" b="1"/>
              <a:t>Less credit risk</a:t>
            </a:r>
          </a:p>
          <a:p>
            <a:pPr lvl="1"/>
            <a:r>
              <a:rPr lang="en-US" altLang="en-US" b="1"/>
              <a:t>Fewer fraud</a:t>
            </a:r>
          </a:p>
          <a:p>
            <a:pPr lvl="1"/>
            <a:r>
              <a:rPr lang="en-US" altLang="en-US" b="1"/>
              <a:t>Decreased churn rate</a:t>
            </a:r>
          </a:p>
          <a:p>
            <a:endParaRPr lang="en-US" altLang="en-US" sz="2800" b="1"/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050CD017-6E64-6CD6-9001-1C3AF58F3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90725"/>
            <a:ext cx="29146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Pictures\vitamins.jpg">
            <a:extLst>
              <a:ext uri="{FF2B5EF4-FFF2-40B4-BE49-F238E27FC236}">
                <a16:creationId xmlns:a16="http://schemas.microsoft.com/office/drawing/2014/main" id="{BF55D12D-3674-8EBB-47AC-FD2B99A4F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6713"/>
            <a:ext cx="7848600" cy="353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">
            <a:extLst>
              <a:ext uri="{FF2B5EF4-FFF2-40B4-BE49-F238E27FC236}">
                <a16:creationId xmlns:a16="http://schemas.microsoft.com/office/drawing/2014/main" id="{472221DD-9060-B3EE-5F39-8273E466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Biomedical / Biometrics</a:t>
            </a:r>
          </a:p>
        </p:txBody>
      </p:sp>
      <p:sp>
        <p:nvSpPr>
          <p:cNvPr id="257028" name="Rectangle 4">
            <a:extLst>
              <a:ext uri="{FF2B5EF4-FFF2-40B4-BE49-F238E27FC236}">
                <a16:creationId xmlns:a16="http://schemas.microsoft.com/office/drawing/2014/main" id="{9B72BF39-96BB-6E4D-F963-A3CE35139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2650" y="1600200"/>
            <a:ext cx="5426075" cy="5000625"/>
          </a:xfr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457200" rIns="457200"/>
          <a:lstStyle/>
          <a:p>
            <a:endParaRPr lang="en-US" altLang="en-US" sz="1000" b="1">
              <a:solidFill>
                <a:schemeClr val="folHlink"/>
              </a:solidFill>
            </a:endParaRPr>
          </a:p>
          <a:p>
            <a:r>
              <a:rPr lang="en-US" altLang="en-US" b="1">
                <a:solidFill>
                  <a:schemeClr val="folHlink"/>
                </a:solidFill>
              </a:rPr>
              <a:t>Medicine:</a:t>
            </a:r>
          </a:p>
          <a:p>
            <a:pPr lvl="1"/>
            <a:r>
              <a:rPr lang="en-US" altLang="en-US" b="1"/>
              <a:t>Screening</a:t>
            </a:r>
            <a:endParaRPr lang="en-US" altLang="en-US"/>
          </a:p>
          <a:p>
            <a:pPr lvl="1"/>
            <a:r>
              <a:rPr lang="en-US" altLang="en-US" b="1"/>
              <a:t>Diagnosis and prognosis</a:t>
            </a:r>
          </a:p>
          <a:p>
            <a:pPr lvl="1"/>
            <a:r>
              <a:rPr lang="en-US" altLang="en-US" b="1"/>
              <a:t>Drug discovery</a:t>
            </a:r>
          </a:p>
          <a:p>
            <a:pPr lvl="1"/>
            <a:endParaRPr lang="en-US" altLang="en-US" b="1"/>
          </a:p>
          <a:p>
            <a:r>
              <a:rPr lang="en-US" altLang="en-US" b="1">
                <a:solidFill>
                  <a:schemeClr val="folHlink"/>
                </a:solidFill>
              </a:rPr>
              <a:t>Security:</a:t>
            </a:r>
          </a:p>
          <a:p>
            <a:pPr lvl="1"/>
            <a:r>
              <a:rPr lang="en-US" altLang="en-US" b="1"/>
              <a:t>Face recognition</a:t>
            </a:r>
          </a:p>
          <a:p>
            <a:pPr lvl="1"/>
            <a:r>
              <a:rPr lang="en-US" altLang="en-US" b="1"/>
              <a:t>Signature / fingerprint / iris verification</a:t>
            </a:r>
          </a:p>
          <a:p>
            <a:pPr lvl="1"/>
            <a:r>
              <a:rPr lang="en-US" altLang="en-US" b="1"/>
              <a:t>DNA fingerprinting</a:t>
            </a:r>
          </a:p>
          <a:p>
            <a:pPr lvl="1">
              <a:buFontTx/>
              <a:buNone/>
            </a:pPr>
            <a:endParaRPr lang="en-US" altLang="en-US" b="1">
              <a:solidFill>
                <a:schemeClr val="folHlink"/>
              </a:solidFill>
            </a:endParaRPr>
          </a:p>
          <a:p>
            <a:pPr lvl="1"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C2B4D46-2543-997F-8009-8681A1A1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838200"/>
          </a:xfrm>
        </p:spPr>
        <p:txBody>
          <a:bodyPr/>
          <a:lstStyle/>
          <a:p>
            <a:r>
              <a:rPr lang="en-US" altLang="en-US"/>
              <a:t>Computer / Internet</a:t>
            </a:r>
          </a:p>
        </p:txBody>
      </p:sp>
      <p:sp>
        <p:nvSpPr>
          <p:cNvPr id="259076" name="Rectangle 4">
            <a:extLst>
              <a:ext uri="{FF2B5EF4-FFF2-40B4-BE49-F238E27FC236}">
                <a16:creationId xmlns:a16="http://schemas.microsoft.com/office/drawing/2014/main" id="{019DB808-ADA1-74D0-4CC5-761E525AB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7125" y="1320800"/>
            <a:ext cx="5172075" cy="4775200"/>
          </a:xfrm>
          <a:solidFill>
            <a:schemeClr val="bg1"/>
          </a:solidFill>
        </p:spPr>
        <p:txBody>
          <a:bodyPr lIns="457200" rIns="457200"/>
          <a:lstStyle/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800" b="1">
                <a:solidFill>
                  <a:schemeClr val="folHlink"/>
                </a:solidFill>
              </a:rPr>
              <a:t>Computer interfaces: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Troubleshooting wizards 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 b="1"/>
              <a:t>Handwriting and speech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Brain waves</a:t>
            </a:r>
          </a:p>
          <a:p>
            <a:pPr lvl="1">
              <a:lnSpc>
                <a:spcPct val="90000"/>
              </a:lnSpc>
            </a:pPr>
            <a:endParaRPr lang="en-US" altLang="en-US" b="1"/>
          </a:p>
          <a:p>
            <a:pPr>
              <a:lnSpc>
                <a:spcPct val="90000"/>
              </a:lnSpc>
            </a:pPr>
            <a:r>
              <a:rPr lang="en-US" altLang="en-US" sz="2800" b="1">
                <a:solidFill>
                  <a:schemeClr val="folHlink"/>
                </a:solidFill>
              </a:rPr>
              <a:t>Internet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Hit ranking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Spam filtering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Text categorization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Text translation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Recommendation 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b="1"/>
          </a:p>
        </p:txBody>
      </p:sp>
      <p:graphicFrame>
        <p:nvGraphicFramePr>
          <p:cNvPr id="18436" name="Object 2">
            <a:extLst>
              <a:ext uri="{FF2B5EF4-FFF2-40B4-BE49-F238E27FC236}">
                <a16:creationId xmlns:a16="http://schemas.microsoft.com/office/drawing/2014/main" id="{2CBD9543-14AC-2D90-CC21-81E3B5D3C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3" y="1447800"/>
          <a:ext cx="2986087" cy="265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886478" imgH="2561905" progId="Paint.Picture">
                  <p:embed/>
                </p:oleObj>
              </mc:Choice>
              <mc:Fallback>
                <p:oleObj name="Bitmap Image" r:id="rId3" imgW="2886478" imgH="256190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1447800"/>
                        <a:ext cx="2986087" cy="265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3">
            <a:extLst>
              <a:ext uri="{FF2B5EF4-FFF2-40B4-BE49-F238E27FC236}">
                <a16:creationId xmlns:a16="http://schemas.microsoft.com/office/drawing/2014/main" id="{CE83B21B-8EA1-4375-C28A-D00A4D5D3C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4114800"/>
          <a:ext cx="2582862" cy="251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828571" imgH="2572109" progId="Paint.Picture">
                  <p:embed/>
                </p:oleObj>
              </mc:Choice>
              <mc:Fallback>
                <p:oleObj name="Bitmap Image" r:id="rId5" imgW="2828571" imgH="2572109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4114800"/>
                        <a:ext cx="2582862" cy="251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A81BA41-15B4-6269-CCC2-56DCF9D2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ML in a Nutshell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18127BE-870C-7B09-393D-A59F16FB4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Tens of thousands of machine learning algorithms</a:t>
            </a:r>
          </a:p>
          <a:p>
            <a:pPr eaLnBrk="1" hangingPunct="1"/>
            <a:r>
              <a:rPr lang="en-US" altLang="en-US"/>
              <a:t>Hundreds new every year</a:t>
            </a:r>
          </a:p>
          <a:p>
            <a:pPr eaLnBrk="1" hangingPunct="1"/>
            <a:r>
              <a:rPr lang="en-US" altLang="en-US"/>
              <a:t>Every machine learning algorithm has three components:</a:t>
            </a:r>
          </a:p>
          <a:p>
            <a:pPr lvl="1" eaLnBrk="1" hangingPunct="1"/>
            <a:r>
              <a:rPr lang="en-US" altLang="en-US" b="1"/>
              <a:t>Representation</a:t>
            </a:r>
          </a:p>
          <a:p>
            <a:pPr lvl="1" eaLnBrk="1" hangingPunct="1"/>
            <a:r>
              <a:rPr lang="en-US" altLang="en-US" b="1"/>
              <a:t>Evaluation</a:t>
            </a:r>
          </a:p>
          <a:p>
            <a:pPr lvl="1" eaLnBrk="1" hangingPunct="1"/>
            <a:r>
              <a:rPr lang="en-US" altLang="en-US" b="1"/>
              <a:t>Optimization</a:t>
            </a:r>
          </a:p>
        </p:txBody>
      </p:sp>
      <p:sp>
        <p:nvSpPr>
          <p:cNvPr id="20484" name="Footer Placeholder 4">
            <a:extLst>
              <a:ext uri="{FF2B5EF4-FFF2-40B4-BE49-F238E27FC236}">
                <a16:creationId xmlns:a16="http://schemas.microsoft.com/office/drawing/2014/main" id="{73CB2DD9-B323-4513-472B-A2A19673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tx2"/>
                </a:solidFill>
              </a:rPr>
              <a:t>Machine Learning</a:t>
            </a:r>
          </a:p>
        </p:txBody>
      </p:sp>
      <p:sp>
        <p:nvSpPr>
          <p:cNvPr id="20485" name="Slide Number Placeholder 5">
            <a:extLst>
              <a:ext uri="{FF2B5EF4-FFF2-40B4-BE49-F238E27FC236}">
                <a16:creationId xmlns:a16="http://schemas.microsoft.com/office/drawing/2014/main" id="{301710AC-2B34-698E-0B2D-0DC5C488E3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E110E3-F725-498A-B0E8-E0336BC58F34}" type="slidenum">
              <a:rPr lang="en-US" altLang="en-US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2A09FAF-1625-BF00-2141-9AB43BF7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Representation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18480BD-224A-9219-C0ED-E155A7809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Decision trees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Sets of rules / Logic programs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Instances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Graphical models (Bayes/Markov nets)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Neural networks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Support vector machines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Model ensembles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Etc.</a:t>
            </a:r>
          </a:p>
        </p:txBody>
      </p:sp>
      <p:sp>
        <p:nvSpPr>
          <p:cNvPr id="21508" name="Footer Placeholder 4">
            <a:extLst>
              <a:ext uri="{FF2B5EF4-FFF2-40B4-BE49-F238E27FC236}">
                <a16:creationId xmlns:a16="http://schemas.microsoft.com/office/drawing/2014/main" id="{45689B30-F62F-B70F-4605-C3A82258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tx2"/>
                </a:solidFill>
              </a:rPr>
              <a:t>Machine Learning</a:t>
            </a:r>
          </a:p>
        </p:txBody>
      </p:sp>
      <p:sp>
        <p:nvSpPr>
          <p:cNvPr id="21509" name="Slide Number Placeholder 5">
            <a:extLst>
              <a:ext uri="{FF2B5EF4-FFF2-40B4-BE49-F238E27FC236}">
                <a16:creationId xmlns:a16="http://schemas.microsoft.com/office/drawing/2014/main" id="{7EE50BEC-D112-9BA9-4915-84435AE7EC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AA1607-5860-4475-AF98-9F0ABDD5420E}" type="slidenum">
              <a:rPr lang="en-US" altLang="en-US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9316244-70D5-3B0D-7E24-2ACC03FF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Evaluation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3B7D415-EAAE-9C24-016F-0DF8B152E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Accuracy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Precision and recall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Squared error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Likelihood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Posterior probability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Cost / Utility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Margin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Entropy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K-L divergence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Etc.</a:t>
            </a:r>
          </a:p>
        </p:txBody>
      </p:sp>
      <p:sp>
        <p:nvSpPr>
          <p:cNvPr id="22532" name="Footer Placeholder 4">
            <a:extLst>
              <a:ext uri="{FF2B5EF4-FFF2-40B4-BE49-F238E27FC236}">
                <a16:creationId xmlns:a16="http://schemas.microsoft.com/office/drawing/2014/main" id="{8D8EB9B1-3737-740D-951C-0CFDFC93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tx2"/>
                </a:solidFill>
              </a:rPr>
              <a:t>Machine Learning</a:t>
            </a:r>
          </a:p>
        </p:txBody>
      </p:sp>
      <p:sp>
        <p:nvSpPr>
          <p:cNvPr id="22533" name="Slide Number Placeholder 5">
            <a:extLst>
              <a:ext uri="{FF2B5EF4-FFF2-40B4-BE49-F238E27FC236}">
                <a16:creationId xmlns:a16="http://schemas.microsoft.com/office/drawing/2014/main" id="{D8268962-A90E-C686-146F-77771B65F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42C2A8-0D83-446F-A120-54C568B866CD}" type="slidenum">
              <a:rPr lang="en-US" altLang="en-US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80A8F6B-F698-E7BB-CC72-76938945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Optimization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4FB2F75-68BF-4058-4129-7090BE754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Combinatorial optimization</a:t>
            </a:r>
          </a:p>
          <a:p>
            <a:pPr lvl="1" eaLnBrk="1" hangingPunct="1"/>
            <a:r>
              <a:rPr lang="en-US" altLang="en-US"/>
              <a:t>E.g.: Greedy search</a:t>
            </a:r>
          </a:p>
          <a:p>
            <a:pPr eaLnBrk="1" hangingPunct="1"/>
            <a:r>
              <a:rPr lang="en-US" altLang="en-US"/>
              <a:t>Convex optimization</a:t>
            </a:r>
          </a:p>
          <a:p>
            <a:pPr lvl="1" eaLnBrk="1" hangingPunct="1"/>
            <a:r>
              <a:rPr lang="en-US" altLang="en-US"/>
              <a:t>E.g.: Gradient descent</a:t>
            </a:r>
          </a:p>
          <a:p>
            <a:pPr eaLnBrk="1" hangingPunct="1"/>
            <a:r>
              <a:rPr lang="en-US" altLang="en-US"/>
              <a:t>Constrained optimization</a:t>
            </a:r>
          </a:p>
          <a:p>
            <a:pPr lvl="1" eaLnBrk="1" hangingPunct="1"/>
            <a:r>
              <a:rPr lang="en-US" altLang="en-US"/>
              <a:t>E.g.: Linear programming</a:t>
            </a:r>
          </a:p>
        </p:txBody>
      </p:sp>
      <p:sp>
        <p:nvSpPr>
          <p:cNvPr id="23556" name="Footer Placeholder 4">
            <a:extLst>
              <a:ext uri="{FF2B5EF4-FFF2-40B4-BE49-F238E27FC236}">
                <a16:creationId xmlns:a16="http://schemas.microsoft.com/office/drawing/2014/main" id="{FD1A3A76-9643-2E87-1899-4DA058BC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tx2"/>
                </a:solidFill>
              </a:rPr>
              <a:t>Machine Learning</a:t>
            </a:r>
          </a:p>
        </p:txBody>
      </p:sp>
      <p:sp>
        <p:nvSpPr>
          <p:cNvPr id="23557" name="Slide Number Placeholder 5">
            <a:extLst>
              <a:ext uri="{FF2B5EF4-FFF2-40B4-BE49-F238E27FC236}">
                <a16:creationId xmlns:a16="http://schemas.microsoft.com/office/drawing/2014/main" id="{73A40A9C-149A-93E9-3D50-B275AFE1F4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179F36-135E-495F-9479-1C8615CF0627}" type="slidenum">
              <a:rPr lang="en-US" altLang="en-US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11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0262901-FCC2-6E0F-9FED-1C359D6E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Types of Learning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DC03276-6CA3-6A56-2815-BDF46D63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382000" cy="4572000"/>
          </a:xfrm>
        </p:spPr>
        <p:txBody>
          <a:bodyPr/>
          <a:lstStyle/>
          <a:p>
            <a:pPr eaLnBrk="1" hangingPunct="1"/>
            <a:r>
              <a:rPr lang="en-US" altLang="en-US" b="1"/>
              <a:t>Supervised (inductive) learning</a:t>
            </a:r>
          </a:p>
          <a:p>
            <a:pPr lvl="1" eaLnBrk="1" hangingPunct="1"/>
            <a:r>
              <a:rPr lang="en-US" altLang="en-US"/>
              <a:t>Training data includes desired outputs</a:t>
            </a:r>
          </a:p>
          <a:p>
            <a:pPr eaLnBrk="1" hangingPunct="1"/>
            <a:r>
              <a:rPr lang="en-US" altLang="en-US" b="1"/>
              <a:t>Unsupervised learning</a:t>
            </a:r>
          </a:p>
          <a:p>
            <a:pPr lvl="1" eaLnBrk="1" hangingPunct="1"/>
            <a:r>
              <a:rPr lang="en-US" altLang="en-US"/>
              <a:t>Training data does not include desired outputs</a:t>
            </a:r>
          </a:p>
          <a:p>
            <a:pPr eaLnBrk="1" hangingPunct="1"/>
            <a:r>
              <a:rPr lang="en-US" altLang="en-US" b="1"/>
              <a:t>Semi-supervised learning</a:t>
            </a:r>
          </a:p>
          <a:p>
            <a:pPr lvl="1" eaLnBrk="1" hangingPunct="1"/>
            <a:r>
              <a:rPr lang="en-US" altLang="en-US"/>
              <a:t>Training data includes a few desired outputs</a:t>
            </a:r>
          </a:p>
          <a:p>
            <a:pPr eaLnBrk="1" hangingPunct="1"/>
            <a:r>
              <a:rPr lang="en-US" altLang="en-US" b="1"/>
              <a:t>Reinforcement learning</a:t>
            </a:r>
          </a:p>
          <a:p>
            <a:pPr lvl="1" eaLnBrk="1" hangingPunct="1"/>
            <a:r>
              <a:rPr lang="en-US" altLang="en-US"/>
              <a:t>Rewards from sequence of actions</a:t>
            </a:r>
          </a:p>
        </p:txBody>
      </p:sp>
      <p:sp>
        <p:nvSpPr>
          <p:cNvPr id="24580" name="Footer Placeholder 4">
            <a:extLst>
              <a:ext uri="{FF2B5EF4-FFF2-40B4-BE49-F238E27FC236}">
                <a16:creationId xmlns:a16="http://schemas.microsoft.com/office/drawing/2014/main" id="{E32C246D-8960-BA20-3EBB-62991E2C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tx2"/>
                </a:solidFill>
              </a:rPr>
              <a:t>Machine Learning</a:t>
            </a:r>
          </a:p>
        </p:txBody>
      </p:sp>
      <p:sp>
        <p:nvSpPr>
          <p:cNvPr id="24581" name="Slide Number Placeholder 5">
            <a:extLst>
              <a:ext uri="{FF2B5EF4-FFF2-40B4-BE49-F238E27FC236}">
                <a16:creationId xmlns:a16="http://schemas.microsoft.com/office/drawing/2014/main" id="{5AA8E78B-0A84-2B77-3835-DAF3184CE7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36A4D1-67BA-4201-8096-FFDCF0270DC3}" type="slidenum">
              <a:rPr lang="en-US" altLang="en-US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12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3">
            <a:extLst>
              <a:ext uri="{FF2B5EF4-FFF2-40B4-BE49-F238E27FC236}">
                <a16:creationId xmlns:a16="http://schemas.microsoft.com/office/drawing/2014/main" id="{1E6E13E7-C938-608F-F6BB-10C69DC0F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/>
              <a:t>Supervised Learning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6343BA3-505C-D365-48C7-EE5E780C2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3352800"/>
            <a:ext cx="5105400" cy="533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Through Examples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6B7A28C-5229-8681-DEC2-63113FFF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84238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Supervised Learning</a:t>
            </a:r>
            <a:endParaRPr lang="en-GB" altLang="en-US" b="1">
              <a:solidFill>
                <a:schemeClr val="accent2"/>
              </a:solidFill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B6A2B2E-0F6E-ED5F-2375-5C3CD4197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/>
              <a:t>When a set of targets of interest is provided by an external teacher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we say that the learning is </a:t>
            </a:r>
            <a:r>
              <a:rPr lang="en-US" altLang="en-US" b="1">
                <a:solidFill>
                  <a:srgbClr val="FF0000"/>
                </a:solidFill>
              </a:rPr>
              <a:t>Supervised</a:t>
            </a:r>
            <a:r>
              <a:rPr lang="en-US" altLang="en-US"/>
              <a:t>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/>
              <a:t>The targets usually are in the form of an </a:t>
            </a:r>
            <a:r>
              <a:rPr lang="en-US" altLang="en-US" b="1">
                <a:solidFill>
                  <a:srgbClr val="CC3300"/>
                </a:solidFill>
              </a:rPr>
              <a:t>input output mapping</a:t>
            </a:r>
            <a:r>
              <a:rPr lang="en-US" altLang="en-US"/>
              <a:t>  that the net should learn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981485B-9F05-9C3B-1093-0CD183230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50838"/>
            <a:ext cx="7772400" cy="7159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2"/>
                </a:solidFill>
              </a:rPr>
              <a:t>Learning From Examples</a:t>
            </a:r>
            <a:endParaRPr lang="en-GB" b="1" dirty="0">
              <a:solidFill>
                <a:schemeClr val="accent2"/>
              </a:solidFill>
            </a:endParaRPr>
          </a:p>
        </p:txBody>
      </p:sp>
      <p:sp>
        <p:nvSpPr>
          <p:cNvPr id="22531" name="Freeform 3">
            <a:extLst>
              <a:ext uri="{FF2B5EF4-FFF2-40B4-BE49-F238E27FC236}">
                <a16:creationId xmlns:a16="http://schemas.microsoft.com/office/drawing/2014/main" id="{2FDF831E-A74A-9D2B-681E-2B7938658DE1}"/>
              </a:ext>
            </a:extLst>
          </p:cNvPr>
          <p:cNvSpPr>
            <a:spLocks/>
          </p:cNvSpPr>
          <p:nvPr/>
        </p:nvSpPr>
        <p:spPr bwMode="auto">
          <a:xfrm>
            <a:off x="244475" y="1882775"/>
            <a:ext cx="3852863" cy="3416300"/>
          </a:xfrm>
          <a:custGeom>
            <a:avLst/>
            <a:gdLst>
              <a:gd name="T0" fmla="*/ 2147483646 w 2427"/>
              <a:gd name="T1" fmla="*/ 2147483646 h 2152"/>
              <a:gd name="T2" fmla="*/ 2147483646 w 2427"/>
              <a:gd name="T3" fmla="*/ 2147483646 h 2152"/>
              <a:gd name="T4" fmla="*/ 2147483646 w 2427"/>
              <a:gd name="T5" fmla="*/ 2147483646 h 2152"/>
              <a:gd name="T6" fmla="*/ 2147483646 w 2427"/>
              <a:gd name="T7" fmla="*/ 2147483646 h 2152"/>
              <a:gd name="T8" fmla="*/ 2147483646 w 2427"/>
              <a:gd name="T9" fmla="*/ 2147483646 h 2152"/>
              <a:gd name="T10" fmla="*/ 2147483646 w 2427"/>
              <a:gd name="T11" fmla="*/ 2147483646 h 2152"/>
              <a:gd name="T12" fmla="*/ 2147483646 w 2427"/>
              <a:gd name="T13" fmla="*/ 2147483646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27"/>
              <a:gd name="T22" fmla="*/ 0 h 2152"/>
              <a:gd name="T23" fmla="*/ 2427 w 2427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27" h="2152">
                <a:moveTo>
                  <a:pt x="431" y="416"/>
                </a:moveTo>
                <a:cubicBezTo>
                  <a:pt x="272" y="461"/>
                  <a:pt x="86" y="586"/>
                  <a:pt x="44" y="767"/>
                </a:cubicBezTo>
                <a:cubicBezTo>
                  <a:pt x="2" y="948"/>
                  <a:pt x="0" y="1272"/>
                  <a:pt x="182" y="1502"/>
                </a:cubicBezTo>
                <a:cubicBezTo>
                  <a:pt x="364" y="1732"/>
                  <a:pt x="773" y="2152"/>
                  <a:pt x="1133" y="2144"/>
                </a:cubicBezTo>
                <a:cubicBezTo>
                  <a:pt x="1493" y="2136"/>
                  <a:pt x="2257" y="1782"/>
                  <a:pt x="2342" y="1454"/>
                </a:cubicBezTo>
                <a:cubicBezTo>
                  <a:pt x="2427" y="1126"/>
                  <a:pt x="1965" y="346"/>
                  <a:pt x="1646" y="173"/>
                </a:cubicBezTo>
                <a:cubicBezTo>
                  <a:pt x="1327" y="0"/>
                  <a:pt x="684" y="366"/>
                  <a:pt x="431" y="416"/>
                </a:cubicBez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410CB04E-1862-4153-2051-E34557F02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971800"/>
            <a:ext cx="24384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2"/>
                </a:solidFill>
              </a:rPr>
              <a:t> 1              3 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2"/>
                </a:solidFill>
              </a:rPr>
              <a:t>         4         6  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2"/>
                </a:solidFill>
              </a:rPr>
              <a:t>  </a:t>
            </a:r>
            <a:r>
              <a:rPr lang="en-US" altLang="en-US">
                <a:solidFill>
                  <a:schemeClr val="accent1"/>
                </a:solidFill>
              </a:rPr>
              <a:t> 5 </a:t>
            </a:r>
            <a:r>
              <a:rPr lang="en-US" altLang="en-US">
                <a:solidFill>
                  <a:schemeClr val="accent2"/>
                </a:solidFill>
              </a:rPr>
              <a:t>                2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</a:pPr>
            <a:endParaRPr lang="en-GB" altLang="en-US">
              <a:solidFill>
                <a:schemeClr val="accent2"/>
              </a:solidFill>
            </a:endParaRPr>
          </a:p>
        </p:txBody>
      </p:sp>
      <p:sp>
        <p:nvSpPr>
          <p:cNvPr id="22533" name="Freeform 5">
            <a:extLst>
              <a:ext uri="{FF2B5EF4-FFF2-40B4-BE49-F238E27FC236}">
                <a16:creationId xmlns:a16="http://schemas.microsoft.com/office/drawing/2014/main" id="{CB62FEAD-AE5D-E95B-CEA6-DD090922E45A}"/>
              </a:ext>
            </a:extLst>
          </p:cNvPr>
          <p:cNvSpPr>
            <a:spLocks/>
          </p:cNvSpPr>
          <p:nvPr/>
        </p:nvSpPr>
        <p:spPr bwMode="auto">
          <a:xfrm flipH="1">
            <a:off x="4648200" y="1828800"/>
            <a:ext cx="4132263" cy="3276600"/>
          </a:xfrm>
          <a:custGeom>
            <a:avLst/>
            <a:gdLst>
              <a:gd name="T0" fmla="*/ 2147483646 w 2427"/>
              <a:gd name="T1" fmla="*/ 2147483646 h 2152"/>
              <a:gd name="T2" fmla="*/ 2147483646 w 2427"/>
              <a:gd name="T3" fmla="*/ 2147483646 h 2152"/>
              <a:gd name="T4" fmla="*/ 2147483646 w 2427"/>
              <a:gd name="T5" fmla="*/ 2147483646 h 2152"/>
              <a:gd name="T6" fmla="*/ 2147483646 w 2427"/>
              <a:gd name="T7" fmla="*/ 2147483646 h 2152"/>
              <a:gd name="T8" fmla="*/ 2147483646 w 2427"/>
              <a:gd name="T9" fmla="*/ 2147483646 h 2152"/>
              <a:gd name="T10" fmla="*/ 2147483646 w 2427"/>
              <a:gd name="T11" fmla="*/ 2147483646 h 2152"/>
              <a:gd name="T12" fmla="*/ 2147483646 w 2427"/>
              <a:gd name="T13" fmla="*/ 2147483646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27"/>
              <a:gd name="T22" fmla="*/ 0 h 2152"/>
              <a:gd name="T23" fmla="*/ 2427 w 2427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27" h="2152">
                <a:moveTo>
                  <a:pt x="431" y="416"/>
                </a:moveTo>
                <a:cubicBezTo>
                  <a:pt x="272" y="461"/>
                  <a:pt x="86" y="586"/>
                  <a:pt x="44" y="767"/>
                </a:cubicBezTo>
                <a:cubicBezTo>
                  <a:pt x="2" y="948"/>
                  <a:pt x="0" y="1272"/>
                  <a:pt x="182" y="1502"/>
                </a:cubicBezTo>
                <a:cubicBezTo>
                  <a:pt x="364" y="1732"/>
                  <a:pt x="773" y="2152"/>
                  <a:pt x="1133" y="2144"/>
                </a:cubicBezTo>
                <a:cubicBezTo>
                  <a:pt x="1493" y="2136"/>
                  <a:pt x="2257" y="1782"/>
                  <a:pt x="2342" y="1454"/>
                </a:cubicBezTo>
                <a:cubicBezTo>
                  <a:pt x="2427" y="1126"/>
                  <a:pt x="1965" y="346"/>
                  <a:pt x="1646" y="173"/>
                </a:cubicBezTo>
                <a:cubicBezTo>
                  <a:pt x="1327" y="0"/>
                  <a:pt x="684" y="366"/>
                  <a:pt x="431" y="416"/>
                </a:cubicBez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7C11BEAB-30B9-4848-8A31-15BD43B08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514600"/>
            <a:ext cx="2743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 </a:t>
            </a:r>
            <a:r>
              <a:rPr lang="en-US" altLang="en-US">
                <a:solidFill>
                  <a:schemeClr val="accent2"/>
                </a:solidFill>
              </a:rPr>
              <a:t>1              9 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2"/>
                </a:solidFill>
              </a:rPr>
              <a:t>        16               36 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1"/>
                </a:solidFill>
              </a:rPr>
              <a:t>25</a:t>
            </a:r>
            <a:r>
              <a:rPr lang="en-US" altLang="en-US">
                <a:solidFill>
                  <a:schemeClr val="accent2"/>
                </a:solidFill>
              </a:rPr>
              <a:t>                     4 </a:t>
            </a:r>
            <a:endParaRPr lang="en-GB" altLang="en-US">
              <a:solidFill>
                <a:schemeClr val="accent2"/>
              </a:solidFill>
            </a:endParaRPr>
          </a:p>
        </p:txBody>
      </p:sp>
      <p:sp>
        <p:nvSpPr>
          <p:cNvPr id="22545" name="Freeform 17">
            <a:extLst>
              <a:ext uri="{FF2B5EF4-FFF2-40B4-BE49-F238E27FC236}">
                <a16:creationId xmlns:a16="http://schemas.microsoft.com/office/drawing/2014/main" id="{0B800AF0-DC6C-B4DF-51B1-8DFDE9C55738}"/>
              </a:ext>
            </a:extLst>
          </p:cNvPr>
          <p:cNvSpPr>
            <a:spLocks/>
          </p:cNvSpPr>
          <p:nvPr/>
        </p:nvSpPr>
        <p:spPr bwMode="auto">
          <a:xfrm>
            <a:off x="2971800" y="3962400"/>
            <a:ext cx="4572000" cy="304800"/>
          </a:xfrm>
          <a:custGeom>
            <a:avLst/>
            <a:gdLst>
              <a:gd name="T0" fmla="*/ 0 w 2880"/>
              <a:gd name="T1" fmla="*/ 2147483646 h 192"/>
              <a:gd name="T2" fmla="*/ 2147483646 w 2880"/>
              <a:gd name="T3" fmla="*/ 0 h 192"/>
              <a:gd name="T4" fmla="*/ 0 60000 65536"/>
              <a:gd name="T5" fmla="*/ 0 60000 65536"/>
              <a:gd name="T6" fmla="*/ 0 w 2880"/>
              <a:gd name="T7" fmla="*/ 0 h 192"/>
              <a:gd name="T8" fmla="*/ 2880 w 2880"/>
              <a:gd name="T9" fmla="*/ 192 h 19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80" h="192">
                <a:moveTo>
                  <a:pt x="0" y="192"/>
                </a:moveTo>
                <a:cubicBezTo>
                  <a:pt x="1200" y="112"/>
                  <a:pt x="2400" y="32"/>
                  <a:pt x="2880" y="0"/>
                </a:cubicBezTo>
              </a:path>
            </a:pathLst>
          </a:custGeom>
          <a:noFill/>
          <a:ln w="31750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8F85A584-D775-D2B2-C927-681105DB8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2895600"/>
            <a:ext cx="4419600" cy="2286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8D636184-5553-53E0-3F9F-9A7EF3EBE8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2667000"/>
            <a:ext cx="4419600" cy="4572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2AC75C74-1335-F79C-22A2-E4753E1D81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3352800"/>
            <a:ext cx="4800600" cy="3810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D268712B-1ADA-236C-4B66-52AF2304A2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276600"/>
            <a:ext cx="4343400" cy="4572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868C2127-8113-20D0-4907-EB18E5DAB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3810000"/>
            <a:ext cx="4038600" cy="45720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utoUpdateAnimBg="0"/>
      <p:bldP spid="2253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26CFBFB-A986-90C3-E206-F824431B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What We’ll Cover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DF12CE3-B362-62D8-B61C-06D7E1142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b="1" dirty="0"/>
              <a:t>Supervised learning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Decision tree induction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Neural networks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Rule induction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Instance-based learning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Bayesian learning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Support vector machines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Model ensembles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Learning theory</a:t>
            </a:r>
          </a:p>
        </p:txBody>
      </p:sp>
      <p:sp>
        <p:nvSpPr>
          <p:cNvPr id="28676" name="Footer Placeholder 4">
            <a:extLst>
              <a:ext uri="{FF2B5EF4-FFF2-40B4-BE49-F238E27FC236}">
                <a16:creationId xmlns:a16="http://schemas.microsoft.com/office/drawing/2014/main" id="{8936FD83-D7A1-103F-37A4-2402B139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tx2"/>
                </a:solidFill>
              </a:rPr>
              <a:t>Machine Learning</a:t>
            </a:r>
          </a:p>
        </p:txBody>
      </p:sp>
      <p:sp>
        <p:nvSpPr>
          <p:cNvPr id="28677" name="Slide Number Placeholder 5">
            <a:extLst>
              <a:ext uri="{FF2B5EF4-FFF2-40B4-BE49-F238E27FC236}">
                <a16:creationId xmlns:a16="http://schemas.microsoft.com/office/drawing/2014/main" id="{342D2E15-E809-C70D-0622-CEB1B21EAE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F385BC-62B0-4AE0-B586-B478EA4906BE}" type="slidenum">
              <a:rPr lang="en-US" altLang="en-US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16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2">
            <a:extLst>
              <a:ext uri="{FF2B5EF4-FFF2-40B4-BE49-F238E27FC236}">
                <a16:creationId xmlns:a16="http://schemas.microsoft.com/office/drawing/2014/main" id="{00058746-2870-EC3E-FACA-35BD8D558D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172200" y="6191250"/>
            <a:ext cx="24765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Ctr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4B2A268-35FC-4037-BC73-256E28E1A5D8}" type="slidenum">
              <a:rPr lang="en-US" altLang="en-US" sz="1400" smtClean="0">
                <a:solidFill>
                  <a:schemeClr val="tx2"/>
                </a:solidFill>
              </a:rPr>
              <a:pPr algn="r"/>
              <a:t>17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278530" name="Rectangle 2">
            <a:extLst>
              <a:ext uri="{FF2B5EF4-FFF2-40B4-BE49-F238E27FC236}">
                <a16:creationId xmlns:a16="http://schemas.microsoft.com/office/drawing/2014/main" id="{161673E3-E7AA-B6D1-C4B2-4D0BFC114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971800"/>
            <a:ext cx="1219200" cy="2362200"/>
          </a:xfrm>
          <a:prstGeom prst="rect">
            <a:avLst/>
          </a:prstGeom>
          <a:solidFill>
            <a:schemeClr val="accent2">
              <a:alpha val="25098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C03609FC-D879-C9C3-BCE5-B3F40597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772400" cy="7318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Classification: Decision Trees</a:t>
            </a:r>
          </a:p>
        </p:txBody>
      </p:sp>
      <p:sp>
        <p:nvSpPr>
          <p:cNvPr id="29701" name="Line 4">
            <a:extLst>
              <a:ext uri="{FF2B5EF4-FFF2-40B4-BE49-F238E27FC236}">
                <a16:creationId xmlns:a16="http://schemas.microsoft.com/office/drawing/2014/main" id="{CE724B1C-AB73-5259-912C-105BF250B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4384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4CDAFEE9-F6E7-DB9A-1BC7-8FDED7D99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3340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Oval 6">
            <a:extLst>
              <a:ext uri="{FF2B5EF4-FFF2-40B4-BE49-F238E27FC236}">
                <a16:creationId xmlns:a16="http://schemas.microsoft.com/office/drawing/2014/main" id="{D66F7D72-57DC-25DE-056C-056C32E25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3587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4" name="Oval 7">
            <a:extLst>
              <a:ext uri="{FF2B5EF4-FFF2-40B4-BE49-F238E27FC236}">
                <a16:creationId xmlns:a16="http://schemas.microsoft.com/office/drawing/2014/main" id="{19328DFF-FA73-D59E-2CF8-42BBA9D8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37401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5" name="Oval 8">
            <a:extLst>
              <a:ext uri="{FF2B5EF4-FFF2-40B4-BE49-F238E27FC236}">
                <a16:creationId xmlns:a16="http://schemas.microsoft.com/office/drawing/2014/main" id="{748E11AF-67FF-CE3F-3BFD-30738791F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3663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6" name="Oval 9">
            <a:extLst>
              <a:ext uri="{FF2B5EF4-FFF2-40B4-BE49-F238E27FC236}">
                <a16:creationId xmlns:a16="http://schemas.microsoft.com/office/drawing/2014/main" id="{6D770CD9-F3B8-05F0-2C7C-9AEF4FD1F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0" y="3587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7" name="Oval 10">
            <a:extLst>
              <a:ext uri="{FF2B5EF4-FFF2-40B4-BE49-F238E27FC236}">
                <a16:creationId xmlns:a16="http://schemas.microsoft.com/office/drawing/2014/main" id="{1AB1CA9E-5D64-A937-AB67-6C902A55C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4273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8" name="Oval 11">
            <a:extLst>
              <a:ext uri="{FF2B5EF4-FFF2-40B4-BE49-F238E27FC236}">
                <a16:creationId xmlns:a16="http://schemas.microsoft.com/office/drawing/2014/main" id="{990D7500-8249-97AB-81D4-5CEDB5B33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282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9" name="Oval 12">
            <a:extLst>
              <a:ext uri="{FF2B5EF4-FFF2-40B4-BE49-F238E27FC236}">
                <a16:creationId xmlns:a16="http://schemas.microsoft.com/office/drawing/2014/main" id="{8D84EE84-325D-CBD9-5BFB-5E3FFB9DB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4044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0" name="Oval 13">
            <a:extLst>
              <a:ext uri="{FF2B5EF4-FFF2-40B4-BE49-F238E27FC236}">
                <a16:creationId xmlns:a16="http://schemas.microsoft.com/office/drawing/2014/main" id="{E246CE4D-FA98-110C-FC50-2922BDEB5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0" y="3892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1" name="Oval 14">
            <a:extLst>
              <a:ext uri="{FF2B5EF4-FFF2-40B4-BE49-F238E27FC236}">
                <a16:creationId xmlns:a16="http://schemas.microsoft.com/office/drawing/2014/main" id="{5480E28C-354D-D4B5-0696-9BD199901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8163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2" name="Oval 15">
            <a:extLst>
              <a:ext uri="{FF2B5EF4-FFF2-40B4-BE49-F238E27FC236}">
                <a16:creationId xmlns:a16="http://schemas.microsoft.com/office/drawing/2014/main" id="{EEC1992B-84D7-EAD5-3B7F-8E61CA121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550" y="4425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3" name="Oval 16">
            <a:extLst>
              <a:ext uri="{FF2B5EF4-FFF2-40B4-BE49-F238E27FC236}">
                <a16:creationId xmlns:a16="http://schemas.microsoft.com/office/drawing/2014/main" id="{C37620CB-D287-86B5-BA8A-F36459766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4654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4" name="Oval 17">
            <a:extLst>
              <a:ext uri="{FF2B5EF4-FFF2-40B4-BE49-F238E27FC236}">
                <a16:creationId xmlns:a16="http://schemas.microsoft.com/office/drawing/2014/main" id="{A7A4B494-35BF-0144-9D75-46460A23A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3282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5" name="Oval 18">
            <a:extLst>
              <a:ext uri="{FF2B5EF4-FFF2-40B4-BE49-F238E27FC236}">
                <a16:creationId xmlns:a16="http://schemas.microsoft.com/office/drawing/2014/main" id="{FF3B527A-A7CF-EFE3-BF69-509142097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511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6" name="Oval 19">
            <a:extLst>
              <a:ext uri="{FF2B5EF4-FFF2-40B4-BE49-F238E27FC236}">
                <a16:creationId xmlns:a16="http://schemas.microsoft.com/office/drawing/2014/main" id="{68017866-F577-8F3D-DEB2-F4D4410CD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587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7" name="Oval 20">
            <a:extLst>
              <a:ext uri="{FF2B5EF4-FFF2-40B4-BE49-F238E27FC236}">
                <a16:creationId xmlns:a16="http://schemas.microsoft.com/office/drawing/2014/main" id="{A747BC7B-7AA2-8BA8-7A57-1C92379B8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38163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8" name="Oval 21">
            <a:extLst>
              <a:ext uri="{FF2B5EF4-FFF2-40B4-BE49-F238E27FC236}">
                <a16:creationId xmlns:a16="http://schemas.microsoft.com/office/drawing/2014/main" id="{F5F41DF2-F28A-0819-3D43-ABF3A3ED4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41211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9" name="Oval 22">
            <a:extLst>
              <a:ext uri="{FF2B5EF4-FFF2-40B4-BE49-F238E27FC236}">
                <a16:creationId xmlns:a16="http://schemas.microsoft.com/office/drawing/2014/main" id="{378230AE-925F-324C-91EA-A94AA6512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41973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0" name="Oval 23">
            <a:extLst>
              <a:ext uri="{FF2B5EF4-FFF2-40B4-BE49-F238E27FC236}">
                <a16:creationId xmlns:a16="http://schemas.microsoft.com/office/drawing/2014/main" id="{071BA816-4B14-6691-EC54-1E79E08EC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4349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1" name="Oval 24">
            <a:extLst>
              <a:ext uri="{FF2B5EF4-FFF2-40B4-BE49-F238E27FC236}">
                <a16:creationId xmlns:a16="http://schemas.microsoft.com/office/drawing/2014/main" id="{E3FF1E1B-94F6-27DD-A6E1-37E512C89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968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2" name="Oval 25">
            <a:extLst>
              <a:ext uri="{FF2B5EF4-FFF2-40B4-BE49-F238E27FC236}">
                <a16:creationId xmlns:a16="http://schemas.microsoft.com/office/drawing/2014/main" id="{9D81746C-1570-9BB1-66F1-10FE7407A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800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3" name="Oval 26">
            <a:extLst>
              <a:ext uri="{FF2B5EF4-FFF2-40B4-BE49-F238E27FC236}">
                <a16:creationId xmlns:a16="http://schemas.microsoft.com/office/drawing/2014/main" id="{59B6A836-0661-D28A-9092-9DD5BB28C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6482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4" name="Oval 27">
            <a:extLst>
              <a:ext uri="{FF2B5EF4-FFF2-40B4-BE49-F238E27FC236}">
                <a16:creationId xmlns:a16="http://schemas.microsoft.com/office/drawing/2014/main" id="{8D61E3E1-4A19-7AB7-4823-E93AFB243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7244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5" name="Oval 28">
            <a:extLst>
              <a:ext uri="{FF2B5EF4-FFF2-40B4-BE49-F238E27FC236}">
                <a16:creationId xmlns:a16="http://schemas.microsoft.com/office/drawing/2014/main" id="{BFAB70C7-BBBF-FFF1-925C-255028A13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958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6" name="Oval 29">
            <a:extLst>
              <a:ext uri="{FF2B5EF4-FFF2-40B4-BE49-F238E27FC236}">
                <a16:creationId xmlns:a16="http://schemas.microsoft.com/office/drawing/2014/main" id="{97BF955A-DBDC-E0B9-5EAC-F8E1705BE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19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7" name="Oval 30">
            <a:extLst>
              <a:ext uri="{FF2B5EF4-FFF2-40B4-BE49-F238E27FC236}">
                <a16:creationId xmlns:a16="http://schemas.microsoft.com/office/drawing/2014/main" id="{ECAB9018-98FE-183E-4A16-9049A3BE6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724400"/>
            <a:ext cx="152400" cy="1524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8" name="Oval 31">
            <a:extLst>
              <a:ext uri="{FF2B5EF4-FFF2-40B4-BE49-F238E27FC236}">
                <a16:creationId xmlns:a16="http://schemas.microsoft.com/office/drawing/2014/main" id="{EF8106F0-A019-F5C4-B88F-497BCE008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76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9" name="Oval 32">
            <a:extLst>
              <a:ext uri="{FF2B5EF4-FFF2-40B4-BE49-F238E27FC236}">
                <a16:creationId xmlns:a16="http://schemas.microsoft.com/office/drawing/2014/main" id="{DFEB2E57-AAD1-68BD-488F-60C1EEE31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419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30" name="Text Box 33">
            <a:extLst>
              <a:ext uri="{FF2B5EF4-FFF2-40B4-BE49-F238E27FC236}">
                <a16:creationId xmlns:a16="http://schemas.microsoft.com/office/drawing/2014/main" id="{8D6A9A76-0E18-4E00-C315-8C23FFDB2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52990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X</a:t>
            </a:r>
          </a:p>
        </p:txBody>
      </p:sp>
      <p:sp>
        <p:nvSpPr>
          <p:cNvPr id="29731" name="Text Box 34">
            <a:extLst>
              <a:ext uri="{FF2B5EF4-FFF2-40B4-BE49-F238E27FC236}">
                <a16:creationId xmlns:a16="http://schemas.microsoft.com/office/drawing/2014/main" id="{299146B9-CF56-9F33-4B50-CAFF31BA2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4034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Y</a:t>
            </a:r>
          </a:p>
        </p:txBody>
      </p:sp>
      <p:sp>
        <p:nvSpPr>
          <p:cNvPr id="278563" name="Line 35">
            <a:extLst>
              <a:ext uri="{FF2B5EF4-FFF2-40B4-BE49-F238E27FC236}">
                <a16:creationId xmlns:a16="http://schemas.microsoft.com/office/drawing/2014/main" id="{01EB9522-4AEF-4D18-0166-DE20128C4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514600"/>
            <a:ext cx="0" cy="28194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4" name="Line 36">
            <a:extLst>
              <a:ext uri="{FF2B5EF4-FFF2-40B4-BE49-F238E27FC236}">
                <a16:creationId xmlns:a16="http://schemas.microsoft.com/office/drawing/2014/main" id="{3D4CB7BB-2139-C602-4875-D18AA4C8B1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4196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5" name="Line 37">
            <a:extLst>
              <a:ext uri="{FF2B5EF4-FFF2-40B4-BE49-F238E27FC236}">
                <a16:creationId xmlns:a16="http://schemas.microsoft.com/office/drawing/2014/main" id="{798488C5-E03E-B2DB-4C0B-535CEF817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41960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6" name="Rectangle 38">
            <a:extLst>
              <a:ext uri="{FF2B5EF4-FFF2-40B4-BE49-F238E27FC236}">
                <a16:creationId xmlns:a16="http://schemas.microsoft.com/office/drawing/2014/main" id="{74F62199-3251-F669-054D-0662D97DE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971800"/>
            <a:ext cx="2209800" cy="1447800"/>
          </a:xfrm>
          <a:prstGeom prst="rect">
            <a:avLst/>
          </a:prstGeom>
          <a:solidFill>
            <a:schemeClr val="accent2">
              <a:alpha val="25098"/>
            </a:schemeClr>
          </a:solidFill>
          <a:ln w="9525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78567" name="Rectangle 39">
            <a:extLst>
              <a:ext uri="{FF2B5EF4-FFF2-40B4-BE49-F238E27FC236}">
                <a16:creationId xmlns:a16="http://schemas.microsoft.com/office/drawing/2014/main" id="{411EFD92-C9D8-BD5D-36C2-448BA31D0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419600"/>
            <a:ext cx="914400" cy="914400"/>
          </a:xfrm>
          <a:prstGeom prst="rect">
            <a:avLst/>
          </a:prstGeom>
          <a:solidFill>
            <a:schemeClr val="accent2">
              <a:alpha val="25098"/>
            </a:schemeClr>
          </a:solidFill>
          <a:ln w="9525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78568" name="Rectangle 40">
            <a:extLst>
              <a:ext uri="{FF2B5EF4-FFF2-40B4-BE49-F238E27FC236}">
                <a16:creationId xmlns:a16="http://schemas.microsoft.com/office/drawing/2014/main" id="{AC9C85D7-1C29-9284-EACB-3355DB45C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19600"/>
            <a:ext cx="1295400" cy="914400"/>
          </a:xfrm>
          <a:prstGeom prst="rect">
            <a:avLst/>
          </a:prstGeom>
          <a:solidFill>
            <a:schemeClr val="folHlink">
              <a:alpha val="25098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78569" name="Text Box 41">
            <a:extLst>
              <a:ext uri="{FF2B5EF4-FFF2-40B4-BE49-F238E27FC236}">
                <a16:creationId xmlns:a16="http://schemas.microsoft.com/office/drawing/2014/main" id="{00D90ED8-57AA-6344-96AA-C7499C4F2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752600"/>
            <a:ext cx="30448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if X &gt; 5 then blue</a:t>
            </a:r>
          </a:p>
          <a:p>
            <a:r>
              <a:rPr lang="en-US" altLang="en-US"/>
              <a:t>else if Y &gt; 3 then blue</a:t>
            </a:r>
          </a:p>
          <a:p>
            <a:r>
              <a:rPr lang="en-US" altLang="en-US"/>
              <a:t>else if X &gt; 2 then green</a:t>
            </a:r>
          </a:p>
          <a:p>
            <a:r>
              <a:rPr lang="en-US" altLang="en-US"/>
              <a:t>else blue</a:t>
            </a:r>
          </a:p>
        </p:txBody>
      </p:sp>
      <p:sp>
        <p:nvSpPr>
          <p:cNvPr id="29739" name="Text Box 42">
            <a:extLst>
              <a:ext uri="{FF2B5EF4-FFF2-40B4-BE49-F238E27FC236}">
                <a16:creationId xmlns:a16="http://schemas.microsoft.com/office/drawing/2014/main" id="{F419D744-EBB4-4B90-8EF1-F630AF816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334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29740" name="Text Box 43">
            <a:extLst>
              <a:ext uri="{FF2B5EF4-FFF2-40B4-BE49-F238E27FC236}">
                <a16:creationId xmlns:a16="http://schemas.microsoft.com/office/drawing/2014/main" id="{86D90A35-7BA5-D46A-5F35-25F8273AD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334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29741" name="Text Box 44">
            <a:extLst>
              <a:ext uri="{FF2B5EF4-FFF2-40B4-BE49-F238E27FC236}">
                <a16:creationId xmlns:a16="http://schemas.microsoft.com/office/drawing/2014/main" id="{45D8765F-7C13-0F56-0917-046135F90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278573" name="Oval 45">
            <a:extLst>
              <a:ext uri="{FF2B5EF4-FFF2-40B4-BE49-F238E27FC236}">
                <a16:creationId xmlns:a16="http://schemas.microsoft.com/office/drawing/2014/main" id="{B8DF9FC4-03AF-5A6D-7468-F10CFBFBE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114800"/>
            <a:ext cx="139700" cy="1397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27857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0" grpId="0" animBg="1"/>
      <p:bldP spid="278566" grpId="0" animBg="1"/>
      <p:bldP spid="278567" grpId="0" animBg="1"/>
      <p:bldP spid="278568" grpId="0" animBg="1"/>
      <p:bldP spid="278569" grpId="0"/>
      <p:bldP spid="278573" grpId="0" animBg="1"/>
      <p:bldP spid="27857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9232F822-A5FC-AEEA-1AB3-2A902D34A0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172200" y="6191250"/>
            <a:ext cx="24765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Ctr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A11C79FA-B7F8-4BC0-B1CA-2859353B3571}" type="slidenum">
              <a:rPr lang="en-US" altLang="en-US" sz="1400" smtClean="0">
                <a:solidFill>
                  <a:schemeClr val="tx2"/>
                </a:solidFill>
              </a:rPr>
              <a:pPr algn="r"/>
              <a:t>18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280578" name="Freeform 2">
            <a:extLst>
              <a:ext uri="{FF2B5EF4-FFF2-40B4-BE49-F238E27FC236}">
                <a16:creationId xmlns:a16="http://schemas.microsoft.com/office/drawing/2014/main" id="{B70C65D9-A5FB-E7B5-B9FE-4522E4B2238A}"/>
              </a:ext>
            </a:extLst>
          </p:cNvPr>
          <p:cNvSpPr>
            <a:spLocks/>
          </p:cNvSpPr>
          <p:nvPr/>
        </p:nvSpPr>
        <p:spPr bwMode="auto">
          <a:xfrm>
            <a:off x="1920875" y="3113088"/>
            <a:ext cx="3087688" cy="1838325"/>
          </a:xfrm>
          <a:custGeom>
            <a:avLst/>
            <a:gdLst>
              <a:gd name="T0" fmla="*/ 0 w 1945"/>
              <a:gd name="T1" fmla="*/ 2147483646 h 1158"/>
              <a:gd name="T2" fmla="*/ 2147483646 w 1945"/>
              <a:gd name="T3" fmla="*/ 2147483646 h 1158"/>
              <a:gd name="T4" fmla="*/ 2147483646 w 1945"/>
              <a:gd name="T5" fmla="*/ 2147483646 h 1158"/>
              <a:gd name="T6" fmla="*/ 2147483646 w 1945"/>
              <a:gd name="T7" fmla="*/ 2147483646 h 1158"/>
              <a:gd name="T8" fmla="*/ 2147483646 w 1945"/>
              <a:gd name="T9" fmla="*/ 2147483646 h 1158"/>
              <a:gd name="T10" fmla="*/ 2147483646 w 1945"/>
              <a:gd name="T11" fmla="*/ 2147483646 h 1158"/>
              <a:gd name="T12" fmla="*/ 2147483646 w 1945"/>
              <a:gd name="T13" fmla="*/ 2147483646 h 1158"/>
              <a:gd name="T14" fmla="*/ 2147483646 w 1945"/>
              <a:gd name="T15" fmla="*/ 0 h 1158"/>
              <a:gd name="T16" fmla="*/ 2147483646 w 1945"/>
              <a:gd name="T17" fmla="*/ 2147483646 h 1158"/>
              <a:gd name="T18" fmla="*/ 2147483646 w 1945"/>
              <a:gd name="T19" fmla="*/ 2147483646 h 1158"/>
              <a:gd name="T20" fmla="*/ 2147483646 w 1945"/>
              <a:gd name="T21" fmla="*/ 2147483646 h 1158"/>
              <a:gd name="T22" fmla="*/ 2147483646 w 1945"/>
              <a:gd name="T23" fmla="*/ 2147483646 h 1158"/>
              <a:gd name="T24" fmla="*/ 2147483646 w 1945"/>
              <a:gd name="T25" fmla="*/ 2147483646 h 1158"/>
              <a:gd name="T26" fmla="*/ 2147483646 w 1945"/>
              <a:gd name="T27" fmla="*/ 2147483646 h 1158"/>
              <a:gd name="T28" fmla="*/ 2147483646 w 1945"/>
              <a:gd name="T29" fmla="*/ 2147483646 h 1158"/>
              <a:gd name="T30" fmla="*/ 2147483646 w 1945"/>
              <a:gd name="T31" fmla="*/ 2147483646 h 1158"/>
              <a:gd name="T32" fmla="*/ 2147483646 w 1945"/>
              <a:gd name="T33" fmla="*/ 2147483646 h 1158"/>
              <a:gd name="T34" fmla="*/ 2147483646 w 1945"/>
              <a:gd name="T35" fmla="*/ 2147483646 h 1158"/>
              <a:gd name="T36" fmla="*/ 2147483646 w 1945"/>
              <a:gd name="T37" fmla="*/ 2147483646 h 1158"/>
              <a:gd name="T38" fmla="*/ 2147483646 w 1945"/>
              <a:gd name="T39" fmla="*/ 2147483646 h 1158"/>
              <a:gd name="T40" fmla="*/ 2147483646 w 1945"/>
              <a:gd name="T41" fmla="*/ 2147483646 h 1158"/>
              <a:gd name="T42" fmla="*/ 2147483646 w 1945"/>
              <a:gd name="T43" fmla="*/ 2147483646 h 1158"/>
              <a:gd name="T44" fmla="*/ 2147483646 w 1945"/>
              <a:gd name="T45" fmla="*/ 2147483646 h 1158"/>
              <a:gd name="T46" fmla="*/ 2147483646 w 1945"/>
              <a:gd name="T47" fmla="*/ 2147483646 h 1158"/>
              <a:gd name="T48" fmla="*/ 2147483646 w 1945"/>
              <a:gd name="T49" fmla="*/ 2147483646 h 1158"/>
              <a:gd name="T50" fmla="*/ 2147483646 w 1945"/>
              <a:gd name="T51" fmla="*/ 2147483646 h 1158"/>
              <a:gd name="T52" fmla="*/ 2147483646 w 1945"/>
              <a:gd name="T53" fmla="*/ 2147483646 h 1158"/>
              <a:gd name="T54" fmla="*/ 2147483646 w 1945"/>
              <a:gd name="T55" fmla="*/ 2147483646 h 1158"/>
              <a:gd name="T56" fmla="*/ 2147483646 w 1945"/>
              <a:gd name="T57" fmla="*/ 2147483646 h 1158"/>
              <a:gd name="T58" fmla="*/ 2147483646 w 1945"/>
              <a:gd name="T59" fmla="*/ 2147483646 h 1158"/>
              <a:gd name="T60" fmla="*/ 2147483646 w 1945"/>
              <a:gd name="T61" fmla="*/ 2147483646 h 1158"/>
              <a:gd name="T62" fmla="*/ 2147483646 w 1945"/>
              <a:gd name="T63" fmla="*/ 2147483646 h 1158"/>
              <a:gd name="T64" fmla="*/ 2147483646 w 1945"/>
              <a:gd name="T65" fmla="*/ 2147483646 h 1158"/>
              <a:gd name="T66" fmla="*/ 0 w 1945"/>
              <a:gd name="T67" fmla="*/ 2147483646 h 115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945"/>
              <a:gd name="T103" fmla="*/ 0 h 1158"/>
              <a:gd name="T104" fmla="*/ 1945 w 1945"/>
              <a:gd name="T105" fmla="*/ 1158 h 115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945" h="1158">
                <a:moveTo>
                  <a:pt x="0" y="1101"/>
                </a:moveTo>
                <a:cubicBezTo>
                  <a:pt x="5" y="1043"/>
                  <a:pt x="13" y="947"/>
                  <a:pt x="15" y="890"/>
                </a:cubicBezTo>
                <a:cubicBezTo>
                  <a:pt x="18" y="814"/>
                  <a:pt x="1" y="639"/>
                  <a:pt x="59" y="554"/>
                </a:cubicBezTo>
                <a:cubicBezTo>
                  <a:pt x="82" y="483"/>
                  <a:pt x="101" y="397"/>
                  <a:pt x="153" y="343"/>
                </a:cubicBezTo>
                <a:cubicBezTo>
                  <a:pt x="169" y="299"/>
                  <a:pt x="148" y="340"/>
                  <a:pt x="190" y="307"/>
                </a:cubicBezTo>
                <a:cubicBezTo>
                  <a:pt x="232" y="273"/>
                  <a:pt x="260" y="229"/>
                  <a:pt x="314" y="212"/>
                </a:cubicBezTo>
                <a:cubicBezTo>
                  <a:pt x="358" y="168"/>
                  <a:pt x="414" y="100"/>
                  <a:pt x="474" y="81"/>
                </a:cubicBezTo>
                <a:cubicBezTo>
                  <a:pt x="547" y="31"/>
                  <a:pt x="635" y="10"/>
                  <a:pt x="722" y="0"/>
                </a:cubicBezTo>
                <a:cubicBezTo>
                  <a:pt x="757" y="1"/>
                  <a:pt x="913" y="2"/>
                  <a:pt x="985" y="15"/>
                </a:cubicBezTo>
                <a:cubicBezTo>
                  <a:pt x="1033" y="24"/>
                  <a:pt x="1075" y="37"/>
                  <a:pt x="1123" y="44"/>
                </a:cubicBezTo>
                <a:cubicBezTo>
                  <a:pt x="1240" y="81"/>
                  <a:pt x="1368" y="77"/>
                  <a:pt x="1488" y="102"/>
                </a:cubicBezTo>
                <a:cubicBezTo>
                  <a:pt x="1548" y="114"/>
                  <a:pt x="1604" y="139"/>
                  <a:pt x="1663" y="153"/>
                </a:cubicBezTo>
                <a:cubicBezTo>
                  <a:pt x="1694" y="184"/>
                  <a:pt x="1734" y="203"/>
                  <a:pt x="1765" y="234"/>
                </a:cubicBezTo>
                <a:cubicBezTo>
                  <a:pt x="1782" y="251"/>
                  <a:pt x="1799" y="268"/>
                  <a:pt x="1816" y="285"/>
                </a:cubicBezTo>
                <a:cubicBezTo>
                  <a:pt x="1823" y="292"/>
                  <a:pt x="1838" y="307"/>
                  <a:pt x="1838" y="307"/>
                </a:cubicBezTo>
                <a:cubicBezTo>
                  <a:pt x="1847" y="335"/>
                  <a:pt x="1867" y="359"/>
                  <a:pt x="1874" y="387"/>
                </a:cubicBezTo>
                <a:cubicBezTo>
                  <a:pt x="1885" y="433"/>
                  <a:pt x="1898" y="479"/>
                  <a:pt x="1911" y="525"/>
                </a:cubicBezTo>
                <a:cubicBezTo>
                  <a:pt x="1925" y="642"/>
                  <a:pt x="1945" y="786"/>
                  <a:pt x="1874" y="890"/>
                </a:cubicBezTo>
                <a:cubicBezTo>
                  <a:pt x="1860" y="933"/>
                  <a:pt x="1836" y="939"/>
                  <a:pt x="1801" y="963"/>
                </a:cubicBezTo>
                <a:cubicBezTo>
                  <a:pt x="1770" y="956"/>
                  <a:pt x="1744" y="944"/>
                  <a:pt x="1714" y="934"/>
                </a:cubicBezTo>
                <a:cubicBezTo>
                  <a:pt x="1691" y="911"/>
                  <a:pt x="1660" y="878"/>
                  <a:pt x="1634" y="861"/>
                </a:cubicBezTo>
                <a:cubicBezTo>
                  <a:pt x="1599" y="809"/>
                  <a:pt x="1522" y="804"/>
                  <a:pt x="1466" y="780"/>
                </a:cubicBezTo>
                <a:cubicBezTo>
                  <a:pt x="1435" y="767"/>
                  <a:pt x="1415" y="743"/>
                  <a:pt x="1386" y="729"/>
                </a:cubicBezTo>
                <a:cubicBezTo>
                  <a:pt x="1357" y="715"/>
                  <a:pt x="1321" y="706"/>
                  <a:pt x="1291" y="693"/>
                </a:cubicBezTo>
                <a:cubicBezTo>
                  <a:pt x="1263" y="681"/>
                  <a:pt x="1247" y="655"/>
                  <a:pt x="1218" y="649"/>
                </a:cubicBezTo>
                <a:cubicBezTo>
                  <a:pt x="1195" y="644"/>
                  <a:pt x="1120" y="637"/>
                  <a:pt x="1101" y="635"/>
                </a:cubicBezTo>
                <a:cubicBezTo>
                  <a:pt x="987" y="640"/>
                  <a:pt x="848" y="638"/>
                  <a:pt x="737" y="678"/>
                </a:cubicBezTo>
                <a:cubicBezTo>
                  <a:pt x="703" y="690"/>
                  <a:pt x="675" y="711"/>
                  <a:pt x="642" y="722"/>
                </a:cubicBezTo>
                <a:cubicBezTo>
                  <a:pt x="619" y="745"/>
                  <a:pt x="593" y="753"/>
                  <a:pt x="569" y="773"/>
                </a:cubicBezTo>
                <a:cubicBezTo>
                  <a:pt x="524" y="810"/>
                  <a:pt x="474" y="856"/>
                  <a:pt x="423" y="883"/>
                </a:cubicBezTo>
                <a:cubicBezTo>
                  <a:pt x="401" y="916"/>
                  <a:pt x="384" y="924"/>
                  <a:pt x="358" y="963"/>
                </a:cubicBezTo>
                <a:cubicBezTo>
                  <a:pt x="308" y="1039"/>
                  <a:pt x="269" y="1122"/>
                  <a:pt x="175" y="1152"/>
                </a:cubicBezTo>
                <a:cubicBezTo>
                  <a:pt x="101" y="1147"/>
                  <a:pt x="73" y="1158"/>
                  <a:pt x="22" y="1123"/>
                </a:cubicBezTo>
                <a:cubicBezTo>
                  <a:pt x="13" y="1096"/>
                  <a:pt x="23" y="1101"/>
                  <a:pt x="0" y="1101"/>
                </a:cubicBezTo>
                <a:close/>
              </a:path>
            </a:pathLst>
          </a:custGeom>
          <a:solidFill>
            <a:schemeClr val="accent2">
              <a:alpha val="25882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CFA2100-EEC3-99B8-7717-8F74E7D1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772400" cy="7318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Classification: Neural Nets</a:t>
            </a: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F7FA9628-74F0-4F55-1CA4-F6AEBC8A4D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34000" y="2286000"/>
            <a:ext cx="3581400" cy="30480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>
                <a:srgbClr val="E2007F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latin typeface="+mj-lt"/>
              </a:rPr>
              <a:t>Can select more complex regions</a:t>
            </a:r>
          </a:p>
          <a:p>
            <a:pPr>
              <a:spcBef>
                <a:spcPct val="50000"/>
              </a:spcBef>
              <a:buClr>
                <a:srgbClr val="E2007F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latin typeface="+mj-lt"/>
              </a:rPr>
              <a:t>Can be more accurate</a:t>
            </a:r>
          </a:p>
          <a:p>
            <a:pPr>
              <a:spcBef>
                <a:spcPct val="50000"/>
              </a:spcBef>
              <a:buClr>
                <a:srgbClr val="E2007F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latin typeface="+mj-lt"/>
              </a:rPr>
              <a:t>Also, can overfit the data – find patterns in random noise</a:t>
            </a:r>
          </a:p>
        </p:txBody>
      </p:sp>
      <p:sp>
        <p:nvSpPr>
          <p:cNvPr id="31750" name="Line 5">
            <a:extLst>
              <a:ext uri="{FF2B5EF4-FFF2-40B4-BE49-F238E27FC236}">
                <a16:creationId xmlns:a16="http://schemas.microsoft.com/office/drawing/2014/main" id="{EBD2C378-8A52-CFC6-4B50-0B9B99D20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4384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6">
            <a:extLst>
              <a:ext uri="{FF2B5EF4-FFF2-40B4-BE49-F238E27FC236}">
                <a16:creationId xmlns:a16="http://schemas.microsoft.com/office/drawing/2014/main" id="{560EBE31-D020-2C55-0A8B-5EF4B6302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3340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Oval 7">
            <a:extLst>
              <a:ext uri="{FF2B5EF4-FFF2-40B4-BE49-F238E27FC236}">
                <a16:creationId xmlns:a16="http://schemas.microsoft.com/office/drawing/2014/main" id="{10CC7D70-C01F-AD31-4672-CEFA37730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3587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3" name="Oval 8">
            <a:extLst>
              <a:ext uri="{FF2B5EF4-FFF2-40B4-BE49-F238E27FC236}">
                <a16:creationId xmlns:a16="http://schemas.microsoft.com/office/drawing/2014/main" id="{E5F5918A-0328-D42C-CD64-03BF0D374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37401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4" name="Oval 9">
            <a:extLst>
              <a:ext uri="{FF2B5EF4-FFF2-40B4-BE49-F238E27FC236}">
                <a16:creationId xmlns:a16="http://schemas.microsoft.com/office/drawing/2014/main" id="{0793207F-405D-DB9B-62DA-4E3A67C47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3663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5" name="Oval 10">
            <a:extLst>
              <a:ext uri="{FF2B5EF4-FFF2-40B4-BE49-F238E27FC236}">
                <a16:creationId xmlns:a16="http://schemas.microsoft.com/office/drawing/2014/main" id="{6BDB45F1-7D36-CB60-0921-78269807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0" y="3587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6" name="Oval 11">
            <a:extLst>
              <a:ext uri="{FF2B5EF4-FFF2-40B4-BE49-F238E27FC236}">
                <a16:creationId xmlns:a16="http://schemas.microsoft.com/office/drawing/2014/main" id="{BFE08C38-DE6A-0A35-0B06-97176E053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4273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7" name="Oval 12">
            <a:extLst>
              <a:ext uri="{FF2B5EF4-FFF2-40B4-BE49-F238E27FC236}">
                <a16:creationId xmlns:a16="http://schemas.microsoft.com/office/drawing/2014/main" id="{6EA49C22-994E-294B-B8E3-718500FAD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282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8" name="Oval 13">
            <a:extLst>
              <a:ext uri="{FF2B5EF4-FFF2-40B4-BE49-F238E27FC236}">
                <a16:creationId xmlns:a16="http://schemas.microsoft.com/office/drawing/2014/main" id="{8A03DC88-48C3-452E-27AE-1C2BB5E6F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4044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9" name="Oval 14">
            <a:extLst>
              <a:ext uri="{FF2B5EF4-FFF2-40B4-BE49-F238E27FC236}">
                <a16:creationId xmlns:a16="http://schemas.microsoft.com/office/drawing/2014/main" id="{9A3991E9-305F-D611-8F83-9C742A226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0" y="3892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0" name="Oval 15">
            <a:extLst>
              <a:ext uri="{FF2B5EF4-FFF2-40B4-BE49-F238E27FC236}">
                <a16:creationId xmlns:a16="http://schemas.microsoft.com/office/drawing/2014/main" id="{7641A5D7-288C-BE83-03C6-745587F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8163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1" name="Oval 16">
            <a:extLst>
              <a:ext uri="{FF2B5EF4-FFF2-40B4-BE49-F238E27FC236}">
                <a16:creationId xmlns:a16="http://schemas.microsoft.com/office/drawing/2014/main" id="{EC6218AE-F238-5D44-E612-DC3CB8003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550" y="4425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2" name="Oval 17">
            <a:extLst>
              <a:ext uri="{FF2B5EF4-FFF2-40B4-BE49-F238E27FC236}">
                <a16:creationId xmlns:a16="http://schemas.microsoft.com/office/drawing/2014/main" id="{45B45932-C161-1785-6C0E-0A43B6C7C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4654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3" name="Oval 18">
            <a:extLst>
              <a:ext uri="{FF2B5EF4-FFF2-40B4-BE49-F238E27FC236}">
                <a16:creationId xmlns:a16="http://schemas.microsoft.com/office/drawing/2014/main" id="{3B57672C-9F4C-3F81-072D-A7ED77AB0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32829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4" name="Oval 19">
            <a:extLst>
              <a:ext uri="{FF2B5EF4-FFF2-40B4-BE49-F238E27FC236}">
                <a16:creationId xmlns:a16="http://schemas.microsoft.com/office/drawing/2014/main" id="{F2B29836-3CE3-1CF1-3CB7-D2EB66132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5115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5" name="Oval 20">
            <a:extLst>
              <a:ext uri="{FF2B5EF4-FFF2-40B4-BE49-F238E27FC236}">
                <a16:creationId xmlns:a16="http://schemas.microsoft.com/office/drawing/2014/main" id="{CBCD96DA-08C4-1015-F5D6-EE9EE864A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587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6" name="Oval 21">
            <a:extLst>
              <a:ext uri="{FF2B5EF4-FFF2-40B4-BE49-F238E27FC236}">
                <a16:creationId xmlns:a16="http://schemas.microsoft.com/office/drawing/2014/main" id="{26CA16DA-BB02-92F4-F292-01A2A6492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38163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7" name="Oval 22">
            <a:extLst>
              <a:ext uri="{FF2B5EF4-FFF2-40B4-BE49-F238E27FC236}">
                <a16:creationId xmlns:a16="http://schemas.microsoft.com/office/drawing/2014/main" id="{62ACCD5F-2922-92AF-EFA4-F995E839D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41211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8" name="Oval 23">
            <a:extLst>
              <a:ext uri="{FF2B5EF4-FFF2-40B4-BE49-F238E27FC236}">
                <a16:creationId xmlns:a16="http://schemas.microsoft.com/office/drawing/2014/main" id="{A3170B1A-76D0-B652-A015-BEEF1178E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41973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69" name="Oval 24">
            <a:extLst>
              <a:ext uri="{FF2B5EF4-FFF2-40B4-BE49-F238E27FC236}">
                <a16:creationId xmlns:a16="http://schemas.microsoft.com/office/drawing/2014/main" id="{B7DA1C84-84D7-DA46-C914-23846A3DC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4349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0" name="Oval 25">
            <a:extLst>
              <a:ext uri="{FF2B5EF4-FFF2-40B4-BE49-F238E27FC236}">
                <a16:creationId xmlns:a16="http://schemas.microsoft.com/office/drawing/2014/main" id="{FCAB547F-5296-5FD1-F893-36F81B56F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968750"/>
            <a:ext cx="139700" cy="1397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1" name="Oval 26">
            <a:extLst>
              <a:ext uri="{FF2B5EF4-FFF2-40B4-BE49-F238E27FC236}">
                <a16:creationId xmlns:a16="http://schemas.microsoft.com/office/drawing/2014/main" id="{F5578073-F4A8-E484-B5D9-411D318ED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800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2" name="Oval 27">
            <a:extLst>
              <a:ext uri="{FF2B5EF4-FFF2-40B4-BE49-F238E27FC236}">
                <a16:creationId xmlns:a16="http://schemas.microsoft.com/office/drawing/2014/main" id="{773F1A57-635F-A60A-21D5-08791AE07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6482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3" name="Oval 28">
            <a:extLst>
              <a:ext uri="{FF2B5EF4-FFF2-40B4-BE49-F238E27FC236}">
                <a16:creationId xmlns:a16="http://schemas.microsoft.com/office/drawing/2014/main" id="{C1BF0971-CA69-9A57-F91E-37DB7FD6E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7244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4" name="Oval 29">
            <a:extLst>
              <a:ext uri="{FF2B5EF4-FFF2-40B4-BE49-F238E27FC236}">
                <a16:creationId xmlns:a16="http://schemas.microsoft.com/office/drawing/2014/main" id="{16D2F937-FB9B-D57A-6D8C-42E3EFA07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958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5" name="Oval 30">
            <a:extLst>
              <a:ext uri="{FF2B5EF4-FFF2-40B4-BE49-F238E27FC236}">
                <a16:creationId xmlns:a16="http://schemas.microsoft.com/office/drawing/2014/main" id="{5394CD0E-7C6F-0A57-46BA-58E59D785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19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6" name="Oval 31">
            <a:extLst>
              <a:ext uri="{FF2B5EF4-FFF2-40B4-BE49-F238E27FC236}">
                <a16:creationId xmlns:a16="http://schemas.microsoft.com/office/drawing/2014/main" id="{37B6DDE5-E57C-D2A3-322E-CB2BFBDD3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724400"/>
            <a:ext cx="152400" cy="1524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7" name="Oval 32">
            <a:extLst>
              <a:ext uri="{FF2B5EF4-FFF2-40B4-BE49-F238E27FC236}">
                <a16:creationId xmlns:a16="http://schemas.microsoft.com/office/drawing/2014/main" id="{09003B84-C518-C770-C55C-3769B09AD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76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78" name="Oval 33">
            <a:extLst>
              <a:ext uri="{FF2B5EF4-FFF2-40B4-BE49-F238E27FC236}">
                <a16:creationId xmlns:a16="http://schemas.microsoft.com/office/drawing/2014/main" id="{2B1C5570-C619-AA03-0A27-F89F46A2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419600"/>
            <a:ext cx="139700" cy="1397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80610" name="Freeform 34">
            <a:extLst>
              <a:ext uri="{FF2B5EF4-FFF2-40B4-BE49-F238E27FC236}">
                <a16:creationId xmlns:a16="http://schemas.microsoft.com/office/drawing/2014/main" id="{D452D5B4-742D-1B80-9122-68C88CB25393}"/>
              </a:ext>
            </a:extLst>
          </p:cNvPr>
          <p:cNvSpPr>
            <a:spLocks/>
          </p:cNvSpPr>
          <p:nvPr/>
        </p:nvSpPr>
        <p:spPr bwMode="auto">
          <a:xfrm>
            <a:off x="2419350" y="4267200"/>
            <a:ext cx="2076450" cy="884238"/>
          </a:xfrm>
          <a:custGeom>
            <a:avLst/>
            <a:gdLst>
              <a:gd name="T0" fmla="*/ 0 w 937"/>
              <a:gd name="T1" fmla="*/ 2147483646 h 479"/>
              <a:gd name="T2" fmla="*/ 2147483646 w 937"/>
              <a:gd name="T3" fmla="*/ 2147483646 h 479"/>
              <a:gd name="T4" fmla="*/ 2147483646 w 937"/>
              <a:gd name="T5" fmla="*/ 2147483646 h 479"/>
              <a:gd name="T6" fmla="*/ 2147483646 w 937"/>
              <a:gd name="T7" fmla="*/ 2147483646 h 479"/>
              <a:gd name="T8" fmla="*/ 2147483646 w 937"/>
              <a:gd name="T9" fmla="*/ 2147483646 h 479"/>
              <a:gd name="T10" fmla="*/ 2147483646 w 937"/>
              <a:gd name="T11" fmla="*/ 2147483646 h 479"/>
              <a:gd name="T12" fmla="*/ 2147483646 w 937"/>
              <a:gd name="T13" fmla="*/ 2147483646 h 479"/>
              <a:gd name="T14" fmla="*/ 2147483646 w 937"/>
              <a:gd name="T15" fmla="*/ 2147483646 h 479"/>
              <a:gd name="T16" fmla="*/ 2147483646 w 937"/>
              <a:gd name="T17" fmla="*/ 2147483646 h 479"/>
              <a:gd name="T18" fmla="*/ 2147483646 w 937"/>
              <a:gd name="T19" fmla="*/ 2147483646 h 479"/>
              <a:gd name="T20" fmla="*/ 2147483646 w 937"/>
              <a:gd name="T21" fmla="*/ 2147483646 h 479"/>
              <a:gd name="T22" fmla="*/ 2147483646 w 937"/>
              <a:gd name="T23" fmla="*/ 2147483646 h 479"/>
              <a:gd name="T24" fmla="*/ 2147483646 w 937"/>
              <a:gd name="T25" fmla="*/ 2147483646 h 479"/>
              <a:gd name="T26" fmla="*/ 2147483646 w 937"/>
              <a:gd name="T27" fmla="*/ 2147483646 h 479"/>
              <a:gd name="T28" fmla="*/ 2147483646 w 937"/>
              <a:gd name="T29" fmla="*/ 2147483646 h 479"/>
              <a:gd name="T30" fmla="*/ 2147483646 w 937"/>
              <a:gd name="T31" fmla="*/ 2147483646 h 479"/>
              <a:gd name="T32" fmla="*/ 0 w 937"/>
              <a:gd name="T33" fmla="*/ 2147483646 h 47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37"/>
              <a:gd name="T52" fmla="*/ 0 h 479"/>
              <a:gd name="T53" fmla="*/ 937 w 937"/>
              <a:gd name="T54" fmla="*/ 479 h 479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37" h="479">
                <a:moveTo>
                  <a:pt x="0" y="442"/>
                </a:moveTo>
                <a:cubicBezTo>
                  <a:pt x="10" y="400"/>
                  <a:pt x="36" y="369"/>
                  <a:pt x="58" y="333"/>
                </a:cubicBezTo>
                <a:cubicBezTo>
                  <a:pt x="77" y="301"/>
                  <a:pt x="96" y="269"/>
                  <a:pt x="117" y="238"/>
                </a:cubicBezTo>
                <a:cubicBezTo>
                  <a:pt x="153" y="185"/>
                  <a:pt x="244" y="144"/>
                  <a:pt x="299" y="114"/>
                </a:cubicBezTo>
                <a:cubicBezTo>
                  <a:pt x="332" y="96"/>
                  <a:pt x="357" y="65"/>
                  <a:pt x="386" y="41"/>
                </a:cubicBezTo>
                <a:cubicBezTo>
                  <a:pt x="412" y="19"/>
                  <a:pt x="449" y="13"/>
                  <a:pt x="481" y="5"/>
                </a:cubicBezTo>
                <a:cubicBezTo>
                  <a:pt x="601" y="9"/>
                  <a:pt x="691" y="0"/>
                  <a:pt x="795" y="48"/>
                </a:cubicBezTo>
                <a:cubicBezTo>
                  <a:pt x="802" y="58"/>
                  <a:pt x="807" y="70"/>
                  <a:pt x="816" y="78"/>
                </a:cubicBezTo>
                <a:cubicBezTo>
                  <a:pt x="824" y="85"/>
                  <a:pt x="838" y="84"/>
                  <a:pt x="846" y="92"/>
                </a:cubicBezTo>
                <a:cubicBezTo>
                  <a:pt x="932" y="176"/>
                  <a:pt x="834" y="110"/>
                  <a:pt x="897" y="150"/>
                </a:cubicBezTo>
                <a:cubicBezTo>
                  <a:pt x="905" y="174"/>
                  <a:pt x="918" y="192"/>
                  <a:pt x="926" y="216"/>
                </a:cubicBezTo>
                <a:cubicBezTo>
                  <a:pt x="934" y="271"/>
                  <a:pt x="937" y="259"/>
                  <a:pt x="926" y="311"/>
                </a:cubicBezTo>
                <a:cubicBezTo>
                  <a:pt x="901" y="430"/>
                  <a:pt x="785" y="451"/>
                  <a:pt x="685" y="479"/>
                </a:cubicBezTo>
                <a:cubicBezTo>
                  <a:pt x="607" y="476"/>
                  <a:pt x="530" y="475"/>
                  <a:pt x="452" y="471"/>
                </a:cubicBezTo>
                <a:cubicBezTo>
                  <a:pt x="348" y="465"/>
                  <a:pt x="242" y="434"/>
                  <a:pt x="138" y="420"/>
                </a:cubicBezTo>
                <a:cubicBezTo>
                  <a:pt x="119" y="423"/>
                  <a:pt x="100" y="428"/>
                  <a:pt x="80" y="428"/>
                </a:cubicBezTo>
                <a:cubicBezTo>
                  <a:pt x="0" y="428"/>
                  <a:pt x="28" y="398"/>
                  <a:pt x="0" y="442"/>
                </a:cubicBezTo>
                <a:close/>
              </a:path>
            </a:pathLst>
          </a:custGeom>
          <a:solidFill>
            <a:schemeClr val="folHlink">
              <a:alpha val="25098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3">
            <a:extLst>
              <a:ext uri="{FF2B5EF4-FFF2-40B4-BE49-F238E27FC236}">
                <a16:creationId xmlns:a16="http://schemas.microsoft.com/office/drawing/2014/main" id="{2D4809C1-DC87-4EEB-E5D1-5693CD4FF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/>
              <a:t>Decision Tree Learning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065BA00-03B5-D1E4-E870-8437544A7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3352800"/>
            <a:ext cx="5105400" cy="533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Through Examples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E1DCC12-9AA6-6654-FBAC-A2753E3D3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Choosing the Best Attribute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54B343C-CCD6-B7CC-9F3C-0807D08BF51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371600"/>
            <a:ext cx="8458200" cy="5181600"/>
          </a:xfrm>
        </p:spPr>
        <p:txBody>
          <a:bodyPr/>
          <a:lstStyle/>
          <a:p>
            <a:pPr marL="225425" indent="-225425" eaLnBrk="1" hangingPunct="1">
              <a:lnSpc>
                <a:spcPct val="90000"/>
              </a:lnSpc>
              <a:defRPr/>
            </a:pPr>
            <a:r>
              <a:rPr lang="en-US" altLang="en-US" sz="2700" dirty="0">
                <a:latin typeface="+mj-lt"/>
              </a:rPr>
              <a:t>The key problem is choosing which attribute to split a given set of examples. </a:t>
            </a:r>
          </a:p>
          <a:p>
            <a:pPr marL="225425" indent="-225425" eaLnBrk="1" hangingPunct="1">
              <a:lnSpc>
                <a:spcPct val="90000"/>
              </a:lnSpc>
              <a:defRPr/>
            </a:pPr>
            <a:r>
              <a:rPr lang="en-US" altLang="en-US" sz="2700" dirty="0">
                <a:latin typeface="+mj-lt"/>
              </a:rPr>
              <a:t>Some possibilities are:</a:t>
            </a:r>
          </a:p>
          <a:p>
            <a:pPr marL="566738" lvl="1" indent="-227013" eaLnBrk="1" hangingPunct="1">
              <a:lnSpc>
                <a:spcPct val="90000"/>
              </a:lnSpc>
              <a:defRPr/>
            </a:pPr>
            <a:r>
              <a:rPr lang="en-US" altLang="en-US" b="1" dirty="0">
                <a:latin typeface="+mj-lt"/>
              </a:rPr>
              <a:t>Random:</a:t>
            </a:r>
            <a:r>
              <a:rPr lang="en-US" altLang="en-US" dirty="0">
                <a:latin typeface="+mj-lt"/>
              </a:rPr>
              <a:t> Select any attribute at random </a:t>
            </a:r>
          </a:p>
          <a:p>
            <a:pPr marL="566738" lvl="1" indent="-227013" eaLnBrk="1" hangingPunct="1">
              <a:lnSpc>
                <a:spcPct val="90000"/>
              </a:lnSpc>
              <a:defRPr/>
            </a:pPr>
            <a:r>
              <a:rPr lang="en-US" altLang="en-US" b="1" dirty="0">
                <a:latin typeface="+mj-lt"/>
              </a:rPr>
              <a:t>Least-Values:</a:t>
            </a:r>
            <a:r>
              <a:rPr lang="en-US" altLang="en-US" dirty="0">
                <a:latin typeface="+mj-lt"/>
              </a:rPr>
              <a:t> Choose the attribute with the smallest number of possible values (</a:t>
            </a:r>
            <a:r>
              <a:rPr lang="en-US" altLang="en-US" dirty="0">
                <a:solidFill>
                  <a:schemeClr val="accent2"/>
                </a:solidFill>
                <a:latin typeface="+mj-lt"/>
              </a:rPr>
              <a:t>fewer branches</a:t>
            </a:r>
            <a:r>
              <a:rPr lang="en-US" altLang="en-US" dirty="0">
                <a:latin typeface="+mj-lt"/>
              </a:rPr>
              <a:t>)</a:t>
            </a:r>
          </a:p>
          <a:p>
            <a:pPr marL="566738" lvl="1" indent="-227013" eaLnBrk="1" hangingPunct="1">
              <a:lnSpc>
                <a:spcPct val="90000"/>
              </a:lnSpc>
              <a:defRPr/>
            </a:pPr>
            <a:r>
              <a:rPr lang="en-US" altLang="en-US" b="1" dirty="0">
                <a:latin typeface="+mj-lt"/>
              </a:rPr>
              <a:t>Most-Values:</a:t>
            </a:r>
            <a:r>
              <a:rPr lang="en-US" altLang="en-US" dirty="0">
                <a:latin typeface="+mj-lt"/>
              </a:rPr>
              <a:t> Choose the attribute with the largest number of possible values (</a:t>
            </a:r>
            <a:r>
              <a:rPr lang="en-US" altLang="en-US" dirty="0">
                <a:solidFill>
                  <a:schemeClr val="accent2"/>
                </a:solidFill>
                <a:latin typeface="+mj-lt"/>
              </a:rPr>
              <a:t>smaller subsets</a:t>
            </a:r>
            <a:r>
              <a:rPr lang="en-US" altLang="en-US" dirty="0">
                <a:latin typeface="+mj-lt"/>
              </a:rPr>
              <a:t>)</a:t>
            </a:r>
          </a:p>
          <a:p>
            <a:pPr marL="566738" lvl="1" indent="-227013" eaLnBrk="1" hangingPunct="1">
              <a:lnSpc>
                <a:spcPct val="90000"/>
              </a:lnSpc>
              <a:defRPr/>
            </a:pPr>
            <a:r>
              <a:rPr lang="en-US" altLang="en-US" b="1" dirty="0">
                <a:latin typeface="+mj-lt"/>
              </a:rPr>
              <a:t>Max-Gain:</a:t>
            </a:r>
            <a:r>
              <a:rPr lang="en-US" altLang="en-US" dirty="0">
                <a:latin typeface="+mj-lt"/>
              </a:rPr>
              <a:t> Choose the attribute that has the largest </a:t>
            </a:r>
            <a:r>
              <a:rPr lang="en-US" altLang="en-US" dirty="0">
                <a:solidFill>
                  <a:schemeClr val="accent2"/>
                </a:solidFill>
                <a:latin typeface="+mj-lt"/>
              </a:rPr>
              <a:t>expected information gain</a:t>
            </a:r>
            <a:r>
              <a:rPr lang="en-US" altLang="en-US" dirty="0">
                <a:latin typeface="+mj-lt"/>
              </a:rPr>
              <a:t>, i.e. select attribute that will result in the smallest expected size of the subtrees rooted at its children. </a:t>
            </a:r>
          </a:p>
          <a:p>
            <a:pPr marL="225425" indent="-225425" eaLnBrk="1" hangingPunct="1">
              <a:lnSpc>
                <a:spcPct val="90000"/>
              </a:lnSpc>
              <a:defRPr/>
            </a:pPr>
            <a:r>
              <a:rPr lang="en-US" altLang="en-US" sz="2700" dirty="0">
                <a:latin typeface="+mj-lt"/>
              </a:rPr>
              <a:t>The </a:t>
            </a:r>
            <a:r>
              <a:rPr lang="en-US" altLang="en-US" sz="2700" dirty="0">
                <a:solidFill>
                  <a:schemeClr val="accent6"/>
                </a:solidFill>
                <a:latin typeface="+mj-lt"/>
              </a:rPr>
              <a:t>ID3 algorithm </a:t>
            </a:r>
            <a:r>
              <a:rPr lang="en-US" altLang="en-US" sz="2700" dirty="0">
                <a:latin typeface="+mj-lt"/>
              </a:rPr>
              <a:t>uses the </a:t>
            </a:r>
            <a:r>
              <a:rPr lang="en-US" altLang="en-US" sz="2700" dirty="0">
                <a:solidFill>
                  <a:schemeClr val="accent2"/>
                </a:solidFill>
                <a:latin typeface="+mj-lt"/>
              </a:rPr>
              <a:t>Max-Gain</a:t>
            </a:r>
            <a:r>
              <a:rPr lang="en-US" altLang="en-US" sz="2700" dirty="0">
                <a:latin typeface="+mj-lt"/>
              </a:rPr>
              <a:t> method of selecting the best attribute.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CDE7500-68A2-A9D1-722A-3798A07B4F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381000"/>
            <a:ext cx="8458200" cy="6248400"/>
          </a:xfrm>
        </p:spPr>
        <p:txBody>
          <a:bodyPr/>
          <a:lstStyle/>
          <a:p>
            <a:pPr eaLnBrk="1" hangingPunct="1"/>
            <a:r>
              <a:rPr lang="en-US" altLang="en-US" sz="3600" b="1" u="sng">
                <a:solidFill>
                  <a:srgbClr val="FF6600"/>
                </a:solidFill>
              </a:rPr>
              <a:t>ID3 (Iterative Dichotomiser 3) Algorithm</a:t>
            </a:r>
            <a:endParaRPr lang="en-US" altLang="en-US" sz="3600"/>
          </a:p>
          <a:p>
            <a:pPr lvl="1" eaLnBrk="1" hangingPunct="1"/>
            <a:r>
              <a:rPr lang="en-US" altLang="en-US" sz="3200"/>
              <a:t>Top-down, greedy search through space of possible decision trees</a:t>
            </a:r>
          </a:p>
          <a:p>
            <a:pPr lvl="2" eaLnBrk="1" hangingPunct="1"/>
            <a:r>
              <a:rPr lang="en-US" altLang="en-US" sz="2800"/>
              <a:t>Remember, decision trees represent hypotheses, so this is a </a:t>
            </a:r>
            <a:r>
              <a:rPr lang="en-US" altLang="en-US" sz="2800" u="sng"/>
              <a:t>search through hypothesis space</a:t>
            </a:r>
            <a:r>
              <a:rPr lang="en-US" altLang="en-US" sz="2800"/>
              <a:t>.</a:t>
            </a:r>
          </a:p>
          <a:p>
            <a:pPr lvl="1" eaLnBrk="1" hangingPunct="1"/>
            <a:r>
              <a:rPr lang="en-US" altLang="en-US" sz="3200"/>
              <a:t>What is top-down?</a:t>
            </a:r>
          </a:p>
          <a:p>
            <a:pPr lvl="2" eaLnBrk="1" hangingPunct="1"/>
            <a:r>
              <a:rPr lang="en-US" altLang="en-US" sz="2800"/>
              <a:t>How to start tree?</a:t>
            </a:r>
          </a:p>
          <a:p>
            <a:pPr lvl="3" eaLnBrk="1" hangingPunct="1"/>
            <a:r>
              <a:rPr lang="en-US" altLang="en-US" sz="2400"/>
              <a:t>What attribute should represent the root?</a:t>
            </a:r>
          </a:p>
          <a:p>
            <a:pPr lvl="2" eaLnBrk="1" hangingPunct="1"/>
            <a:r>
              <a:rPr lang="en-US" altLang="en-US" sz="2800"/>
              <a:t>As you proceed down tree, </a:t>
            </a:r>
            <a:r>
              <a:rPr lang="en-US" altLang="en-US" sz="2800">
                <a:solidFill>
                  <a:srgbClr val="FF6600"/>
                </a:solidFill>
              </a:rPr>
              <a:t>choose attribute</a:t>
            </a:r>
            <a:r>
              <a:rPr lang="en-US" altLang="en-US" sz="2800"/>
              <a:t> for </a:t>
            </a:r>
            <a:r>
              <a:rPr lang="en-US" altLang="en-US" sz="2800">
                <a:solidFill>
                  <a:schemeClr val="accent2"/>
                </a:solidFill>
              </a:rPr>
              <a:t>each successive node</a:t>
            </a:r>
            <a:r>
              <a:rPr lang="en-US" altLang="en-US" sz="2800"/>
              <a:t>.</a:t>
            </a:r>
          </a:p>
          <a:p>
            <a:pPr lvl="2" eaLnBrk="1" hangingPunct="1"/>
            <a:r>
              <a:rPr lang="en-US" altLang="en-US" sz="2800" b="1" i="1" u="sng"/>
              <a:t>No backtracking</a:t>
            </a:r>
            <a:r>
              <a:rPr lang="en-US" altLang="en-US" sz="2800"/>
              <a:t>:</a:t>
            </a:r>
          </a:p>
          <a:p>
            <a:pPr lvl="3" eaLnBrk="1" hangingPunct="1"/>
            <a:r>
              <a:rPr lang="en-US" altLang="en-US" sz="2400"/>
              <a:t>So, algorithm proceeds from top to bottom		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8930634-1A9D-0A29-79FD-B9B202738B4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3400" y="228600"/>
            <a:ext cx="8229600" cy="6477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3200" b="1"/>
              <a:t>Question?</a:t>
            </a:r>
            <a:r>
              <a:rPr lang="en-US" altLang="en-US" sz="3200"/>
              <a:t>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3200"/>
              <a:t>How do you determine </a:t>
            </a:r>
            <a:r>
              <a:rPr lang="en-US" altLang="en-US" sz="3200" i="1">
                <a:solidFill>
                  <a:schemeClr val="accent2"/>
                </a:solidFill>
              </a:rPr>
              <a:t>which attribute best classifies data</a:t>
            </a:r>
            <a:r>
              <a:rPr lang="en-US" altLang="en-US" sz="3200"/>
              <a:t>?</a:t>
            </a:r>
          </a:p>
          <a:p>
            <a:pPr eaLnBrk="1" hangingPunct="1">
              <a:buFontTx/>
              <a:buNone/>
            </a:pPr>
            <a:r>
              <a:rPr lang="en-US" altLang="en-US" sz="3200" b="1"/>
              <a:t>Answer:</a:t>
            </a:r>
            <a:r>
              <a:rPr lang="en-US" altLang="en-US" sz="3200"/>
              <a:t>		</a:t>
            </a:r>
            <a:r>
              <a:rPr lang="en-US" altLang="en-US" sz="3200" b="1">
                <a:solidFill>
                  <a:srgbClr val="FF6600"/>
                </a:solidFill>
              </a:rPr>
              <a:t>Entropy!</a:t>
            </a:r>
            <a:endParaRPr lang="en-US" altLang="en-US" sz="3200"/>
          </a:p>
          <a:p>
            <a:pPr eaLnBrk="1" hangingPunct="1"/>
            <a:r>
              <a:rPr lang="en-US" altLang="en-US" sz="3200" i="1"/>
              <a:t>Entropy is a measure of disorder or impurity </a:t>
            </a:r>
          </a:p>
          <a:p>
            <a:pPr eaLnBrk="1" hangingPunct="1"/>
            <a:r>
              <a:rPr lang="en-US" altLang="en-US" sz="3200" b="1" i="1">
                <a:solidFill>
                  <a:schemeClr val="accent1"/>
                </a:solidFill>
              </a:rPr>
              <a:t>Information gain</a:t>
            </a:r>
            <a:r>
              <a:rPr lang="en-US" altLang="en-US" sz="3200" b="1">
                <a:solidFill>
                  <a:schemeClr val="accent1"/>
                </a:solidFill>
              </a:rPr>
              <a:t>:</a:t>
            </a:r>
            <a:r>
              <a:rPr lang="en-US" altLang="en-US" sz="3200"/>
              <a:t> </a:t>
            </a:r>
          </a:p>
          <a:p>
            <a:pPr lvl="1" eaLnBrk="1" hangingPunct="1"/>
            <a:r>
              <a:rPr lang="en-US" altLang="en-US" sz="2800"/>
              <a:t>Measures the expected reduction in entropy caused by partitioning</a:t>
            </a:r>
          </a:p>
          <a:p>
            <a:pPr lvl="1" eaLnBrk="1" hangingPunct="1"/>
            <a:r>
              <a:rPr lang="en-US" altLang="en-US" sz="2800"/>
              <a:t>Statistical quantity measuring </a:t>
            </a:r>
            <a:r>
              <a:rPr lang="en-US" altLang="en-US" sz="2800" u="sng">
                <a:solidFill>
                  <a:srgbClr val="FF6600"/>
                </a:solidFill>
              </a:rPr>
              <a:t>how well an attribute classifies the data.</a:t>
            </a:r>
          </a:p>
          <a:p>
            <a:pPr lvl="2" eaLnBrk="1" hangingPunct="1"/>
            <a:r>
              <a:rPr lang="en-US" altLang="en-US" sz="2400"/>
              <a:t>Calculate the information gain </a:t>
            </a:r>
            <a:r>
              <a:rPr lang="en-US" altLang="en-US" sz="2400">
                <a:solidFill>
                  <a:schemeClr val="accent2"/>
                </a:solidFill>
              </a:rPr>
              <a:t>for each attribute</a:t>
            </a:r>
            <a:r>
              <a:rPr lang="en-US" altLang="en-US" sz="2400"/>
              <a:t>.</a:t>
            </a:r>
          </a:p>
          <a:p>
            <a:pPr lvl="2" eaLnBrk="1" hangingPunct="1"/>
            <a:r>
              <a:rPr lang="en-US" altLang="en-US" sz="2400"/>
              <a:t>Choose attribute with </a:t>
            </a:r>
            <a:r>
              <a:rPr lang="en-US" altLang="en-US" sz="2400" u="sng">
                <a:solidFill>
                  <a:schemeClr val="accent2"/>
                </a:solidFill>
              </a:rPr>
              <a:t>greatest information gain</a:t>
            </a:r>
            <a:r>
              <a:rPr lang="en-US" altLang="en-US" sz="2400"/>
              <a:t>.	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7BB094F-311F-16B3-67CA-73A1733F7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Information Theory Background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3984B8C-4773-EBB3-0DA1-3E450BBA55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371600"/>
            <a:ext cx="8229600" cy="4114800"/>
          </a:xfrm>
        </p:spPr>
        <p:txBody>
          <a:bodyPr/>
          <a:lstStyle/>
          <a:p>
            <a:pPr marL="225425" indent="-225425" eaLnBrk="1" hangingPunct="1"/>
            <a:r>
              <a:rPr lang="en-US" altLang="en-US" sz="2400"/>
              <a:t>If there are </a:t>
            </a:r>
            <a:r>
              <a:rPr lang="en-US" altLang="en-US" sz="2400" i="1"/>
              <a:t>n</a:t>
            </a:r>
            <a:r>
              <a:rPr lang="en-US" altLang="en-US" sz="2400"/>
              <a:t> equally probable possible messages, then the probability </a:t>
            </a:r>
            <a:r>
              <a:rPr lang="en-US" altLang="en-US" sz="2400" i="1"/>
              <a:t>p</a:t>
            </a:r>
            <a:r>
              <a:rPr lang="en-US" altLang="en-US" sz="2400"/>
              <a:t> of each is 1/</a:t>
            </a:r>
            <a:r>
              <a:rPr lang="en-US" altLang="en-US" sz="2400" i="1"/>
              <a:t>n</a:t>
            </a:r>
          </a:p>
          <a:p>
            <a:pPr marL="225425" indent="-225425" eaLnBrk="1" hangingPunct="1"/>
            <a:r>
              <a:rPr lang="en-US" altLang="en-US" sz="2400"/>
              <a:t>Information conveyed by a message is -log(</a:t>
            </a:r>
            <a:r>
              <a:rPr lang="en-US" altLang="en-US" sz="2400" i="1"/>
              <a:t>p</a:t>
            </a:r>
            <a:r>
              <a:rPr lang="en-US" altLang="en-US" sz="2400"/>
              <a:t>) = log(</a:t>
            </a:r>
            <a:r>
              <a:rPr lang="en-US" altLang="en-US" sz="2400" i="1"/>
              <a:t>n</a:t>
            </a:r>
            <a:r>
              <a:rPr lang="en-US" altLang="en-US" sz="2400"/>
              <a:t>)</a:t>
            </a:r>
          </a:p>
          <a:p>
            <a:pPr marL="225425" indent="-225425" eaLnBrk="1" hangingPunct="1"/>
            <a:r>
              <a:rPr lang="en-US" altLang="en-US" sz="2400"/>
              <a:t>Eg, if there are 16 messages, then log(16) = 4 and we need 4 bits to identify/send each message.</a:t>
            </a:r>
          </a:p>
          <a:p>
            <a:pPr marL="225425" indent="-225425" eaLnBrk="1" hangingPunct="1"/>
            <a:r>
              <a:rPr lang="en-US" altLang="en-US" sz="2400"/>
              <a:t>In general, if we are given a probability distribution </a:t>
            </a:r>
          </a:p>
          <a:p>
            <a:pPr marL="566738" lvl="1" indent="-227013" eaLnBrk="1" hangingPunct="1">
              <a:buFontTx/>
              <a:buNone/>
            </a:pPr>
            <a:r>
              <a:rPr lang="en-US" altLang="en-US"/>
              <a:t>P = (p</a:t>
            </a:r>
            <a:r>
              <a:rPr lang="en-US" altLang="en-US" baseline="-25000"/>
              <a:t>1</a:t>
            </a:r>
            <a:r>
              <a:rPr lang="en-US" altLang="en-US"/>
              <a:t>, p</a:t>
            </a:r>
            <a:r>
              <a:rPr lang="en-US" altLang="en-US" baseline="-25000"/>
              <a:t>2</a:t>
            </a:r>
            <a:r>
              <a:rPr lang="en-US" altLang="en-US"/>
              <a:t>, .., p</a:t>
            </a:r>
            <a:r>
              <a:rPr lang="en-US" altLang="en-US" baseline="-25000"/>
              <a:t>n</a:t>
            </a:r>
            <a:r>
              <a:rPr lang="en-US" altLang="en-US"/>
              <a:t>)</a:t>
            </a:r>
            <a:endParaRPr lang="en-US" altLang="en-US" sz="2000"/>
          </a:p>
          <a:p>
            <a:pPr marL="225425" indent="-225425" eaLnBrk="1" hangingPunct="1"/>
            <a:r>
              <a:rPr lang="en-US" altLang="en-US" sz="2400"/>
              <a:t>the information conveyed by distribution (aka </a:t>
            </a:r>
            <a:r>
              <a:rPr lang="en-US" altLang="en-US" sz="2400">
                <a:solidFill>
                  <a:srgbClr val="FF0000"/>
                </a:solidFill>
              </a:rPr>
              <a:t>Entropy</a:t>
            </a:r>
            <a:r>
              <a:rPr lang="en-US" altLang="en-US" sz="2400"/>
              <a:t> of P) is: </a:t>
            </a:r>
          </a:p>
          <a:p>
            <a:pPr marL="566738" lvl="1" indent="-227013" eaLnBrk="1" hangingPunct="1">
              <a:buFontTx/>
              <a:buNone/>
            </a:pPr>
            <a:r>
              <a:rPr lang="en-US" altLang="en-US"/>
              <a:t>H(P) = -(p</a:t>
            </a:r>
            <a:r>
              <a:rPr lang="en-US" altLang="en-US" baseline="-25000"/>
              <a:t>1</a:t>
            </a:r>
            <a:r>
              <a:rPr lang="en-US" altLang="en-US"/>
              <a:t>*log(p</a:t>
            </a:r>
            <a:r>
              <a:rPr lang="en-US" altLang="en-US" baseline="-25000"/>
              <a:t>1</a:t>
            </a:r>
            <a:r>
              <a:rPr lang="en-US" altLang="en-US"/>
              <a:t>) + p</a:t>
            </a:r>
            <a:r>
              <a:rPr lang="en-US" altLang="en-US" baseline="-25000"/>
              <a:t>2</a:t>
            </a:r>
            <a:r>
              <a:rPr lang="en-US" altLang="en-US"/>
              <a:t>*log(p</a:t>
            </a:r>
            <a:r>
              <a:rPr lang="en-US" altLang="en-US" baseline="-25000"/>
              <a:t>2</a:t>
            </a:r>
            <a:r>
              <a:rPr lang="en-US" altLang="en-US"/>
              <a:t>) + .. + p</a:t>
            </a:r>
            <a:r>
              <a:rPr lang="en-US" altLang="en-US" baseline="-25000"/>
              <a:t>n</a:t>
            </a:r>
            <a:r>
              <a:rPr lang="en-US" altLang="en-US"/>
              <a:t>*log(p</a:t>
            </a:r>
            <a:r>
              <a:rPr lang="en-US" altLang="en-US" baseline="-25000"/>
              <a:t>n</a:t>
            </a:r>
            <a:r>
              <a:rPr lang="en-US" altLang="en-US"/>
              <a:t>))</a:t>
            </a:r>
            <a:endParaRPr lang="en-US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4F917E2-DE81-1640-2912-D19293C1405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0" y="381000"/>
            <a:ext cx="9144000" cy="6324600"/>
          </a:xfrm>
        </p:spPr>
        <p:txBody>
          <a:bodyPr>
            <a:normAutofit/>
          </a:bodyPr>
          <a:lstStyle/>
          <a:p>
            <a:pPr marL="548640" lvl="1" algn="ctr" eaLnBrk="1" fontAlgn="auto" hangingPunct="1">
              <a:spcBef>
                <a:spcPts val="37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sz="3600" b="1" dirty="0">
                <a:solidFill>
                  <a:srgbClr val="FF6600"/>
                </a:solidFill>
                <a:latin typeface="+mj-lt"/>
              </a:rPr>
              <a:t>Information Gain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b="1" dirty="0">
                <a:solidFill>
                  <a:srgbClr val="FF6600"/>
                </a:solidFill>
                <a:latin typeface="+mj-lt"/>
              </a:rPr>
              <a:t>Information</a:t>
            </a:r>
            <a:r>
              <a:rPr lang="en-US" dirty="0">
                <a:solidFill>
                  <a:srgbClr val="FF6600"/>
                </a:solidFill>
                <a:latin typeface="+mj-lt"/>
              </a:rPr>
              <a:t> </a:t>
            </a:r>
            <a:r>
              <a:rPr lang="en-US" b="1" dirty="0">
                <a:solidFill>
                  <a:srgbClr val="FF6600"/>
                </a:solidFill>
                <a:latin typeface="+mj-lt"/>
              </a:rPr>
              <a:t>gain</a:t>
            </a:r>
            <a:r>
              <a:rPr lang="en-US" dirty="0">
                <a:latin typeface="+mj-lt"/>
              </a:rPr>
              <a:t> is our metric for how well one attribute  </a:t>
            </a:r>
            <a:r>
              <a:rPr lang="en-US" b="1" dirty="0">
                <a:solidFill>
                  <a:schemeClr val="accent2"/>
                </a:solidFill>
                <a:latin typeface="+mj-lt"/>
              </a:rPr>
              <a:t>A</a:t>
            </a:r>
            <a:r>
              <a:rPr lang="en-US" b="1" baseline="300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b="1" baseline="-25000" dirty="0" err="1">
                <a:solidFill>
                  <a:schemeClr val="accent2"/>
                </a:solidFill>
                <a:latin typeface="+mj-lt"/>
              </a:rPr>
              <a:t>i</a:t>
            </a:r>
            <a:r>
              <a:rPr lang="en-US" b="1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classifies the training data.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+mj-lt"/>
              </a:rPr>
              <a:t>Calculate the </a:t>
            </a:r>
            <a:r>
              <a:rPr lang="en-US" u="sng" dirty="0">
                <a:solidFill>
                  <a:schemeClr val="accent2"/>
                </a:solidFill>
                <a:latin typeface="+mj-lt"/>
              </a:rPr>
              <a:t>entropy</a:t>
            </a:r>
            <a:r>
              <a:rPr lang="en-US" dirty="0">
                <a:latin typeface="+mj-lt"/>
              </a:rPr>
              <a:t> for </a:t>
            </a:r>
            <a:r>
              <a:rPr lang="en-US" u="sng" dirty="0">
                <a:latin typeface="+mj-lt"/>
              </a:rPr>
              <a:t>all training examples</a:t>
            </a:r>
            <a:endParaRPr lang="en-US" dirty="0">
              <a:latin typeface="+mj-lt"/>
            </a:endParaRP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dirty="0">
                <a:latin typeface="+mj-lt"/>
              </a:rPr>
              <a:t>positive and negative cases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dirty="0">
                <a:latin typeface="+mj-lt"/>
              </a:rPr>
              <a:t>p</a:t>
            </a:r>
            <a:r>
              <a:rPr lang="en-US" baseline="-25000" dirty="0">
                <a:latin typeface="+mj-lt"/>
              </a:rPr>
              <a:t>+</a:t>
            </a:r>
            <a:r>
              <a:rPr lang="en-US" dirty="0">
                <a:latin typeface="+mj-lt"/>
              </a:rPr>
              <a:t> =  #pos/Tot	 p</a:t>
            </a:r>
            <a:r>
              <a:rPr lang="en-US" baseline="-25000" dirty="0">
                <a:latin typeface="+mj-lt"/>
              </a:rPr>
              <a:t>-</a:t>
            </a:r>
            <a:r>
              <a:rPr lang="en-US" dirty="0">
                <a:latin typeface="+mj-lt"/>
              </a:rPr>
              <a:t> =  #</a:t>
            </a:r>
            <a:r>
              <a:rPr lang="en-US" dirty="0" err="1">
                <a:latin typeface="+mj-lt"/>
              </a:rPr>
              <a:t>neg</a:t>
            </a:r>
            <a:r>
              <a:rPr lang="en-US" dirty="0">
                <a:latin typeface="+mj-lt"/>
              </a:rPr>
              <a:t>/Tot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dirty="0">
                <a:latin typeface="+mj-lt"/>
              </a:rPr>
              <a:t>H(S) = -p</a:t>
            </a:r>
            <a:r>
              <a:rPr lang="en-US" baseline="-25000" dirty="0">
                <a:latin typeface="+mj-lt"/>
              </a:rPr>
              <a:t>+</a:t>
            </a:r>
            <a:r>
              <a:rPr lang="en-US" dirty="0">
                <a:latin typeface="+mj-lt"/>
              </a:rPr>
              <a:t>log</a:t>
            </a:r>
            <a:r>
              <a:rPr lang="en-US" baseline="-25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(p</a:t>
            </a:r>
            <a:r>
              <a:rPr lang="en-US" baseline="-25000" dirty="0">
                <a:latin typeface="+mj-lt"/>
              </a:rPr>
              <a:t>+</a:t>
            </a:r>
            <a:r>
              <a:rPr lang="en-US" dirty="0">
                <a:latin typeface="+mj-lt"/>
              </a:rPr>
              <a:t>) - p</a:t>
            </a:r>
            <a:r>
              <a:rPr lang="en-US" baseline="-25000" dirty="0">
                <a:latin typeface="+mj-lt"/>
              </a:rPr>
              <a:t>-</a:t>
            </a:r>
            <a:r>
              <a:rPr lang="en-US" dirty="0">
                <a:latin typeface="+mj-lt"/>
              </a:rPr>
              <a:t>log</a:t>
            </a:r>
            <a:r>
              <a:rPr lang="en-US" baseline="-25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(p</a:t>
            </a:r>
            <a:r>
              <a:rPr lang="en-US" baseline="-25000" dirty="0">
                <a:latin typeface="+mj-lt"/>
              </a:rPr>
              <a:t>-</a:t>
            </a:r>
            <a:r>
              <a:rPr lang="en-US" dirty="0">
                <a:latin typeface="+mj-lt"/>
              </a:rPr>
              <a:t>)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+mj-lt"/>
              </a:rPr>
              <a:t>Determine which </a:t>
            </a:r>
            <a:r>
              <a:rPr lang="en-US" b="1" u="sng" dirty="0">
                <a:latin typeface="+mj-lt"/>
              </a:rPr>
              <a:t>single attribute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FF6600"/>
                </a:solidFill>
                <a:latin typeface="+mj-lt"/>
              </a:rPr>
              <a:t>best classifies</a:t>
            </a:r>
            <a:r>
              <a:rPr lang="en-US" dirty="0">
                <a:latin typeface="+mj-lt"/>
              </a:rPr>
              <a:t> the training examples using information gain.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dirty="0">
                <a:latin typeface="+mj-lt"/>
              </a:rPr>
              <a:t>For each attribute find: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endParaRPr lang="en-US" dirty="0">
              <a:latin typeface="+mj-lt"/>
            </a:endParaRP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endParaRPr lang="en-US" dirty="0">
              <a:latin typeface="+mj-lt"/>
            </a:endParaRP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endParaRPr lang="en-US" dirty="0">
              <a:latin typeface="+mj-lt"/>
            </a:endParaRP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endParaRPr lang="en-US" dirty="0">
              <a:latin typeface="+mj-lt"/>
            </a:endParaRP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dirty="0">
                <a:latin typeface="+mj-lt"/>
              </a:rPr>
              <a:t>Use </a:t>
            </a:r>
            <a:r>
              <a:rPr lang="en-US" u="sng" dirty="0">
                <a:latin typeface="+mj-lt"/>
              </a:rPr>
              <a:t>attribute with greatest information gain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as a root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Gain (S, A) = expected reduction in entropy due to sorting on A</a:t>
            </a:r>
            <a:endParaRPr lang="en-US" dirty="0">
              <a:latin typeface="+mj-lt"/>
            </a:endParaRPr>
          </a:p>
        </p:txBody>
      </p:sp>
      <p:grpSp>
        <p:nvGrpSpPr>
          <p:cNvPr id="40963" name="Group 9">
            <a:extLst>
              <a:ext uri="{FF2B5EF4-FFF2-40B4-BE49-F238E27FC236}">
                <a16:creationId xmlns:a16="http://schemas.microsoft.com/office/drawing/2014/main" id="{DE6916A5-1795-DCE4-B81F-FEF76CFB1E0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600575"/>
            <a:ext cx="7848600" cy="1397000"/>
            <a:chOff x="228600" y="4600575"/>
            <a:chExt cx="8686800" cy="1900722"/>
          </a:xfrm>
        </p:grpSpPr>
        <p:graphicFrame>
          <p:nvGraphicFramePr>
            <p:cNvPr id="40964" name="Object 3">
              <a:extLst>
                <a:ext uri="{FF2B5EF4-FFF2-40B4-BE49-F238E27FC236}">
                  <a16:creationId xmlns:a16="http://schemas.microsoft.com/office/drawing/2014/main" id="{28B13245-871B-67EF-AAA5-D4C0514394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00" y="4600575"/>
            <a:ext cx="8686800" cy="1138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81300" imgH="368300" progId="Equation.2">
                    <p:embed/>
                  </p:oleObj>
                </mc:Choice>
                <mc:Fallback>
                  <p:oleObj name="Equation" r:id="rId2" imgW="2781300" imgH="368300" progId="Equation.2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4600575"/>
                          <a:ext cx="8686800" cy="1138238"/>
                        </a:xfrm>
                        <a:prstGeom prst="rect">
                          <a:avLst/>
                        </a:prstGeom>
                        <a:noFill/>
                        <a:ln w="762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65" name="Line 6">
              <a:extLst>
                <a:ext uri="{FF2B5EF4-FFF2-40B4-BE49-F238E27FC236}">
                  <a16:creationId xmlns:a16="http://schemas.microsoft.com/office/drawing/2014/main" id="{83799DE8-3A8B-95AD-6B2F-AA0AE13C36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0800" y="5286375"/>
              <a:ext cx="762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6" name="Text Box 7">
              <a:extLst>
                <a:ext uri="{FF2B5EF4-FFF2-40B4-BE49-F238E27FC236}">
                  <a16:creationId xmlns:a16="http://schemas.microsoft.com/office/drawing/2014/main" id="{C6FDB00A-50FE-DFE9-887C-C85772754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5743575"/>
              <a:ext cx="1447800" cy="502625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/>
                <a:t>entropy</a:t>
              </a:r>
            </a:p>
          </p:txBody>
        </p:sp>
        <p:sp>
          <p:nvSpPr>
            <p:cNvPr id="40967" name="Text Box 8">
              <a:extLst>
                <a:ext uri="{FF2B5EF4-FFF2-40B4-BE49-F238E27FC236}">
                  <a16:creationId xmlns:a16="http://schemas.microsoft.com/office/drawing/2014/main" id="{E4B4EFEC-3720-2952-E317-741B32068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599" y="5705475"/>
              <a:ext cx="1447800" cy="795822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/>
                <a:t>Entropy for value v</a:t>
              </a:r>
            </a:p>
          </p:txBody>
        </p:sp>
        <p:sp>
          <p:nvSpPr>
            <p:cNvPr id="40968" name="Line 9">
              <a:extLst>
                <a:ext uri="{FF2B5EF4-FFF2-40B4-BE49-F238E27FC236}">
                  <a16:creationId xmlns:a16="http://schemas.microsoft.com/office/drawing/2014/main" id="{83815229-F598-E532-ABA5-11F43C3DF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1400" y="5286375"/>
              <a:ext cx="838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E91087C-B374-A20A-245F-DA7C6A53EEA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04800" y="228600"/>
            <a:ext cx="8534400" cy="6400800"/>
          </a:xfrm>
          <a:solidFill>
            <a:srgbClr val="FFFFCC"/>
          </a:solidFill>
          <a:ln w="76200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en-US" altLang="en-US" sz="1800" b="1" dirty="0">
              <a:solidFill>
                <a:schemeClr val="accent2"/>
              </a:solidFill>
            </a:endParaRPr>
          </a:p>
          <a:p>
            <a:pPr eaLnBrk="1" hangingPunct="1">
              <a:defRPr/>
            </a:pPr>
            <a:r>
              <a:rPr lang="en-US" altLang="en-US" sz="3600" b="1" dirty="0">
                <a:solidFill>
                  <a:schemeClr val="accent2"/>
                </a:solidFill>
              </a:rPr>
              <a:t>Example:</a:t>
            </a:r>
            <a:r>
              <a:rPr lang="en-US" altLang="en-US" sz="3600" dirty="0"/>
              <a:t> </a:t>
            </a:r>
            <a:r>
              <a:rPr lang="en-US" altLang="en-US" sz="3600" dirty="0" err="1"/>
              <a:t>PlayTennis</a:t>
            </a:r>
            <a:endParaRPr lang="en-US" altLang="en-US" sz="3600" dirty="0"/>
          </a:p>
          <a:p>
            <a:pPr lvl="1" eaLnBrk="1" hangingPunct="1">
              <a:defRPr/>
            </a:pPr>
            <a:r>
              <a:rPr lang="en-US" altLang="en-US" sz="3200" dirty="0"/>
              <a:t>Four attributes used for classification:</a:t>
            </a:r>
          </a:p>
          <a:p>
            <a:pPr lvl="2" eaLnBrk="1" hangingPunct="1">
              <a:defRPr/>
            </a:pPr>
            <a:r>
              <a:rPr lang="en-US" altLang="en-US" sz="2800" dirty="0"/>
              <a:t>Outlook = {Sunny, Overcast, Rain}</a:t>
            </a:r>
          </a:p>
          <a:p>
            <a:pPr lvl="2" eaLnBrk="1" hangingPunct="1">
              <a:defRPr/>
            </a:pPr>
            <a:r>
              <a:rPr lang="en-US" altLang="en-US" sz="2800" dirty="0"/>
              <a:t>Temperature = {Hot, Mild, Cool}</a:t>
            </a:r>
          </a:p>
          <a:p>
            <a:pPr lvl="2" eaLnBrk="1" hangingPunct="1">
              <a:defRPr/>
            </a:pPr>
            <a:r>
              <a:rPr lang="en-US" altLang="en-US" sz="2800" dirty="0"/>
              <a:t>Humidity = {High, Normal}</a:t>
            </a:r>
          </a:p>
          <a:p>
            <a:pPr lvl="2" eaLnBrk="1" hangingPunct="1">
              <a:defRPr/>
            </a:pPr>
            <a:r>
              <a:rPr lang="en-US" altLang="en-US" sz="2800" dirty="0"/>
              <a:t>Wind =  {Weak, Strong}</a:t>
            </a:r>
          </a:p>
          <a:p>
            <a:pPr lvl="1" eaLnBrk="1" hangingPunct="1">
              <a:defRPr/>
            </a:pPr>
            <a:r>
              <a:rPr lang="en-US" altLang="en-US" sz="3200" dirty="0"/>
              <a:t>One predicted (target) attribute (binary)</a:t>
            </a:r>
          </a:p>
          <a:p>
            <a:pPr lvl="2" eaLnBrk="1" hangingPunct="1">
              <a:defRPr/>
            </a:pPr>
            <a:r>
              <a:rPr lang="en-US" altLang="en-US" sz="2800" dirty="0" err="1"/>
              <a:t>PlayTennis</a:t>
            </a:r>
            <a:r>
              <a:rPr lang="en-US" altLang="en-US" sz="2800" dirty="0"/>
              <a:t>  = {Yes, No}</a:t>
            </a:r>
          </a:p>
          <a:p>
            <a:pPr lvl="1" eaLnBrk="1" hangingPunct="1">
              <a:defRPr/>
            </a:pPr>
            <a:r>
              <a:rPr lang="en-US" altLang="en-US" sz="3200" dirty="0"/>
              <a:t>Given 14 Training examples</a:t>
            </a:r>
          </a:p>
          <a:p>
            <a:pPr lvl="2" eaLnBrk="1" hangingPunct="1">
              <a:defRPr/>
            </a:pPr>
            <a:r>
              <a:rPr lang="en-US" altLang="en-US" sz="2800" dirty="0"/>
              <a:t>9 positive</a:t>
            </a:r>
          </a:p>
          <a:p>
            <a:pPr lvl="2" eaLnBrk="1" hangingPunct="1">
              <a:defRPr/>
            </a:pPr>
            <a:r>
              <a:rPr lang="en-US" altLang="en-US" sz="2800" dirty="0"/>
              <a:t>5 negative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4540ADD-BCD1-85FD-789A-675AC7A10A4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8229600" cy="5410200"/>
          </a:xfrm>
        </p:spPr>
        <p:txBody>
          <a:bodyPr/>
          <a:lstStyle/>
          <a:p>
            <a:pPr lvl="2" eaLnBrk="1" hangingPunct="1"/>
            <a:endParaRPr lang="en-US" altLang="en-US"/>
          </a:p>
          <a:p>
            <a:pPr lvl="1" eaLnBrk="1" hangingPunct="1"/>
            <a:endParaRPr lang="en-US" altLang="en-US" i="1"/>
          </a:p>
        </p:txBody>
      </p:sp>
      <p:pic>
        <p:nvPicPr>
          <p:cNvPr id="43011" name="Picture 3">
            <a:extLst>
              <a:ext uri="{FF2B5EF4-FFF2-40B4-BE49-F238E27FC236}">
                <a16:creationId xmlns:a16="http://schemas.microsoft.com/office/drawing/2014/main" id="{10AF94F1-4858-B6B3-014B-CBF59AE1B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" t="20912" r="-3529" b="22729"/>
          <a:stretch>
            <a:fillRect/>
          </a:stretch>
        </p:blipFill>
        <p:spPr bwMode="auto">
          <a:xfrm>
            <a:off x="185738" y="1143000"/>
            <a:ext cx="8772525" cy="552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Text Box 4">
            <a:extLst>
              <a:ext uri="{FF2B5EF4-FFF2-40B4-BE49-F238E27FC236}">
                <a16:creationId xmlns:a16="http://schemas.microsoft.com/office/drawing/2014/main" id="{E91391FB-13D3-FA40-1F8E-C4AF5D03D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50850"/>
            <a:ext cx="4114800" cy="6413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36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Training Examples</a:t>
            </a:r>
          </a:p>
        </p:txBody>
      </p:sp>
      <p:sp>
        <p:nvSpPr>
          <p:cNvPr id="43013" name="Line 5">
            <a:extLst>
              <a:ext uri="{FF2B5EF4-FFF2-40B4-BE49-F238E27FC236}">
                <a16:creationId xmlns:a16="http://schemas.microsoft.com/office/drawing/2014/main" id="{53B17923-6610-1B07-4C8C-52D0875154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13716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67AB119F-C8FC-3926-0372-4237BF74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425"/>
            <a:ext cx="1219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Examples, minterms, cases, objects, test cases,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80EADA1-582A-2F7D-E6F6-E3EFBF8951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5334000"/>
            <a:ext cx="8382000" cy="1524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6600"/>
                </a:solidFill>
              </a:rPr>
              <a:t>Step 1:</a:t>
            </a:r>
            <a:r>
              <a:rPr lang="en-US" altLang="en-US"/>
              <a:t> </a:t>
            </a:r>
            <a:r>
              <a:rPr lang="en-US" altLang="en-US" i="1" u="sng"/>
              <a:t>Calculate </a:t>
            </a:r>
            <a:r>
              <a:rPr lang="en-US" altLang="en-US" b="1" i="1" u="sng">
                <a:solidFill>
                  <a:srgbClr val="FF6600"/>
                </a:solidFill>
              </a:rPr>
              <a:t>entropy</a:t>
            </a:r>
            <a:r>
              <a:rPr lang="en-US" altLang="en-US"/>
              <a:t> for all cases:</a:t>
            </a:r>
          </a:p>
          <a:p>
            <a:pPr lvl="3" eaLnBrk="1" hangingPunct="1">
              <a:buFontTx/>
              <a:buNone/>
            </a:pPr>
            <a:r>
              <a:rPr lang="en-US" altLang="en-US"/>
              <a:t>N</a:t>
            </a:r>
            <a:r>
              <a:rPr lang="en-US" altLang="en-US" baseline="-25000"/>
              <a:t>Pos</a:t>
            </a:r>
            <a:r>
              <a:rPr lang="en-US" altLang="en-US"/>
              <a:t> = 9		N</a:t>
            </a:r>
            <a:r>
              <a:rPr lang="en-US" altLang="en-US" baseline="-25000"/>
              <a:t>Neg</a:t>
            </a:r>
            <a:r>
              <a:rPr lang="en-US" altLang="en-US"/>
              <a:t> = 5		N</a:t>
            </a:r>
            <a:r>
              <a:rPr lang="en-US" altLang="en-US" baseline="-25000"/>
              <a:t>Tot</a:t>
            </a:r>
            <a:r>
              <a:rPr lang="en-US" altLang="en-US"/>
              <a:t> = 14	</a:t>
            </a:r>
          </a:p>
          <a:p>
            <a:pPr lvl="3" eaLnBrk="1" hangingPunct="1">
              <a:buFontTx/>
              <a:buNone/>
            </a:pPr>
            <a:r>
              <a:rPr lang="en-US" altLang="en-US"/>
              <a:t>H(S) = -(9/14)*log</a:t>
            </a:r>
            <a:r>
              <a:rPr lang="en-US" altLang="en-US" baseline="-25000"/>
              <a:t>2</a:t>
            </a:r>
            <a:r>
              <a:rPr lang="en-US" altLang="en-US"/>
              <a:t>(9/14) - (5/14)*log</a:t>
            </a:r>
            <a:r>
              <a:rPr lang="en-US" altLang="en-US" baseline="-25000"/>
              <a:t>2</a:t>
            </a:r>
            <a:r>
              <a:rPr lang="en-US" altLang="en-US"/>
              <a:t>(5/14) = 0.940</a:t>
            </a:r>
          </a:p>
        </p:txBody>
      </p:sp>
      <p:pic>
        <p:nvPicPr>
          <p:cNvPr id="44035" name="Picture 3">
            <a:extLst>
              <a:ext uri="{FF2B5EF4-FFF2-40B4-BE49-F238E27FC236}">
                <a16:creationId xmlns:a16="http://schemas.microsoft.com/office/drawing/2014/main" id="{2E5BBC94-D4EA-E682-044D-44CC41110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" t="20912" r="-3529" b="22729"/>
          <a:stretch>
            <a:fillRect/>
          </a:stretch>
        </p:blipFill>
        <p:spPr bwMode="auto">
          <a:xfrm>
            <a:off x="0" y="0"/>
            <a:ext cx="8534400" cy="5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Line 4">
            <a:extLst>
              <a:ext uri="{FF2B5EF4-FFF2-40B4-BE49-F238E27FC236}">
                <a16:creationId xmlns:a16="http://schemas.microsoft.com/office/drawing/2014/main" id="{6CA93FCE-8A4B-00CC-5DA5-6E9117E535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0"/>
            <a:ext cx="0" cy="51054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84E6816D-DC67-BDD9-BFB7-A74F1A362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00600"/>
            <a:ext cx="2286000" cy="39687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14 cases</a:t>
            </a:r>
          </a:p>
        </p:txBody>
      </p:sp>
      <p:sp>
        <p:nvSpPr>
          <p:cNvPr id="44038" name="Text Box 6">
            <a:extLst>
              <a:ext uri="{FF2B5EF4-FFF2-40B4-BE49-F238E27FC236}">
                <a16:creationId xmlns:a16="http://schemas.microsoft.com/office/drawing/2014/main" id="{9FFA3B10-161E-C0A3-5B63-15773A365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00600"/>
            <a:ext cx="2286000" cy="39687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9 positive cases</a:t>
            </a:r>
          </a:p>
        </p:txBody>
      </p:sp>
      <p:sp>
        <p:nvSpPr>
          <p:cNvPr id="44039" name="Line 7">
            <a:extLst>
              <a:ext uri="{FF2B5EF4-FFF2-40B4-BE49-F238E27FC236}">
                <a16:creationId xmlns:a16="http://schemas.microsoft.com/office/drawing/2014/main" id="{77D0DD39-D8DA-B3F4-DD55-EBEAC74B96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64770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D8BFBA96-5CA1-1BDF-058E-961D62F2B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91288"/>
            <a:ext cx="990600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/>
              <a:t>entropy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8441965-9960-E96B-7FB9-A5BBADEA69D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7848600" cy="3352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6600"/>
                </a:solidFill>
              </a:rPr>
              <a:t>Step 2:</a:t>
            </a:r>
            <a:r>
              <a:rPr lang="en-US" altLang="en-US" u="sng"/>
              <a:t> Loop </a:t>
            </a:r>
            <a:r>
              <a:rPr lang="en-US" altLang="en-US"/>
              <a:t>over all attributes, </a:t>
            </a:r>
            <a:r>
              <a:rPr lang="en-US" altLang="en-US" u="sng"/>
              <a:t>calculate gain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 b="1">
                <a:solidFill>
                  <a:srgbClr val="FF6600"/>
                </a:solidFill>
              </a:rPr>
              <a:t>Attribute =</a:t>
            </a:r>
            <a:r>
              <a:rPr lang="en-US" altLang="en-US"/>
              <a:t> </a:t>
            </a:r>
            <a:r>
              <a:rPr lang="en-US" altLang="en-US" b="1" i="1">
                <a:solidFill>
                  <a:schemeClr val="accent2"/>
                </a:solidFill>
              </a:rPr>
              <a:t>Outlook</a:t>
            </a:r>
          </a:p>
          <a:p>
            <a:pPr lvl="2" eaLnBrk="1" hangingPunct="1"/>
            <a:r>
              <a:rPr lang="en-US" altLang="en-US"/>
              <a:t>Loop over values of </a:t>
            </a:r>
            <a:r>
              <a:rPr lang="en-US" altLang="en-US" i="1"/>
              <a:t>Outlook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 i="1"/>
              <a:t>Outlook</a:t>
            </a:r>
            <a:r>
              <a:rPr lang="en-US" altLang="en-US"/>
              <a:t> = Sunny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 </a:t>
            </a:r>
            <a:r>
              <a:rPr lang="en-US" altLang="en-US">
                <a:solidFill>
                  <a:srgbClr val="FF0000"/>
                </a:solidFill>
              </a:rPr>
              <a:t>N</a:t>
            </a:r>
            <a:r>
              <a:rPr lang="en-US" altLang="en-US" baseline="-25000">
                <a:solidFill>
                  <a:srgbClr val="FF0000"/>
                </a:solidFill>
              </a:rPr>
              <a:t>Pos</a:t>
            </a:r>
            <a:r>
              <a:rPr lang="en-US" altLang="en-US">
                <a:solidFill>
                  <a:srgbClr val="FF0000"/>
                </a:solidFill>
              </a:rPr>
              <a:t> = 2	</a:t>
            </a:r>
            <a:r>
              <a:rPr lang="en-US" altLang="en-US"/>
              <a:t>	</a:t>
            </a:r>
            <a:r>
              <a:rPr lang="en-US" altLang="en-US">
                <a:solidFill>
                  <a:schemeClr val="accent2"/>
                </a:solidFill>
              </a:rPr>
              <a:t>N</a:t>
            </a:r>
            <a:r>
              <a:rPr lang="en-US" altLang="en-US" baseline="-25000">
                <a:solidFill>
                  <a:schemeClr val="accent2"/>
                </a:solidFill>
              </a:rPr>
              <a:t>Neg</a:t>
            </a:r>
            <a:r>
              <a:rPr lang="en-US" altLang="en-US">
                <a:solidFill>
                  <a:schemeClr val="accent2"/>
                </a:solidFill>
              </a:rPr>
              <a:t> = 3</a:t>
            </a:r>
            <a:r>
              <a:rPr lang="en-US" altLang="en-US"/>
              <a:t>		N</a:t>
            </a:r>
            <a:r>
              <a:rPr lang="en-US" altLang="en-US" baseline="-25000"/>
              <a:t>Tot</a:t>
            </a:r>
            <a:r>
              <a:rPr lang="en-US" altLang="en-US"/>
              <a:t> = 5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FF6600"/>
                </a:solidFill>
              </a:rPr>
              <a:t>	H(Sunny)</a:t>
            </a:r>
            <a:r>
              <a:rPr lang="en-US" altLang="en-US"/>
              <a:t> = -(2/5)*log</a:t>
            </a:r>
            <a:r>
              <a:rPr lang="en-US" altLang="en-US" baseline="-25000"/>
              <a:t>2</a:t>
            </a:r>
            <a:r>
              <a:rPr lang="en-US" altLang="en-US"/>
              <a:t>(2/5) - (3/5)*log</a:t>
            </a:r>
            <a:r>
              <a:rPr lang="en-US" altLang="en-US" baseline="-25000"/>
              <a:t>2</a:t>
            </a:r>
            <a:r>
              <a:rPr lang="en-US" altLang="en-US"/>
              <a:t>(3/5) = 0.971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 i="1"/>
              <a:t>Outlook</a:t>
            </a:r>
            <a:r>
              <a:rPr lang="en-US" altLang="en-US"/>
              <a:t> = Overcast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 N</a:t>
            </a:r>
            <a:r>
              <a:rPr lang="en-US" altLang="en-US" baseline="-25000"/>
              <a:t>Pos</a:t>
            </a:r>
            <a:r>
              <a:rPr lang="en-US" altLang="en-US"/>
              <a:t> = 4		N</a:t>
            </a:r>
            <a:r>
              <a:rPr lang="en-US" altLang="en-US" baseline="-25000"/>
              <a:t>Neg</a:t>
            </a:r>
            <a:r>
              <a:rPr lang="en-US" altLang="en-US"/>
              <a:t> = 0		N</a:t>
            </a:r>
            <a:r>
              <a:rPr lang="en-US" altLang="en-US" baseline="-25000"/>
              <a:t>Tot</a:t>
            </a:r>
            <a:r>
              <a:rPr lang="en-US" altLang="en-US"/>
              <a:t> = 4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H(Overcast) = -(4/4)*log</a:t>
            </a:r>
            <a:r>
              <a:rPr lang="en-US" altLang="en-US" baseline="-25000"/>
              <a:t>2</a:t>
            </a:r>
            <a:r>
              <a:rPr lang="en-US" altLang="en-US"/>
              <a:t>4/4) - (0/4)*log</a:t>
            </a:r>
            <a:r>
              <a:rPr lang="en-US" altLang="en-US" baseline="-25000"/>
              <a:t>2</a:t>
            </a:r>
            <a:r>
              <a:rPr lang="en-US" altLang="en-US"/>
              <a:t>(0/4) = 0.00</a:t>
            </a:r>
            <a:endParaRPr lang="en-US" altLang="en-US" i="1"/>
          </a:p>
        </p:txBody>
      </p:sp>
      <p:grpSp>
        <p:nvGrpSpPr>
          <p:cNvPr id="45059" name="Group 8">
            <a:extLst>
              <a:ext uri="{FF2B5EF4-FFF2-40B4-BE49-F238E27FC236}">
                <a16:creationId xmlns:a16="http://schemas.microsoft.com/office/drawing/2014/main" id="{60506463-B10A-F1D3-89AA-F8815F2D723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776663"/>
            <a:ext cx="5410200" cy="2852737"/>
            <a:chOff x="3733800" y="4005263"/>
            <a:chExt cx="5410200" cy="2852737"/>
          </a:xfrm>
        </p:grpSpPr>
        <p:pic>
          <p:nvPicPr>
            <p:cNvPr id="45060" name="Picture 3">
              <a:extLst>
                <a:ext uri="{FF2B5EF4-FFF2-40B4-BE49-F238E27FC236}">
                  <a16:creationId xmlns:a16="http://schemas.microsoft.com/office/drawing/2014/main" id="{CE6AE9DF-4E0F-4150-20C0-8D51B030BF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4" t="23639" r="-3529" b="24548"/>
            <a:stretch>
              <a:fillRect/>
            </a:stretch>
          </p:blipFill>
          <p:spPr bwMode="auto">
            <a:xfrm>
              <a:off x="4191000" y="4005263"/>
              <a:ext cx="4953000" cy="2852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1" name="Line 4">
              <a:extLst>
                <a:ext uri="{FF2B5EF4-FFF2-40B4-BE49-F238E27FC236}">
                  <a16:creationId xmlns:a16="http://schemas.microsoft.com/office/drawing/2014/main" id="{01875D62-2FEC-DA47-7C6E-6B8BF864D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43434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2" name="Line 5">
              <a:extLst>
                <a:ext uri="{FF2B5EF4-FFF2-40B4-BE49-F238E27FC236}">
                  <a16:creationId xmlns:a16="http://schemas.microsoft.com/office/drawing/2014/main" id="{3E0D451D-97E3-8150-2E4C-0C4841925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44958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3" name="Line 6">
              <a:extLst>
                <a:ext uri="{FF2B5EF4-FFF2-40B4-BE49-F238E27FC236}">
                  <a16:creationId xmlns:a16="http://schemas.microsoft.com/office/drawing/2014/main" id="{3598DFB0-B83F-C35A-239C-0ACD22635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5626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4" name="Line 7">
              <a:extLst>
                <a:ext uri="{FF2B5EF4-FFF2-40B4-BE49-F238E27FC236}">
                  <a16:creationId xmlns:a16="http://schemas.microsoft.com/office/drawing/2014/main" id="{1793C7BF-5F1C-1731-5F30-799CC5093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715000"/>
              <a:ext cx="609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5" name="Line 8">
              <a:extLst>
                <a:ext uri="{FF2B5EF4-FFF2-40B4-BE49-F238E27FC236}">
                  <a16:creationId xmlns:a16="http://schemas.microsoft.com/office/drawing/2014/main" id="{1D09EF5F-8D75-2122-D8FC-091EF8F81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6096000"/>
              <a:ext cx="609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11A3A78-19D0-7B68-5303-6DC3CCDE0D8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229600" cy="3581400"/>
          </a:xfrm>
        </p:spPr>
        <p:txBody>
          <a:bodyPr/>
          <a:lstStyle/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Outlook</a:t>
            </a:r>
            <a:r>
              <a:rPr lang="en-US" altLang="en-US">
                <a:solidFill>
                  <a:schemeClr val="accent2"/>
                </a:solidFill>
              </a:rPr>
              <a:t> = Rain</a:t>
            </a:r>
            <a:endParaRPr lang="en-US" altLang="en-US"/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 N</a:t>
            </a:r>
            <a:r>
              <a:rPr lang="en-US" altLang="en-US" baseline="-25000"/>
              <a:t>Pos</a:t>
            </a:r>
            <a:r>
              <a:rPr lang="en-US" altLang="en-US"/>
              <a:t> = 3		N</a:t>
            </a:r>
            <a:r>
              <a:rPr lang="en-US" altLang="en-US" baseline="-25000"/>
              <a:t>Neg</a:t>
            </a:r>
            <a:r>
              <a:rPr lang="en-US" altLang="en-US"/>
              <a:t> = 2		N</a:t>
            </a:r>
            <a:r>
              <a:rPr lang="en-US" altLang="en-US" baseline="-25000"/>
              <a:t>Tot</a:t>
            </a:r>
            <a:r>
              <a:rPr lang="en-US" altLang="en-US"/>
              <a:t> = 5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H(Rain) = -(3/5)*log</a:t>
            </a:r>
            <a:r>
              <a:rPr lang="en-US" altLang="en-US" baseline="-25000"/>
              <a:t>2</a:t>
            </a:r>
            <a:r>
              <a:rPr lang="en-US" altLang="en-US"/>
              <a:t>(3/5) - (2/5)*log</a:t>
            </a:r>
            <a:r>
              <a:rPr lang="en-US" altLang="en-US" baseline="-25000"/>
              <a:t>2</a:t>
            </a:r>
            <a:r>
              <a:rPr lang="en-US" altLang="en-US"/>
              <a:t>(2/5) = 0.971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Calculate </a:t>
            </a:r>
            <a:r>
              <a:rPr lang="en-US" altLang="en-US" b="1">
                <a:solidFill>
                  <a:srgbClr val="FF6600"/>
                </a:solidFill>
              </a:rPr>
              <a:t>Information Gain</a:t>
            </a:r>
            <a:r>
              <a:rPr lang="en-US" altLang="en-US"/>
              <a:t> for attribute Outlook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Gain(</a:t>
            </a:r>
            <a:r>
              <a:rPr lang="en-US" altLang="en-US" i="1"/>
              <a:t>S, Outlook</a:t>
            </a:r>
            <a:r>
              <a:rPr lang="en-US" altLang="en-US"/>
              <a:t>) = H(S)   -   N</a:t>
            </a:r>
            <a:r>
              <a:rPr lang="en-US" altLang="en-US" baseline="-25000"/>
              <a:t>Sunny</a:t>
            </a:r>
            <a:r>
              <a:rPr lang="en-US" altLang="en-US"/>
              <a:t>/N</a:t>
            </a:r>
            <a:r>
              <a:rPr lang="en-US" altLang="en-US" baseline="-25000"/>
              <a:t>Tot</a:t>
            </a:r>
            <a:r>
              <a:rPr lang="en-US" altLang="en-US"/>
              <a:t>*H(Sunny) </a:t>
            </a:r>
            <a:br>
              <a:rPr lang="en-US" altLang="en-US"/>
            </a:br>
            <a:r>
              <a:rPr lang="en-US" altLang="en-US"/>
              <a:t>  		       -   N</a:t>
            </a:r>
            <a:r>
              <a:rPr lang="en-US" altLang="en-US" baseline="-25000"/>
              <a:t>Over</a:t>
            </a:r>
            <a:r>
              <a:rPr lang="en-US" altLang="en-US"/>
              <a:t>/N</a:t>
            </a:r>
            <a:r>
              <a:rPr lang="en-US" altLang="en-US" baseline="-25000"/>
              <a:t>Tot</a:t>
            </a:r>
            <a:r>
              <a:rPr lang="en-US" altLang="en-US"/>
              <a:t>*H(Overcast)</a:t>
            </a:r>
            <a:br>
              <a:rPr lang="en-US" altLang="en-US"/>
            </a:br>
            <a:r>
              <a:rPr lang="en-US" altLang="en-US"/>
              <a:t> 			       -   N</a:t>
            </a:r>
            <a:r>
              <a:rPr lang="en-US" altLang="en-US" baseline="-25000"/>
              <a:t>Rain</a:t>
            </a:r>
            <a:r>
              <a:rPr lang="en-US" altLang="en-US"/>
              <a:t>/N</a:t>
            </a:r>
            <a:r>
              <a:rPr lang="en-US" altLang="en-US" baseline="-25000"/>
              <a:t>Tot</a:t>
            </a:r>
            <a:r>
              <a:rPr lang="en-US" altLang="en-US"/>
              <a:t>*H(Rain)</a:t>
            </a:r>
            <a:br>
              <a:rPr lang="en-US" altLang="en-US"/>
            </a:br>
            <a:endParaRPr lang="en-US" altLang="en-US"/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 Gain(</a:t>
            </a:r>
            <a:r>
              <a:rPr lang="en-US" altLang="en-US" i="1"/>
              <a:t>S, Outlook</a:t>
            </a:r>
            <a:r>
              <a:rPr lang="en-US" altLang="en-US"/>
              <a:t>) = 0.940 - (5/14)*0.971 - (4/14)*0 - (5/14)*0.971 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Gain(</a:t>
            </a:r>
            <a:r>
              <a:rPr lang="en-US" altLang="en-US" i="1">
                <a:solidFill>
                  <a:schemeClr val="accent2"/>
                </a:solidFill>
              </a:rPr>
              <a:t>S, Outlook</a:t>
            </a:r>
            <a:r>
              <a:rPr lang="en-US" altLang="en-US">
                <a:solidFill>
                  <a:schemeClr val="accent2"/>
                </a:solidFill>
              </a:rPr>
              <a:t>) = 0.246</a:t>
            </a:r>
            <a:endParaRPr lang="en-US" altLang="en-US"/>
          </a:p>
        </p:txBody>
      </p:sp>
      <p:grpSp>
        <p:nvGrpSpPr>
          <p:cNvPr id="46083" name="Group 2">
            <a:extLst>
              <a:ext uri="{FF2B5EF4-FFF2-40B4-BE49-F238E27FC236}">
                <a16:creationId xmlns:a16="http://schemas.microsoft.com/office/drawing/2014/main" id="{31A933CE-0BB4-02D8-D60B-FB0CB681DA45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733800"/>
            <a:ext cx="5410200" cy="2852738"/>
            <a:chOff x="3733800" y="4005263"/>
            <a:chExt cx="5410200" cy="2852737"/>
          </a:xfrm>
        </p:grpSpPr>
        <p:pic>
          <p:nvPicPr>
            <p:cNvPr id="46084" name="Picture 3">
              <a:extLst>
                <a:ext uri="{FF2B5EF4-FFF2-40B4-BE49-F238E27FC236}">
                  <a16:creationId xmlns:a16="http://schemas.microsoft.com/office/drawing/2014/main" id="{48EBCD33-A628-8D91-7990-55F884AA0D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4" t="23639" r="-3529" b="24548"/>
            <a:stretch>
              <a:fillRect/>
            </a:stretch>
          </p:blipFill>
          <p:spPr bwMode="auto">
            <a:xfrm>
              <a:off x="4191000" y="4005263"/>
              <a:ext cx="4953000" cy="2852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85" name="Line 4">
              <a:extLst>
                <a:ext uri="{FF2B5EF4-FFF2-40B4-BE49-F238E27FC236}">
                  <a16:creationId xmlns:a16="http://schemas.microsoft.com/office/drawing/2014/main" id="{857F5F80-8300-017A-1209-0C4F58D0B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43434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6" name="Line 5">
              <a:extLst>
                <a:ext uri="{FF2B5EF4-FFF2-40B4-BE49-F238E27FC236}">
                  <a16:creationId xmlns:a16="http://schemas.microsoft.com/office/drawing/2014/main" id="{C37A7635-8816-2B43-9FD3-E0D69F325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44958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7" name="Line 6">
              <a:extLst>
                <a:ext uri="{FF2B5EF4-FFF2-40B4-BE49-F238E27FC236}">
                  <a16:creationId xmlns:a16="http://schemas.microsoft.com/office/drawing/2014/main" id="{EC32C5F3-42EE-C76D-4C50-664E669FC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5626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8" name="Line 7">
              <a:extLst>
                <a:ext uri="{FF2B5EF4-FFF2-40B4-BE49-F238E27FC236}">
                  <a16:creationId xmlns:a16="http://schemas.microsoft.com/office/drawing/2014/main" id="{9E1C535A-A756-0F02-5D0B-C9966B1D0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715000"/>
              <a:ext cx="609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9" name="Line 8">
              <a:extLst>
                <a:ext uri="{FF2B5EF4-FFF2-40B4-BE49-F238E27FC236}">
                  <a16:creationId xmlns:a16="http://schemas.microsoft.com/office/drawing/2014/main" id="{CC247805-84AA-3F2F-F278-37134A102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6096000"/>
              <a:ext cx="609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13BF22C-F12C-F756-EE64-41598098CA8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458200" cy="5562600"/>
          </a:xfrm>
        </p:spPr>
        <p:txBody>
          <a:bodyPr>
            <a:normAutofit fontScale="92500" lnSpcReduction="10000"/>
          </a:bodyPr>
          <a:lstStyle/>
          <a:p>
            <a:pPr lvl="1" eaLnBrk="1" hangingPunct="1">
              <a:defRPr/>
            </a:pPr>
            <a:r>
              <a:rPr lang="en-US" b="1" dirty="0">
                <a:solidFill>
                  <a:srgbClr val="FF6600"/>
                </a:solidFill>
              </a:rPr>
              <a:t>Attribute = </a:t>
            </a:r>
            <a:r>
              <a:rPr lang="en-US" b="1" i="1" dirty="0">
                <a:solidFill>
                  <a:srgbClr val="FF6600"/>
                </a:solidFill>
              </a:rPr>
              <a:t>Temperature</a:t>
            </a:r>
            <a:endParaRPr lang="en-US" i="1" dirty="0"/>
          </a:p>
          <a:p>
            <a:pPr lvl="2" eaLnBrk="1" hangingPunct="1">
              <a:defRPr/>
            </a:pPr>
            <a:r>
              <a:rPr lang="en-US" dirty="0"/>
              <a:t>(Repeat process looping over {Hot, Mild, Cool})</a:t>
            </a:r>
            <a:endParaRPr lang="en-US" i="1" dirty="0"/>
          </a:p>
          <a:p>
            <a:pPr lvl="2" eaLnBrk="1" hangingPunct="1">
              <a:buFontTx/>
              <a:buNone/>
              <a:defRPr/>
            </a:pPr>
            <a:r>
              <a:rPr lang="en-US" dirty="0"/>
              <a:t>	 Gain(</a:t>
            </a:r>
            <a:r>
              <a:rPr lang="en-US" i="1" dirty="0"/>
              <a:t>S, Temperature</a:t>
            </a:r>
            <a:r>
              <a:rPr lang="en-US" dirty="0"/>
              <a:t>) = 0.029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>
                <a:solidFill>
                  <a:srgbClr val="FF6600"/>
                </a:solidFill>
              </a:rPr>
              <a:t>Attribute = </a:t>
            </a:r>
            <a:r>
              <a:rPr lang="en-US" b="1" i="1" dirty="0">
                <a:solidFill>
                  <a:srgbClr val="FF6600"/>
                </a:solidFill>
              </a:rPr>
              <a:t>Humidity</a:t>
            </a:r>
            <a:endParaRPr lang="en-US" b="1" i="1" dirty="0"/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dirty="0"/>
              <a:t>(Repeat process looping over {High, Normal})</a:t>
            </a:r>
            <a:endParaRPr lang="en-US" i="1" dirty="0"/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Tx/>
              <a:buNone/>
              <a:defRPr/>
            </a:pPr>
            <a:r>
              <a:rPr lang="en-US" dirty="0"/>
              <a:t>	 Gain(</a:t>
            </a:r>
            <a:r>
              <a:rPr lang="en-US" i="1" dirty="0"/>
              <a:t>S, Humidity</a:t>
            </a:r>
            <a:r>
              <a:rPr lang="en-US" dirty="0"/>
              <a:t>) = 0.029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>
                <a:solidFill>
                  <a:srgbClr val="FF6600"/>
                </a:solidFill>
              </a:rPr>
              <a:t>Attribute = </a:t>
            </a:r>
            <a:r>
              <a:rPr lang="en-US" b="1" i="1" dirty="0">
                <a:solidFill>
                  <a:srgbClr val="FF6600"/>
                </a:solidFill>
              </a:rPr>
              <a:t>Wind</a:t>
            </a:r>
            <a:endParaRPr lang="en-US" b="1" i="1" dirty="0"/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dirty="0"/>
              <a:t>(Repeat process looping over {Weak, Strong})</a:t>
            </a:r>
            <a:endParaRPr lang="en-US" i="1" dirty="0"/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Tx/>
              <a:buNone/>
              <a:defRPr/>
            </a:pPr>
            <a:r>
              <a:rPr lang="en-US" dirty="0"/>
              <a:t>	 Gain(</a:t>
            </a:r>
            <a:r>
              <a:rPr lang="en-US" i="1" dirty="0"/>
              <a:t>S, Wind</a:t>
            </a:r>
            <a:r>
              <a:rPr lang="en-US" dirty="0"/>
              <a:t>) = 0.048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Tx/>
              <a:buNone/>
              <a:defRPr/>
            </a:pP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Find attribute with greatest information gain:</a:t>
            </a:r>
            <a:endParaRPr lang="en-US" dirty="0"/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Tx/>
              <a:buNone/>
              <a:defRPr/>
            </a:pPr>
            <a:r>
              <a:rPr lang="en-US" b="1" dirty="0">
                <a:solidFill>
                  <a:schemeClr val="accent2"/>
                </a:solidFill>
              </a:rPr>
              <a:t>Gain(</a:t>
            </a:r>
            <a:r>
              <a:rPr lang="en-US" b="1" i="1" dirty="0" err="1">
                <a:solidFill>
                  <a:schemeClr val="accent2"/>
                </a:solidFill>
              </a:rPr>
              <a:t>S,Outlook</a:t>
            </a:r>
            <a:r>
              <a:rPr lang="en-US" b="1" dirty="0">
                <a:solidFill>
                  <a:schemeClr val="accent2"/>
                </a:solidFill>
              </a:rPr>
              <a:t>) = 0.246,</a:t>
            </a:r>
            <a:r>
              <a:rPr lang="en-US" dirty="0"/>
              <a:t>		Gain(</a:t>
            </a:r>
            <a:r>
              <a:rPr lang="en-US" i="1" dirty="0" err="1"/>
              <a:t>S,Temperature</a:t>
            </a:r>
            <a:r>
              <a:rPr lang="en-US" dirty="0"/>
              <a:t>) = 0.029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Tx/>
              <a:buNone/>
              <a:defRPr/>
            </a:pPr>
            <a:r>
              <a:rPr lang="en-US" dirty="0"/>
              <a:t>Gain(</a:t>
            </a:r>
            <a:r>
              <a:rPr lang="en-US" i="1" dirty="0" err="1"/>
              <a:t>S,Humidity</a:t>
            </a:r>
            <a:r>
              <a:rPr lang="en-US" dirty="0"/>
              <a:t>)  = 0.029, 		Gain(</a:t>
            </a:r>
            <a:r>
              <a:rPr lang="en-US" i="1" dirty="0" err="1"/>
              <a:t>S,Wind</a:t>
            </a:r>
            <a:r>
              <a:rPr lang="en-US" dirty="0"/>
              <a:t>)          = 0.048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Tx/>
              <a:buNone/>
              <a:defRPr/>
            </a:pPr>
            <a:endParaRPr lang="en-US" sz="1200" dirty="0"/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Tx/>
              <a:buNone/>
              <a:defRPr/>
            </a:pPr>
            <a:r>
              <a:rPr lang="en-US" sz="3200" b="1" i="1" dirty="0">
                <a:solidFill>
                  <a:schemeClr val="accent2"/>
                </a:solidFill>
                <a:sym typeface="Symbol" pitchFamily="18" charset="2"/>
              </a:rPr>
              <a:t> Outlook is root node of tree</a:t>
            </a:r>
            <a:r>
              <a:rPr lang="en-US" dirty="0">
                <a:sym typeface="Symbol" pitchFamily="18" charset="2"/>
              </a:rPr>
              <a:t> </a:t>
            </a:r>
            <a:endParaRPr lang="en-US" dirty="0"/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Tx/>
              <a:buNone/>
              <a:defRPr/>
            </a:pPr>
            <a:endParaRPr lang="en-US" dirty="0"/>
          </a:p>
        </p:txBody>
      </p:sp>
      <p:pic>
        <p:nvPicPr>
          <p:cNvPr id="61444" name="Picture 4">
            <a:extLst>
              <a:ext uri="{FF2B5EF4-FFF2-40B4-BE49-F238E27FC236}">
                <a16:creationId xmlns:a16="http://schemas.microsoft.com/office/drawing/2014/main" id="{C0E7A1FC-77A2-F24C-E1C3-7587BE754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257800"/>
            <a:ext cx="40767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>
            <a:extLst>
              <a:ext uri="{FF2B5EF4-FFF2-40B4-BE49-F238E27FC236}">
                <a16:creationId xmlns:a16="http://schemas.microsoft.com/office/drawing/2014/main" id="{DDEC4A6D-7D42-E755-573F-0B7D4864E7BE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733800"/>
            <a:ext cx="5410200" cy="2852738"/>
            <a:chOff x="3733800" y="4005263"/>
            <a:chExt cx="5410200" cy="2852737"/>
          </a:xfrm>
        </p:grpSpPr>
        <p:pic>
          <p:nvPicPr>
            <p:cNvPr id="49158" name="Picture 3">
              <a:extLst>
                <a:ext uri="{FF2B5EF4-FFF2-40B4-BE49-F238E27FC236}">
                  <a16:creationId xmlns:a16="http://schemas.microsoft.com/office/drawing/2014/main" id="{5DE3A5AB-A03C-ACC4-1B80-B198107417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4" t="23639" r="-3529" b="24548"/>
            <a:stretch>
              <a:fillRect/>
            </a:stretch>
          </p:blipFill>
          <p:spPr bwMode="auto">
            <a:xfrm>
              <a:off x="4191000" y="4005263"/>
              <a:ext cx="4953000" cy="2852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59" name="Line 4">
              <a:extLst>
                <a:ext uri="{FF2B5EF4-FFF2-40B4-BE49-F238E27FC236}">
                  <a16:creationId xmlns:a16="http://schemas.microsoft.com/office/drawing/2014/main" id="{7E69268D-72D6-A0B9-2231-E07BC3A70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43434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0" name="Line 5">
              <a:extLst>
                <a:ext uri="{FF2B5EF4-FFF2-40B4-BE49-F238E27FC236}">
                  <a16:creationId xmlns:a16="http://schemas.microsoft.com/office/drawing/2014/main" id="{E217AD1A-18E9-05BB-887C-DFC222CCC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44958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1" name="Line 6">
              <a:extLst>
                <a:ext uri="{FF2B5EF4-FFF2-40B4-BE49-F238E27FC236}">
                  <a16:creationId xmlns:a16="http://schemas.microsoft.com/office/drawing/2014/main" id="{5DDC01CB-B8C0-AF2D-A4E3-FF0492715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562600"/>
              <a:ext cx="6096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2" name="Line 7">
              <a:extLst>
                <a:ext uri="{FF2B5EF4-FFF2-40B4-BE49-F238E27FC236}">
                  <a16:creationId xmlns:a16="http://schemas.microsoft.com/office/drawing/2014/main" id="{F107168A-E491-CF2F-EABF-205C7F431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715000"/>
              <a:ext cx="609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3" name="Line 8">
              <a:extLst>
                <a:ext uri="{FF2B5EF4-FFF2-40B4-BE49-F238E27FC236}">
                  <a16:creationId xmlns:a16="http://schemas.microsoft.com/office/drawing/2014/main" id="{5059F1F5-7BEF-12B1-E122-6E6B8F2AC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6096000"/>
              <a:ext cx="609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835B8B3-DF93-F411-E364-A88D9B03C6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7848600" cy="3429000"/>
          </a:xfrm>
        </p:spPr>
        <p:txBody>
          <a:bodyPr/>
          <a:lstStyle/>
          <a:p>
            <a:pPr lvl="1" eaLnBrk="1" hangingPunct="1"/>
            <a:r>
              <a:rPr lang="en-US" altLang="en-US" b="1">
                <a:solidFill>
                  <a:schemeClr val="accent2"/>
                </a:solidFill>
              </a:rPr>
              <a:t>Iterate algorithm</a:t>
            </a:r>
            <a:r>
              <a:rPr lang="en-US" altLang="en-US" b="1"/>
              <a:t> to find attributes which </a:t>
            </a:r>
            <a:r>
              <a:rPr lang="en-US" altLang="en-US" b="1">
                <a:solidFill>
                  <a:srgbClr val="FF0000"/>
                </a:solidFill>
              </a:rPr>
              <a:t>best classify training examples</a:t>
            </a:r>
            <a:r>
              <a:rPr lang="en-US" altLang="en-US" b="1"/>
              <a:t> under the values of the root node</a:t>
            </a:r>
          </a:p>
          <a:p>
            <a:pPr lvl="1" eaLnBrk="1" hangingPunct="1"/>
            <a:r>
              <a:rPr lang="en-US" altLang="en-US" b="1">
                <a:solidFill>
                  <a:schemeClr val="accent2"/>
                </a:solidFill>
              </a:rPr>
              <a:t>Example continued</a:t>
            </a:r>
            <a:endParaRPr lang="en-US" altLang="en-US" b="1"/>
          </a:p>
          <a:p>
            <a:pPr lvl="2" eaLnBrk="1" hangingPunct="1"/>
            <a:r>
              <a:rPr lang="en-US" altLang="en-US" b="1"/>
              <a:t>Take three subsets:</a:t>
            </a:r>
            <a:endParaRPr lang="en-US" altLang="en-US" b="1" i="1"/>
          </a:p>
          <a:p>
            <a:pPr lvl="3" eaLnBrk="1" hangingPunct="1"/>
            <a:r>
              <a:rPr lang="en-US" altLang="en-US" sz="1800" b="1" i="1"/>
              <a:t>  </a:t>
            </a:r>
            <a:r>
              <a:rPr lang="en-US" altLang="en-US" b="1" i="1"/>
              <a:t>Outlook</a:t>
            </a:r>
            <a:r>
              <a:rPr lang="en-US" altLang="en-US" b="1"/>
              <a:t> = Sunny</a:t>
            </a:r>
            <a:r>
              <a:rPr lang="en-US" altLang="en-US" sz="1800" b="1"/>
              <a:t>	(N</a:t>
            </a:r>
            <a:r>
              <a:rPr lang="en-US" altLang="en-US" sz="1800" b="1" baseline="-25000"/>
              <a:t>Tot</a:t>
            </a:r>
            <a:r>
              <a:rPr lang="en-US" altLang="en-US" sz="1800" b="1"/>
              <a:t> = 5)		</a:t>
            </a:r>
          </a:p>
          <a:p>
            <a:pPr lvl="3" eaLnBrk="1" hangingPunct="1"/>
            <a:r>
              <a:rPr lang="en-US" altLang="en-US" sz="1800" b="1"/>
              <a:t> </a:t>
            </a:r>
            <a:r>
              <a:rPr lang="en-US" altLang="en-US" b="1" i="1"/>
              <a:t>Outlook</a:t>
            </a:r>
            <a:r>
              <a:rPr lang="en-US" altLang="en-US" b="1"/>
              <a:t> = Overcast	(N</a:t>
            </a:r>
            <a:r>
              <a:rPr lang="en-US" altLang="en-US" b="1" baseline="-25000"/>
              <a:t>Tot</a:t>
            </a:r>
            <a:r>
              <a:rPr lang="en-US" altLang="en-US" b="1"/>
              <a:t> = 4)		</a:t>
            </a:r>
          </a:p>
          <a:p>
            <a:pPr lvl="3" eaLnBrk="1" hangingPunct="1"/>
            <a:r>
              <a:rPr lang="en-US" altLang="en-US" b="1" i="1"/>
              <a:t>Outlook</a:t>
            </a:r>
            <a:r>
              <a:rPr lang="en-US" altLang="en-US" b="1"/>
              <a:t> = Rainy	(N</a:t>
            </a:r>
            <a:r>
              <a:rPr lang="en-US" altLang="en-US" b="1" baseline="-25000"/>
              <a:t>Tot</a:t>
            </a:r>
            <a:r>
              <a:rPr lang="en-US" altLang="en-US" b="1"/>
              <a:t> = 5)</a:t>
            </a:r>
          </a:p>
          <a:p>
            <a:pPr lvl="2" eaLnBrk="1" hangingPunct="1"/>
            <a:r>
              <a:rPr lang="en-US" altLang="en-US" b="1"/>
              <a:t>For each subset, repeat the above calculation </a:t>
            </a:r>
            <a:r>
              <a:rPr lang="en-US" altLang="en-US" b="1">
                <a:solidFill>
                  <a:schemeClr val="accent2"/>
                </a:solidFill>
              </a:rPr>
              <a:t>looping over all attributes</a:t>
            </a:r>
            <a:r>
              <a:rPr lang="en-US" altLang="en-US" b="1"/>
              <a:t> </a:t>
            </a:r>
            <a:r>
              <a:rPr lang="en-US" altLang="en-US" b="1" u="sng"/>
              <a:t>other than </a:t>
            </a:r>
            <a:r>
              <a:rPr lang="en-US" altLang="en-US" b="1" i="1" u="sng"/>
              <a:t>Outlook</a:t>
            </a:r>
            <a:endParaRPr lang="en-US" altLang="en-US" b="1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035612DC-A1FF-EA3B-6CBA-8F6C89CC2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00200"/>
            <a:ext cx="29718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2">
            <a:extLst>
              <a:ext uri="{FF2B5EF4-FFF2-40B4-BE49-F238E27FC236}">
                <a16:creationId xmlns:a16="http://schemas.microsoft.com/office/drawing/2014/main" id="{3370C7B8-1353-4717-7336-C7332EAF8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4591050"/>
            <a:ext cx="420052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8A4A150-661C-428D-4E52-1F00D325B5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571500"/>
            <a:ext cx="8229600" cy="6057900"/>
          </a:xfrm>
        </p:spPr>
        <p:txBody>
          <a:bodyPr/>
          <a:lstStyle/>
          <a:p>
            <a:pPr lvl="1" eaLnBrk="1" hangingPunct="1"/>
            <a:r>
              <a:rPr lang="en-US" altLang="en-US"/>
              <a:t>For example:</a:t>
            </a:r>
            <a:r>
              <a:rPr lang="en-US" altLang="en-US" i="1"/>
              <a:t> </a:t>
            </a:r>
          </a:p>
          <a:p>
            <a:pPr lvl="2" eaLnBrk="1" hangingPunct="1"/>
            <a:r>
              <a:rPr lang="en-US" altLang="en-US" i="1"/>
              <a:t>Outlook </a:t>
            </a:r>
            <a:r>
              <a:rPr lang="en-US" altLang="en-US"/>
              <a:t>= Sunny  (N</a:t>
            </a:r>
            <a:r>
              <a:rPr lang="en-US" altLang="en-US" baseline="-25000"/>
              <a:t>Pos</a:t>
            </a:r>
            <a:r>
              <a:rPr lang="en-US" altLang="en-US"/>
              <a:t> = 2, N</a:t>
            </a:r>
            <a:r>
              <a:rPr lang="en-US" altLang="en-US" baseline="-25000"/>
              <a:t>Neg</a:t>
            </a:r>
            <a:r>
              <a:rPr lang="en-US" altLang="en-US"/>
              <a:t>=3, N</a:t>
            </a:r>
            <a:r>
              <a:rPr lang="en-US" altLang="en-US" baseline="-25000"/>
              <a:t>Tot</a:t>
            </a:r>
            <a:r>
              <a:rPr lang="en-US" altLang="en-US"/>
              <a:t> = 5)  H=0.971</a:t>
            </a:r>
          </a:p>
          <a:p>
            <a:pPr lvl="3" eaLnBrk="1" hangingPunct="1"/>
            <a:r>
              <a:rPr lang="en-US" altLang="en-US" i="1"/>
              <a:t>Temp</a:t>
            </a:r>
            <a:r>
              <a:rPr lang="en-US" altLang="en-US"/>
              <a:t> = Hot    (N</a:t>
            </a:r>
            <a:r>
              <a:rPr lang="en-US" altLang="en-US" baseline="-25000"/>
              <a:t>Pos</a:t>
            </a:r>
            <a:r>
              <a:rPr lang="en-US" altLang="en-US"/>
              <a:t> = 0, N</a:t>
            </a:r>
            <a:r>
              <a:rPr lang="en-US" altLang="en-US" baseline="-25000"/>
              <a:t>Neg</a:t>
            </a:r>
            <a:r>
              <a:rPr lang="en-US" altLang="en-US"/>
              <a:t>=2, N</a:t>
            </a:r>
            <a:r>
              <a:rPr lang="en-US" altLang="en-US" baseline="-25000"/>
              <a:t>Tot</a:t>
            </a:r>
            <a:r>
              <a:rPr lang="en-US" altLang="en-US"/>
              <a:t> = 2) 	H = 0.0</a:t>
            </a:r>
          </a:p>
          <a:p>
            <a:pPr lvl="3" eaLnBrk="1" hangingPunct="1"/>
            <a:r>
              <a:rPr lang="en-US" altLang="en-US" i="1"/>
              <a:t>Temp</a:t>
            </a:r>
            <a:r>
              <a:rPr lang="en-US" altLang="en-US"/>
              <a:t> = Mild  (N</a:t>
            </a:r>
            <a:r>
              <a:rPr lang="en-US" altLang="en-US" baseline="-25000"/>
              <a:t>Pos</a:t>
            </a:r>
            <a:r>
              <a:rPr lang="en-US" altLang="en-US"/>
              <a:t> = 1, N</a:t>
            </a:r>
            <a:r>
              <a:rPr lang="en-US" altLang="en-US" baseline="-25000"/>
              <a:t>Neg</a:t>
            </a:r>
            <a:r>
              <a:rPr lang="en-US" altLang="en-US"/>
              <a:t>=1, N</a:t>
            </a:r>
            <a:r>
              <a:rPr lang="en-US" altLang="en-US" baseline="-25000"/>
              <a:t>Tot</a:t>
            </a:r>
            <a:r>
              <a:rPr lang="en-US" altLang="en-US"/>
              <a:t> = 2) 	H = 1.0</a:t>
            </a:r>
          </a:p>
          <a:p>
            <a:pPr lvl="3" eaLnBrk="1" hangingPunct="1"/>
            <a:r>
              <a:rPr lang="en-US" altLang="en-US" i="1"/>
              <a:t>Temp</a:t>
            </a:r>
            <a:r>
              <a:rPr lang="en-US" altLang="en-US"/>
              <a:t> = Cool  (N</a:t>
            </a:r>
            <a:r>
              <a:rPr lang="en-US" altLang="en-US" baseline="-25000"/>
              <a:t>Pos</a:t>
            </a:r>
            <a:r>
              <a:rPr lang="en-US" altLang="en-US"/>
              <a:t> = 1, N</a:t>
            </a:r>
            <a:r>
              <a:rPr lang="en-US" altLang="en-US" baseline="-25000"/>
              <a:t>Neg</a:t>
            </a:r>
            <a:r>
              <a:rPr lang="en-US" altLang="en-US"/>
              <a:t>=0, N</a:t>
            </a:r>
            <a:r>
              <a:rPr lang="en-US" altLang="en-US" baseline="-25000"/>
              <a:t>Tot</a:t>
            </a:r>
            <a:r>
              <a:rPr lang="en-US" altLang="en-US"/>
              <a:t> = 1) 	H = 0.0</a:t>
            </a:r>
          </a:p>
          <a:p>
            <a:pPr lvl="3" eaLnBrk="1" hangingPunct="1">
              <a:buFontTx/>
              <a:buNone/>
            </a:pPr>
            <a:r>
              <a:rPr lang="en-US" altLang="en-US"/>
              <a:t>Gain(</a:t>
            </a:r>
            <a:r>
              <a:rPr lang="en-US" altLang="en-US" i="1"/>
              <a:t>S</a:t>
            </a:r>
            <a:r>
              <a:rPr lang="en-US" altLang="en-US" i="1" baseline="-25000"/>
              <a:t>Sunny</a:t>
            </a:r>
            <a:r>
              <a:rPr lang="en-US" altLang="en-US" i="1"/>
              <a:t>, Temperature</a:t>
            </a:r>
            <a:r>
              <a:rPr lang="en-US" altLang="en-US"/>
              <a:t>) = 0.971 - (2/5)*0 - (2/5)*1 - (1/5)*0</a:t>
            </a:r>
          </a:p>
          <a:p>
            <a:pPr lvl="3" eaLnBrk="1" hangingPunct="1">
              <a:buFontTx/>
              <a:buNone/>
            </a:pPr>
            <a:r>
              <a:rPr lang="en-US" altLang="en-US"/>
              <a:t>Gain(</a:t>
            </a:r>
            <a:r>
              <a:rPr lang="en-US" altLang="en-US" i="1"/>
              <a:t>S</a:t>
            </a:r>
            <a:r>
              <a:rPr lang="en-US" altLang="en-US" i="1" baseline="-25000"/>
              <a:t>Sunny</a:t>
            </a:r>
            <a:r>
              <a:rPr lang="en-US" altLang="en-US" i="1"/>
              <a:t>, Temperature</a:t>
            </a:r>
            <a:r>
              <a:rPr lang="en-US" altLang="en-US"/>
              <a:t>) = 0.571</a:t>
            </a:r>
          </a:p>
          <a:p>
            <a:pPr lvl="2" eaLnBrk="1" hangingPunct="1">
              <a:buFontTx/>
              <a:buNone/>
            </a:pPr>
            <a:r>
              <a:rPr lang="en-US" altLang="en-US"/>
              <a:t>	Similarly:	 </a:t>
            </a:r>
          </a:p>
          <a:p>
            <a:pPr lvl="2" eaLnBrk="1" hangingPunct="1">
              <a:buFontTx/>
              <a:buNone/>
            </a:pPr>
            <a:r>
              <a:rPr lang="en-US" altLang="en-US"/>
              <a:t>	  Gain(</a:t>
            </a:r>
            <a:r>
              <a:rPr lang="en-US" altLang="en-US" i="1"/>
              <a:t>S</a:t>
            </a:r>
            <a:r>
              <a:rPr lang="en-US" altLang="en-US" i="1" baseline="-25000"/>
              <a:t>Sunny</a:t>
            </a:r>
            <a:r>
              <a:rPr lang="en-US" altLang="en-US" i="1"/>
              <a:t>, Humidity</a:t>
            </a:r>
            <a:r>
              <a:rPr lang="en-US" altLang="en-US"/>
              <a:t>)   = 0.971</a:t>
            </a:r>
          </a:p>
          <a:p>
            <a:pPr lvl="2" eaLnBrk="1" hangingPunct="1">
              <a:buFontTx/>
              <a:buNone/>
            </a:pPr>
            <a:r>
              <a:rPr lang="en-US" altLang="en-US"/>
              <a:t>	  Gain(</a:t>
            </a:r>
            <a:r>
              <a:rPr lang="en-US" altLang="en-US" i="1"/>
              <a:t>S</a:t>
            </a:r>
            <a:r>
              <a:rPr lang="en-US" altLang="en-US" i="1" baseline="-25000"/>
              <a:t>Sunny</a:t>
            </a:r>
            <a:r>
              <a:rPr lang="en-US" altLang="en-US" i="1"/>
              <a:t>, Wind</a:t>
            </a:r>
            <a:r>
              <a:rPr lang="en-US" altLang="en-US"/>
              <a:t>)	  = 0.020</a:t>
            </a:r>
          </a:p>
          <a:p>
            <a:pPr lvl="2" eaLnBrk="1" hangingPunct="1">
              <a:buFontTx/>
              <a:buNone/>
            </a:pPr>
            <a:endParaRPr lang="en-US" altLang="en-US"/>
          </a:p>
          <a:p>
            <a:pPr lvl="2" eaLnBrk="1" hangingPunct="1">
              <a:lnSpc>
                <a:spcPct val="70000"/>
              </a:lnSpc>
              <a:buFont typeface="Symbol" panose="05050102010706020507" pitchFamily="18" charset="2"/>
              <a:buChar char="\"/>
            </a:pPr>
            <a:r>
              <a:rPr lang="en-US" altLang="en-US" sz="2800">
                <a:sym typeface="Symbol" panose="05050102010706020507" pitchFamily="18" charset="2"/>
              </a:rPr>
              <a:t>Humidity classifies </a:t>
            </a:r>
            <a:r>
              <a:rPr lang="en-US" altLang="en-US" sz="2800" i="1">
                <a:sym typeface="Symbol" panose="05050102010706020507" pitchFamily="18" charset="2"/>
              </a:rPr>
              <a:t>Outlook </a:t>
            </a:r>
            <a:r>
              <a:rPr lang="en-US" altLang="en-US" sz="2800">
                <a:sym typeface="Symbol" panose="05050102010706020507" pitchFamily="18" charset="2"/>
              </a:rPr>
              <a:t>= Sunny</a:t>
            </a:r>
            <a:br>
              <a:rPr lang="en-US" altLang="en-US" sz="2800">
                <a:sym typeface="Symbol" panose="05050102010706020507" pitchFamily="18" charset="2"/>
              </a:rPr>
            </a:br>
            <a:r>
              <a:rPr lang="en-US" altLang="en-US" sz="2800">
                <a:sym typeface="Symbol" panose="05050102010706020507" pitchFamily="18" charset="2"/>
              </a:rPr>
              <a:t>  instances best and is placed as the node under</a:t>
            </a:r>
            <a:br>
              <a:rPr lang="en-US" altLang="en-US" sz="2800">
                <a:sym typeface="Symbol" panose="05050102010706020507" pitchFamily="18" charset="2"/>
              </a:rPr>
            </a:br>
            <a:r>
              <a:rPr lang="en-US" altLang="en-US" sz="2800">
                <a:sym typeface="Symbol" panose="05050102010706020507" pitchFamily="18" charset="2"/>
              </a:rPr>
              <a:t>  Sunny outcome.</a:t>
            </a:r>
            <a:r>
              <a:rPr lang="en-US" altLang="en-US">
                <a:sym typeface="Symbol" panose="05050102010706020507" pitchFamily="18" charset="2"/>
              </a:rPr>
              <a:t> </a:t>
            </a:r>
          </a:p>
          <a:p>
            <a:pPr lvl="2" eaLnBrk="1" hangingPunct="1">
              <a:lnSpc>
                <a:spcPct val="70000"/>
              </a:lnSpc>
              <a:buFont typeface="Symbol" panose="05050102010706020507" pitchFamily="18" charset="2"/>
              <a:buChar char="\"/>
            </a:pPr>
            <a:endParaRPr lang="en-US" altLang="en-US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/>
              <a:t>Repeat this process for </a:t>
            </a:r>
            <a:r>
              <a:rPr lang="en-US" altLang="en-US" i="1"/>
              <a:t>Outlook</a:t>
            </a:r>
            <a:r>
              <a:rPr lang="en-US" altLang="en-US"/>
              <a:t> = Overcast &amp; Rainy</a:t>
            </a:r>
          </a:p>
        </p:txBody>
      </p:sp>
      <p:pic>
        <p:nvPicPr>
          <p:cNvPr id="50179" name="Picture 2">
            <a:extLst>
              <a:ext uri="{FF2B5EF4-FFF2-40B4-BE49-F238E27FC236}">
                <a16:creationId xmlns:a16="http://schemas.microsoft.com/office/drawing/2014/main" id="{82E26965-B9C2-C63F-1D26-FB517D4E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3124200"/>
            <a:ext cx="420052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>
            <a:extLst>
              <a:ext uri="{FF2B5EF4-FFF2-40B4-BE49-F238E27FC236}">
                <a16:creationId xmlns:a16="http://schemas.microsoft.com/office/drawing/2014/main" id="{CE20E10A-37CD-66D3-BF91-77C6EA3E0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6" t="10910" r="11766" b="40915"/>
          <a:stretch>
            <a:fillRect/>
          </a:stretch>
        </p:blipFill>
        <p:spPr bwMode="auto">
          <a:xfrm>
            <a:off x="228600" y="1066800"/>
            <a:ext cx="8686800" cy="5334000"/>
          </a:xfrm>
          <a:prstGeom prst="rect">
            <a:avLst/>
          </a:prstGeom>
          <a:noFill/>
          <a:ln w="762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03" name="Rectangle 2">
            <a:extLst>
              <a:ext uri="{FF2B5EF4-FFF2-40B4-BE49-F238E27FC236}">
                <a16:creationId xmlns:a16="http://schemas.microsoft.com/office/drawing/2014/main" id="{869D746F-1316-5178-5BDF-357BF447F7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181600" cy="914400"/>
          </a:xfrm>
        </p:spPr>
        <p:txBody>
          <a:bodyPr/>
          <a:lstStyle/>
          <a:p>
            <a:pPr lvl="1" eaLnBrk="1" hangingPunct="1"/>
            <a:r>
              <a:rPr lang="en-US" altLang="en-US"/>
              <a:t>End up with tree: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B8C54BD-9997-FC3C-B1BD-8441604B7A5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28600" y="304800"/>
            <a:ext cx="8610600" cy="5943600"/>
          </a:xfrm>
          <a:solidFill>
            <a:srgbClr val="FFFFCC"/>
          </a:solidFill>
          <a:ln w="76200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/>
          <a:p>
            <a:pPr lvl="1" eaLnBrk="1" hangingPunct="1"/>
            <a:r>
              <a:rPr lang="en-US" altLang="en-US" sz="3600" b="1">
                <a:solidFill>
                  <a:schemeClr val="accent2"/>
                </a:solidFill>
              </a:rPr>
              <a:t>Important:</a:t>
            </a:r>
            <a:r>
              <a:rPr lang="en-US" altLang="en-US" sz="3600"/>
              <a:t> </a:t>
            </a:r>
          </a:p>
          <a:p>
            <a:pPr lvl="2" eaLnBrk="1" hangingPunct="1"/>
            <a:r>
              <a:rPr lang="en-US" altLang="en-US" sz="3200" u="sng"/>
              <a:t>Attributes are excluded</a:t>
            </a:r>
            <a:r>
              <a:rPr lang="en-US" altLang="en-US" sz="3200"/>
              <a:t> from consideration if they appear higher in the tree</a:t>
            </a:r>
          </a:p>
          <a:p>
            <a:pPr lvl="1" eaLnBrk="1" hangingPunct="1"/>
            <a:r>
              <a:rPr lang="en-US" altLang="en-US" sz="3600"/>
              <a:t>Process </a:t>
            </a:r>
            <a:r>
              <a:rPr lang="en-US" altLang="en-US" sz="3600" u="sng"/>
              <a:t>continues for each new leaf node</a:t>
            </a:r>
            <a:r>
              <a:rPr lang="en-US" altLang="en-US" sz="3600"/>
              <a:t> until:</a:t>
            </a:r>
          </a:p>
          <a:p>
            <a:pPr lvl="2" eaLnBrk="1" hangingPunct="1"/>
            <a:r>
              <a:rPr lang="en-US" altLang="en-US" sz="3200"/>
              <a:t>Every attribute </a:t>
            </a:r>
            <a:r>
              <a:rPr lang="en-US" altLang="en-US" sz="3200" u="sng"/>
              <a:t>has already been included</a:t>
            </a:r>
            <a:r>
              <a:rPr lang="en-US" altLang="en-US" sz="3200"/>
              <a:t> along path through the tree</a:t>
            </a:r>
          </a:p>
          <a:p>
            <a:pPr lvl="2" eaLnBrk="1" hangingPunct="1">
              <a:buFontTx/>
              <a:buNone/>
            </a:pPr>
            <a:r>
              <a:rPr lang="en-US" altLang="en-US" sz="3200" i="1"/>
              <a:t>or</a:t>
            </a:r>
            <a:endParaRPr lang="en-US" altLang="en-US" sz="3200"/>
          </a:p>
          <a:p>
            <a:pPr lvl="2" eaLnBrk="1" hangingPunct="1"/>
            <a:r>
              <a:rPr lang="en-US" altLang="en-US" sz="3200"/>
              <a:t>Training examples associated with this leaf </a:t>
            </a:r>
            <a:r>
              <a:rPr lang="en-US" altLang="en-US" sz="3200" u="sng"/>
              <a:t>all have same target attribute value.</a:t>
            </a:r>
          </a:p>
          <a:p>
            <a:pPr lvl="2" eaLnBrk="1" hangingPunct="1"/>
            <a:endParaRPr lang="en-US" altLang="en-US" sz="3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D4258C6F-0192-5A2A-04A0-78F4508D98C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686800" cy="6324600"/>
          </a:xfrm>
        </p:spPr>
        <p:txBody>
          <a:bodyPr>
            <a:normAutofit/>
          </a:bodyPr>
          <a:lstStyle/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b="1">
                <a:solidFill>
                  <a:schemeClr val="accent2"/>
                </a:solidFill>
              </a:rPr>
              <a:t>Note:</a:t>
            </a:r>
            <a:r>
              <a:rPr lang="en-US" sz="3200"/>
              <a:t> In this example </a:t>
            </a:r>
            <a:r>
              <a:rPr lang="en-US" sz="3200">
                <a:solidFill>
                  <a:srgbClr val="FF0000"/>
                </a:solidFill>
              </a:rPr>
              <a:t>data were perfect</a:t>
            </a:r>
            <a:r>
              <a:rPr lang="en-US" sz="3200"/>
              <a:t>.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sz="2800"/>
              <a:t>No contradictions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sz="2800"/>
              <a:t>Branches led to unambiguous </a:t>
            </a:r>
            <a:r>
              <a:rPr lang="en-US" sz="2800" i="1" u="sng"/>
              <a:t>Yes, No</a:t>
            </a:r>
            <a:r>
              <a:rPr lang="en-US" sz="2800" u="sng"/>
              <a:t> decisions</a:t>
            </a:r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sz="2800"/>
              <a:t>If there are contradictions </a:t>
            </a:r>
            <a:r>
              <a:rPr lang="en-US" sz="2800">
                <a:solidFill>
                  <a:srgbClr val="FF0000"/>
                </a:solidFill>
              </a:rPr>
              <a:t>take the majority vote</a:t>
            </a:r>
          </a:p>
          <a:p>
            <a:pPr marL="1097280" lvl="3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400"/>
              <a:t>This handles noisy data.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b="1">
                <a:solidFill>
                  <a:schemeClr val="accent2"/>
                </a:solidFill>
              </a:rPr>
              <a:t>Another note:</a:t>
            </a:r>
            <a:endParaRPr lang="en-US" sz="3200"/>
          </a:p>
          <a:p>
            <a:pPr marL="822960" lvl="2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sz="2800">
                <a:solidFill>
                  <a:srgbClr val="FF0000"/>
                </a:solidFill>
              </a:rPr>
              <a:t>Attributes are eliminated</a:t>
            </a:r>
            <a:r>
              <a:rPr lang="en-US" sz="2800"/>
              <a:t> when they are assigned to a node and </a:t>
            </a:r>
            <a:r>
              <a:rPr lang="en-US" sz="2800">
                <a:solidFill>
                  <a:srgbClr val="FF0000"/>
                </a:solidFill>
              </a:rPr>
              <a:t>never reconsidered</a:t>
            </a:r>
            <a:r>
              <a:rPr lang="en-US" sz="2800"/>
              <a:t>.</a:t>
            </a:r>
          </a:p>
          <a:p>
            <a:pPr marL="1097280" lvl="3" eaLnBrk="1" fontAlgn="auto" hangingPunct="1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400"/>
              <a:t>e.g. You would not go back and reconsider </a:t>
            </a:r>
            <a:r>
              <a:rPr lang="en-US" sz="2400" i="1"/>
              <a:t>Outlook </a:t>
            </a:r>
            <a:r>
              <a:rPr lang="en-US" sz="2400"/>
              <a:t>under </a:t>
            </a:r>
            <a:r>
              <a:rPr lang="en-US" sz="2400" i="1"/>
              <a:t>Humidity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b="1">
                <a:solidFill>
                  <a:schemeClr val="accent2"/>
                </a:solidFill>
              </a:rPr>
              <a:t>ID3 uses all of the training data at once</a:t>
            </a:r>
            <a:endParaRPr lang="en-US" sz="3200"/>
          </a:p>
          <a:p>
            <a:pPr marL="822960" lvl="2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sz="2800"/>
              <a:t>Contrast to Candidate-Elimination</a:t>
            </a:r>
          </a:p>
          <a:p>
            <a:pPr marL="822960" lvl="2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sz="2800"/>
              <a:t>Can </a:t>
            </a:r>
            <a:r>
              <a:rPr lang="en-US" sz="2800" u="sng">
                <a:effectLst>
                  <a:outerShdw blurRad="38100" dist="38100" dir="2700000" algn="tl">
                    <a:srgbClr val="C0C0C0"/>
                  </a:outerShdw>
                </a:effectLst>
              </a:rPr>
              <a:t>handle noisy data.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3200" u="sng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3">
            <a:extLst>
              <a:ext uri="{FF2B5EF4-FFF2-40B4-BE49-F238E27FC236}">
                <a16:creationId xmlns:a16="http://schemas.microsoft.com/office/drawing/2014/main" id="{DF9BCF08-FB6E-8842-A9FD-9B5C5095D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/>
              <a:t>About Entropy and Information Gain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B8205EE-69A1-72C3-A48D-B5EECF264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3352800"/>
            <a:ext cx="5105400" cy="533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EDE4053C-F543-CBC7-DEDF-A57B39401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33755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>
            <a:extLst>
              <a:ext uri="{FF2B5EF4-FFF2-40B4-BE49-F238E27FC236}">
                <a16:creationId xmlns:a16="http://schemas.microsoft.com/office/drawing/2014/main" id="{CFF0B081-35EC-3784-042B-73161745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"/>
            <a:ext cx="81788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>
            <a:extLst>
              <a:ext uri="{FF2B5EF4-FFF2-40B4-BE49-F238E27FC236}">
                <a16:creationId xmlns:a16="http://schemas.microsoft.com/office/drawing/2014/main" id="{3A71731F-FB3E-3EE4-4BB7-60926E398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04800"/>
            <a:ext cx="8181975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>
            <a:extLst>
              <a:ext uri="{FF2B5EF4-FFF2-40B4-BE49-F238E27FC236}">
                <a16:creationId xmlns:a16="http://schemas.microsoft.com/office/drawing/2014/main" id="{B2AE51B3-8183-6958-AA88-1C0184DFC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33755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080B529-09EC-ACD0-2CD0-F07B0CA540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8229600" cy="5410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 </a:t>
            </a:r>
          </a:p>
        </p:txBody>
      </p:sp>
      <p:pic>
        <p:nvPicPr>
          <p:cNvPr id="59395" name="Picture 4">
            <a:extLst>
              <a:ext uri="{FF2B5EF4-FFF2-40B4-BE49-F238E27FC236}">
                <a16:creationId xmlns:a16="http://schemas.microsoft.com/office/drawing/2014/main" id="{C504BA4F-50BA-17F9-0C82-6B59B0B85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0" t="16365" r="5884" b="15457"/>
          <a:stretch>
            <a:fillRect/>
          </a:stretch>
        </p:blipFill>
        <p:spPr bwMode="auto">
          <a:xfrm>
            <a:off x="0" y="0"/>
            <a:ext cx="7696200" cy="677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Text Box 5">
            <a:extLst>
              <a:ext uri="{FF2B5EF4-FFF2-40B4-BE49-F238E27FC236}">
                <a16:creationId xmlns:a16="http://schemas.microsoft.com/office/drawing/2014/main" id="{EAADF230-B502-D9F0-226A-AA977565C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100" y="0"/>
            <a:ext cx="2057400" cy="7016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4000" dirty="0">
                <a:latin typeface="+mj-lt"/>
              </a:rPr>
              <a:t>Entropy</a:t>
            </a:r>
          </a:p>
        </p:txBody>
      </p:sp>
      <p:sp>
        <p:nvSpPr>
          <p:cNvPr id="59397" name="Line 6">
            <a:extLst>
              <a:ext uri="{FF2B5EF4-FFF2-40B4-BE49-F238E27FC236}">
                <a16:creationId xmlns:a16="http://schemas.microsoft.com/office/drawing/2014/main" id="{A4D26088-83EA-F890-E3E0-CC19F1C81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04800"/>
            <a:ext cx="1524000" cy="45720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Text Box 7">
            <a:extLst>
              <a:ext uri="{FF2B5EF4-FFF2-40B4-BE49-F238E27FC236}">
                <a16:creationId xmlns:a16="http://schemas.microsoft.com/office/drawing/2014/main" id="{D779A152-AA75-767B-43BB-AB374E03D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057400" cy="83026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dirty="0">
                <a:latin typeface="+mj-lt"/>
              </a:rPr>
              <a:t>Largest entropy</a:t>
            </a:r>
          </a:p>
        </p:txBody>
      </p:sp>
      <p:sp>
        <p:nvSpPr>
          <p:cNvPr id="61447" name="Text Box 8">
            <a:extLst>
              <a:ext uri="{FF2B5EF4-FFF2-40B4-BE49-F238E27FC236}">
                <a16:creationId xmlns:a16="http://schemas.microsoft.com/office/drawing/2014/main" id="{5AE0DC50-2773-4D99-4F94-2DA442138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844925"/>
            <a:ext cx="1981200" cy="304641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dirty="0">
                <a:latin typeface="+mj-lt"/>
              </a:rPr>
              <a:t>Boolean functions with the same number of ones and zeros have largest entropy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268A851D-54D6-32C0-FE5A-52361FE9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Information Gain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32129BBA-4B21-E56B-D774-56DA0ECA9B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en-US" sz="2800"/>
              <a:t>Measures the expected reduction in entropy caused by partitioning</a:t>
            </a:r>
          </a:p>
          <a:p>
            <a:pPr eaLnBrk="1" hangingPunct="1"/>
            <a:r>
              <a:rPr lang="en-US" altLang="en-US" sz="2800"/>
              <a:t>Statistical quantity measuring </a:t>
            </a:r>
            <a:r>
              <a:rPr lang="en-US" altLang="en-US" sz="2800" u="sng">
                <a:solidFill>
                  <a:srgbClr val="FF6600"/>
                </a:solidFill>
              </a:rPr>
              <a:t>how well an attribute classifies the data.</a:t>
            </a:r>
          </a:p>
          <a:p>
            <a:pPr eaLnBrk="1" hangingPunct="1"/>
            <a:endParaRPr lang="en-US" altLang="en-US" sz="2800" u="sng">
              <a:solidFill>
                <a:srgbClr val="FF6600"/>
              </a:solidFill>
            </a:endParaRPr>
          </a:p>
          <a:p>
            <a:pPr eaLnBrk="1" hangingPunct="1"/>
            <a:endParaRPr lang="en-US" altLang="en-US" sz="2800" u="sng">
              <a:solidFill>
                <a:srgbClr val="FF6600"/>
              </a:solidFill>
            </a:endParaRPr>
          </a:p>
          <a:p>
            <a:pPr eaLnBrk="1" hangingPunct="1"/>
            <a:endParaRPr lang="en-US" altLang="en-US" sz="2800" u="sng">
              <a:solidFill>
                <a:srgbClr val="FF6600"/>
              </a:solidFill>
            </a:endParaRPr>
          </a:p>
          <a:p>
            <a:pPr eaLnBrk="1" hangingPunct="1"/>
            <a:endParaRPr lang="en-US" altLang="en-US" sz="2800" u="sng">
              <a:solidFill>
                <a:srgbClr val="FF6600"/>
              </a:solidFill>
            </a:endParaRPr>
          </a:p>
          <a:p>
            <a:pPr eaLnBrk="1" hangingPunct="1"/>
            <a:r>
              <a:rPr lang="en-US" altLang="en-US" sz="2800"/>
              <a:t>Maximum gain means minimum entropy for attribute Ai, meaning Ai has less randomness in classifying</a:t>
            </a:r>
          </a:p>
        </p:txBody>
      </p:sp>
      <p:grpSp>
        <p:nvGrpSpPr>
          <p:cNvPr id="61444" name="Group 9">
            <a:extLst>
              <a:ext uri="{FF2B5EF4-FFF2-40B4-BE49-F238E27FC236}">
                <a16:creationId xmlns:a16="http://schemas.microsoft.com/office/drawing/2014/main" id="{61D45EFE-5E6E-AE72-C455-5F3A217D5F1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810000"/>
            <a:ext cx="7848600" cy="1397000"/>
            <a:chOff x="228600" y="4600575"/>
            <a:chExt cx="8686800" cy="1900722"/>
          </a:xfrm>
        </p:grpSpPr>
        <p:graphicFrame>
          <p:nvGraphicFramePr>
            <p:cNvPr id="61445" name="Object 3">
              <a:extLst>
                <a:ext uri="{FF2B5EF4-FFF2-40B4-BE49-F238E27FC236}">
                  <a16:creationId xmlns:a16="http://schemas.microsoft.com/office/drawing/2014/main" id="{8F1C19D1-EA5E-64F5-91DF-0491E3E952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00" y="4600575"/>
            <a:ext cx="8686800" cy="1138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81300" imgH="368300" progId="Equation.2">
                    <p:embed/>
                  </p:oleObj>
                </mc:Choice>
                <mc:Fallback>
                  <p:oleObj name="Equation" r:id="rId2" imgW="2781300" imgH="368300" progId="Equation.2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4600575"/>
                          <a:ext cx="8686800" cy="1138238"/>
                        </a:xfrm>
                        <a:prstGeom prst="rect">
                          <a:avLst/>
                        </a:prstGeom>
                        <a:noFill/>
                        <a:ln w="762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46" name="Line 6">
              <a:extLst>
                <a:ext uri="{FF2B5EF4-FFF2-40B4-BE49-F238E27FC236}">
                  <a16:creationId xmlns:a16="http://schemas.microsoft.com/office/drawing/2014/main" id="{D1EFE36A-74D9-67D9-CEA6-B9222B4E7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0800" y="5286375"/>
              <a:ext cx="762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47" name="Text Box 7">
              <a:extLst>
                <a:ext uri="{FF2B5EF4-FFF2-40B4-BE49-F238E27FC236}">
                  <a16:creationId xmlns:a16="http://schemas.microsoft.com/office/drawing/2014/main" id="{C3FC8BCB-EF16-058B-8FA3-A1F8D735B9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5743575"/>
              <a:ext cx="1447800" cy="502625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/>
                <a:t>entropy</a:t>
              </a:r>
            </a:p>
          </p:txBody>
        </p:sp>
        <p:sp>
          <p:nvSpPr>
            <p:cNvPr id="61448" name="Text Box 8">
              <a:extLst>
                <a:ext uri="{FF2B5EF4-FFF2-40B4-BE49-F238E27FC236}">
                  <a16:creationId xmlns:a16="http://schemas.microsoft.com/office/drawing/2014/main" id="{97FA9F20-F72C-D774-E832-7FA50C0AD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599" y="5705475"/>
              <a:ext cx="1447800" cy="795822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/>
                <a:t>Entropy for value v</a:t>
              </a:r>
            </a:p>
          </p:txBody>
        </p:sp>
        <p:sp>
          <p:nvSpPr>
            <p:cNvPr id="61449" name="Line 9">
              <a:extLst>
                <a:ext uri="{FF2B5EF4-FFF2-40B4-BE49-F238E27FC236}">
                  <a16:creationId xmlns:a16="http://schemas.microsoft.com/office/drawing/2014/main" id="{9E503261-3A7C-6770-207E-D5AF3EDE7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1400" y="5286375"/>
              <a:ext cx="838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3">
            <a:extLst>
              <a:ext uri="{FF2B5EF4-FFF2-40B4-BE49-F238E27FC236}">
                <a16:creationId xmlns:a16="http://schemas.microsoft.com/office/drawing/2014/main" id="{8AFFE67F-98E0-DD53-24DD-30EDD1FD2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/>
              <a:t>Extensions of Decision Tree Learning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68F4BE73-909B-3627-9B62-855CADBC4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305800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Extensions</a:t>
            </a:r>
            <a:r>
              <a:rPr lang="en-US" dirty="0"/>
              <a:t> of the Decision Tree Learning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1BAE72D-7FD9-6173-EEA6-00AD51F87B4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28775"/>
            <a:ext cx="8229600" cy="4724400"/>
          </a:xfrm>
        </p:spPr>
        <p:txBody>
          <a:bodyPr/>
          <a:lstStyle/>
          <a:p>
            <a:pPr marL="225425" indent="-225425" eaLnBrk="1" hangingPunct="1">
              <a:defRPr/>
            </a:pPr>
            <a:r>
              <a:rPr lang="en-US" altLang="en-US" sz="2800" dirty="0">
                <a:solidFill>
                  <a:srgbClr val="FF0000"/>
                </a:solidFill>
                <a:latin typeface="+mj-lt"/>
              </a:rPr>
              <a:t>Noisy data</a:t>
            </a:r>
            <a:r>
              <a:rPr lang="en-US" altLang="en-US" sz="2800" dirty="0">
                <a:latin typeface="+mj-lt"/>
              </a:rPr>
              <a:t> and </a:t>
            </a:r>
            <a:r>
              <a:rPr lang="en-US" altLang="en-US" sz="2800" dirty="0">
                <a:solidFill>
                  <a:srgbClr val="FF0000"/>
                </a:solidFill>
                <a:latin typeface="+mj-lt"/>
              </a:rPr>
              <a:t>Overfitting</a:t>
            </a:r>
          </a:p>
          <a:p>
            <a:pPr marL="225425" indent="-225425" eaLnBrk="1" hangingPunct="1">
              <a:defRPr/>
            </a:pPr>
            <a:r>
              <a:rPr lang="en-US" altLang="en-US" sz="2800" dirty="0">
                <a:latin typeface="+mj-lt"/>
              </a:rPr>
              <a:t>Cross-Validation for </a:t>
            </a:r>
            <a:r>
              <a:rPr lang="en-US" altLang="en-US" sz="2800" dirty="0">
                <a:solidFill>
                  <a:srgbClr val="FF0000"/>
                </a:solidFill>
                <a:latin typeface="+mj-lt"/>
              </a:rPr>
              <a:t>Experimental Validation</a:t>
            </a:r>
            <a:r>
              <a:rPr lang="en-US" altLang="en-US" sz="2800" dirty="0">
                <a:latin typeface="+mj-lt"/>
              </a:rPr>
              <a:t> of Performance</a:t>
            </a:r>
          </a:p>
          <a:p>
            <a:pPr marL="225425" indent="-225425" eaLnBrk="1" hangingPunct="1">
              <a:defRPr/>
            </a:pPr>
            <a:r>
              <a:rPr lang="en-US" altLang="en-US" sz="2800" dirty="0">
                <a:solidFill>
                  <a:srgbClr val="FF0000"/>
                </a:solidFill>
                <a:latin typeface="+mj-lt"/>
              </a:rPr>
              <a:t>Pruning </a:t>
            </a:r>
            <a:r>
              <a:rPr lang="en-US" altLang="en-US" sz="2800" dirty="0">
                <a:latin typeface="+mj-lt"/>
              </a:rPr>
              <a:t>Decision Trees</a:t>
            </a:r>
          </a:p>
          <a:p>
            <a:pPr marL="225425" indent="-225425" eaLnBrk="1" hangingPunct="1">
              <a:defRPr/>
            </a:pPr>
            <a:r>
              <a:rPr lang="en-US" altLang="en-US" sz="2800" dirty="0">
                <a:solidFill>
                  <a:srgbClr val="FF0000"/>
                </a:solidFill>
                <a:latin typeface="+mj-lt"/>
              </a:rPr>
              <a:t>Real-valued</a:t>
            </a:r>
            <a:r>
              <a:rPr lang="en-US" altLang="en-US" sz="2800" dirty="0">
                <a:latin typeface="+mj-lt"/>
              </a:rPr>
              <a:t> data</a:t>
            </a:r>
          </a:p>
          <a:p>
            <a:pPr marL="225425" indent="-225425" eaLnBrk="1" hangingPunct="1">
              <a:defRPr/>
            </a:pPr>
            <a:r>
              <a:rPr lang="en-US" altLang="en-US" sz="2800" dirty="0">
                <a:latin typeface="+mj-lt"/>
              </a:rPr>
              <a:t>Using </a:t>
            </a:r>
            <a:r>
              <a:rPr lang="en-US" altLang="en-US" sz="2800" dirty="0">
                <a:solidFill>
                  <a:srgbClr val="FF6600"/>
                </a:solidFill>
                <a:latin typeface="+mj-lt"/>
              </a:rPr>
              <a:t>gain ratios</a:t>
            </a:r>
          </a:p>
          <a:p>
            <a:pPr marL="225425" indent="-225425" eaLnBrk="1" hangingPunct="1">
              <a:defRPr/>
            </a:pPr>
            <a:r>
              <a:rPr lang="en-US" altLang="en-US" sz="2800" dirty="0">
                <a:solidFill>
                  <a:srgbClr val="FF6600"/>
                </a:solidFill>
                <a:latin typeface="+mj-lt"/>
              </a:rPr>
              <a:t>Generation</a:t>
            </a:r>
            <a:r>
              <a:rPr lang="en-US" altLang="en-US" sz="2800" dirty="0">
                <a:latin typeface="+mj-lt"/>
              </a:rPr>
              <a:t> of rules</a:t>
            </a:r>
          </a:p>
          <a:p>
            <a:pPr marL="225425" indent="-225425" eaLnBrk="1" hangingPunct="1">
              <a:defRPr/>
            </a:pPr>
            <a:r>
              <a:rPr lang="en-US" altLang="en-US" sz="2800" dirty="0">
                <a:latin typeface="+mj-lt"/>
              </a:rPr>
              <a:t>Setting </a:t>
            </a:r>
            <a:r>
              <a:rPr lang="en-US" altLang="en-US" sz="2800" dirty="0">
                <a:solidFill>
                  <a:srgbClr val="FF6600"/>
                </a:solidFill>
                <a:latin typeface="+mj-lt"/>
              </a:rPr>
              <a:t>Parameters</a:t>
            </a:r>
          </a:p>
          <a:p>
            <a:pPr marL="225425" indent="-225425" eaLnBrk="1" hangingPunct="1">
              <a:defRPr/>
            </a:pPr>
            <a:r>
              <a:rPr lang="en-US" altLang="en-US" sz="2800" dirty="0">
                <a:solidFill>
                  <a:srgbClr val="FF6600"/>
                </a:solidFill>
                <a:latin typeface="+mj-lt"/>
              </a:rPr>
              <a:t>Incremental</a:t>
            </a:r>
            <a:r>
              <a:rPr lang="en-US" altLang="en-US" sz="2800" dirty="0">
                <a:latin typeface="+mj-lt"/>
              </a:rPr>
              <a:t> learning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241D49DE-10D1-CED5-6792-A89E5133E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Noisy data and Overfitting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A9274DB-FEEB-1521-D7EF-40E2A36898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990600"/>
            <a:ext cx="8686800" cy="3429000"/>
          </a:xfrm>
        </p:spPr>
        <p:txBody>
          <a:bodyPr/>
          <a:lstStyle/>
          <a:p>
            <a:pPr marL="230188" indent="-230188" eaLnBrk="1" hangingPunct="1"/>
            <a:r>
              <a:rPr lang="en-US" altLang="en-US" sz="2400"/>
              <a:t>Many kinds of "</a:t>
            </a:r>
            <a:r>
              <a:rPr lang="en-US" altLang="en-US" sz="2400">
                <a:solidFill>
                  <a:schemeClr val="accent2"/>
                </a:solidFill>
              </a:rPr>
              <a:t>noise</a:t>
            </a:r>
            <a:r>
              <a:rPr lang="en-US" altLang="en-US" sz="2400"/>
              <a:t>" that could occur in the examples:</a:t>
            </a:r>
          </a:p>
          <a:p>
            <a:pPr marL="568325" lvl="1" indent="-223838" eaLnBrk="1" hangingPunct="1"/>
            <a:r>
              <a:rPr lang="en-US" altLang="en-US" sz="2000"/>
              <a:t>Two examples have </a:t>
            </a:r>
            <a:r>
              <a:rPr lang="en-US" altLang="en-US" sz="2000">
                <a:solidFill>
                  <a:srgbClr val="FF0000"/>
                </a:solidFill>
              </a:rPr>
              <a:t>same attribute/value pairs</a:t>
            </a:r>
            <a:r>
              <a:rPr lang="en-US" altLang="en-US" sz="2000"/>
              <a:t>, but </a:t>
            </a:r>
            <a:r>
              <a:rPr lang="en-US" altLang="en-US" sz="2000">
                <a:solidFill>
                  <a:schemeClr val="accent2"/>
                </a:solidFill>
              </a:rPr>
              <a:t>different classifications</a:t>
            </a:r>
            <a:r>
              <a:rPr lang="en-US" altLang="en-US" sz="2000"/>
              <a:t> </a:t>
            </a:r>
          </a:p>
          <a:p>
            <a:pPr marL="568325" lvl="1" indent="-223838" eaLnBrk="1" hangingPunct="1"/>
            <a:r>
              <a:rPr lang="en-US" altLang="en-US" sz="2000"/>
              <a:t>Some values of attributes are incorrect because of:</a:t>
            </a:r>
          </a:p>
          <a:p>
            <a:pPr marL="976313" lvl="2" indent="-233363" eaLnBrk="1" hangingPunct="1"/>
            <a:r>
              <a:rPr lang="en-US" altLang="en-US" sz="1800"/>
              <a:t>Errors in the data acquisition process</a:t>
            </a:r>
          </a:p>
          <a:p>
            <a:pPr marL="976313" lvl="2" indent="-233363" eaLnBrk="1" hangingPunct="1"/>
            <a:r>
              <a:rPr lang="en-US" altLang="en-US" sz="1800"/>
              <a:t>Errors in the preprocessing phase </a:t>
            </a:r>
          </a:p>
          <a:p>
            <a:pPr marL="568325" lvl="1" indent="-223838" eaLnBrk="1" hangingPunct="1"/>
            <a:r>
              <a:rPr lang="en-US" altLang="en-US" sz="2000"/>
              <a:t>The classification is wrong (e.g., + instead of -) because of some error </a:t>
            </a:r>
          </a:p>
          <a:p>
            <a:pPr marL="230188" indent="-230188" eaLnBrk="1" hangingPunct="1"/>
            <a:r>
              <a:rPr lang="en-US" altLang="en-US" sz="2400"/>
              <a:t>Some </a:t>
            </a:r>
            <a:r>
              <a:rPr lang="en-US" altLang="en-US" sz="2400">
                <a:solidFill>
                  <a:schemeClr val="accent2"/>
                </a:solidFill>
              </a:rPr>
              <a:t>attributes are irrelevant</a:t>
            </a:r>
            <a:r>
              <a:rPr lang="en-US" altLang="en-US" sz="2400"/>
              <a:t> to the decision-making process,</a:t>
            </a:r>
          </a:p>
          <a:p>
            <a:pPr marL="568325" lvl="1" indent="-223838" eaLnBrk="1" hangingPunct="1"/>
            <a:r>
              <a:rPr lang="en-US" altLang="en-US" sz="2000"/>
              <a:t>e.g., color of a die is irrelevant to its outcome. </a:t>
            </a:r>
          </a:p>
          <a:p>
            <a:pPr marL="568325" lvl="1" indent="-223838" eaLnBrk="1" hangingPunct="1"/>
            <a:r>
              <a:rPr lang="en-US" altLang="en-US" sz="2000"/>
              <a:t>Irrelevant attributes can result in </a:t>
            </a:r>
            <a:r>
              <a:rPr lang="en-US" altLang="en-US" sz="2000">
                <a:solidFill>
                  <a:schemeClr val="accent2"/>
                </a:solidFill>
              </a:rPr>
              <a:t>overfitting</a:t>
            </a:r>
            <a:r>
              <a:rPr lang="en-US" altLang="en-US" sz="2000"/>
              <a:t> the training data.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E61BA492-3834-B7AC-3E0B-6ED955BE1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Noisy data and Overfitting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C627188-8432-EA8B-D3E4-0D76B3F6AD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990600"/>
            <a:ext cx="5029200" cy="2209800"/>
          </a:xfrm>
        </p:spPr>
        <p:txBody>
          <a:bodyPr/>
          <a:lstStyle/>
          <a:p>
            <a:pPr marL="230188" indent="-230188" eaLnBrk="1" hangingPunct="1"/>
            <a:r>
              <a:rPr lang="en-US" altLang="en-US" sz="2000"/>
              <a:t>Black dots are positive, others negative</a:t>
            </a:r>
          </a:p>
          <a:p>
            <a:pPr marL="230188" indent="-230188" eaLnBrk="1" hangingPunct="1"/>
            <a:r>
              <a:rPr lang="en-US" altLang="en-US" sz="2000"/>
              <a:t>Two lines represent two hypothesis</a:t>
            </a:r>
          </a:p>
          <a:p>
            <a:pPr marL="230188" indent="-230188" eaLnBrk="1" hangingPunct="1"/>
            <a:r>
              <a:rPr lang="en-US" altLang="en-US" sz="2000"/>
              <a:t>Thick line is complex hypothesis correctly classifies all data</a:t>
            </a:r>
          </a:p>
          <a:p>
            <a:pPr marL="230188" indent="-230188" eaLnBrk="1" hangingPunct="1"/>
            <a:r>
              <a:rPr lang="en-US" altLang="en-US" sz="2000"/>
              <a:t>Thin line is simple hypothesis but incorrectly classifies some data</a:t>
            </a:r>
          </a:p>
        </p:txBody>
      </p:sp>
      <p:pic>
        <p:nvPicPr>
          <p:cNvPr id="122882" name="Picture 2">
            <a:extLst>
              <a:ext uri="{FF2B5EF4-FFF2-40B4-BE49-F238E27FC236}">
                <a16:creationId xmlns:a16="http://schemas.microsoft.com/office/drawing/2014/main" id="{6940BB6D-E169-2F8E-D338-317A4574D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855788"/>
            <a:ext cx="3048000" cy="14573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7216C8BF-0E2F-BA1E-4FDF-B4ACC8586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246438"/>
            <a:ext cx="502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0188" indent="-230188" eaLnBrk="1" hangingPunct="1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/>
            </a:pPr>
            <a:r>
              <a:rPr lang="en-US" sz="2000" dirty="0">
                <a:latin typeface="+mn-lt"/>
              </a:rPr>
              <a:t>The simple hypothesis makes some errors but reasonably closely represents the trend in the data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7AE1D1A-A512-9C69-8B28-DA1C7DC3C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327525"/>
            <a:ext cx="502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0188" indent="-230188" eaLnBrk="1" hangingPunct="1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/>
            </a:pPr>
            <a:r>
              <a:rPr lang="en-US" sz="2000" dirty="0">
                <a:latin typeface="+mn-lt"/>
              </a:rPr>
              <a:t>The complex solution does not at all represent the full set of data</a:t>
            </a:r>
          </a:p>
        </p:txBody>
      </p:sp>
      <p:pic>
        <p:nvPicPr>
          <p:cNvPr id="122883" name="Picture 3">
            <a:extLst>
              <a:ext uri="{FF2B5EF4-FFF2-40B4-BE49-F238E27FC236}">
                <a16:creationId xmlns:a16="http://schemas.microsoft.com/office/drawing/2014/main" id="{C8F7DEA6-5B5E-8C9B-5A43-A05B0A35C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541713"/>
            <a:ext cx="3046413" cy="1447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D723D26-5728-FDAC-B92C-9C91E39F5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14925"/>
            <a:ext cx="4953000" cy="1341438"/>
          </a:xfrm>
          <a:prstGeom prst="rect">
            <a:avLst/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/>
          <a:p>
            <a:pPr marL="230188" indent="-230188" eaLnBrk="1" hangingPunct="1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/>
            </a:pPr>
            <a:r>
              <a:rPr lang="en-US" sz="2000" dirty="0">
                <a:latin typeface="+mn-lt"/>
              </a:rPr>
              <a:t>Fix overfitting /overlearning problem</a:t>
            </a:r>
          </a:p>
          <a:p>
            <a:pPr marL="568325" lvl="1" indent="-223838" eaLnBrk="1" hangingPunct="1">
              <a:spcBef>
                <a:spcPts val="375"/>
              </a:spcBef>
              <a:buClr>
                <a:schemeClr val="accent2"/>
              </a:buClr>
              <a:buSzPct val="85000"/>
              <a:buFont typeface="Wingdings 2" pitchFamily="18" charset="2"/>
              <a:buChar char=""/>
              <a:defRPr/>
            </a:pPr>
            <a:r>
              <a:rPr lang="en-US" sz="2000" dirty="0">
                <a:latin typeface="+mn-lt"/>
              </a:rPr>
              <a:t>By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cross validation</a:t>
            </a:r>
            <a:endParaRPr lang="en-US" sz="2000" dirty="0">
              <a:latin typeface="+mn-lt"/>
            </a:endParaRPr>
          </a:p>
          <a:p>
            <a:pPr marL="568325" lvl="1" indent="-223838" eaLnBrk="1" hangingPunct="1">
              <a:spcBef>
                <a:spcPts val="375"/>
              </a:spcBef>
              <a:buClr>
                <a:schemeClr val="accent2"/>
              </a:buClr>
              <a:buSzPct val="85000"/>
              <a:buFont typeface="Wingdings 2" pitchFamily="18" charset="2"/>
              <a:buChar char=""/>
              <a:defRPr/>
            </a:pPr>
            <a:r>
              <a:rPr lang="en-US" sz="2000" dirty="0">
                <a:latin typeface="+mn-lt"/>
              </a:rPr>
              <a:t>By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pruning </a:t>
            </a:r>
            <a:r>
              <a:rPr lang="en-US" sz="2000" dirty="0">
                <a:latin typeface="+mn-lt"/>
              </a:rPr>
              <a:t>lower nodes in the decision tree.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8A63043-1E9C-736B-2532-0A5844129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09600"/>
            <a:ext cx="78486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Cross Validation: An Evaluation Methodology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D700A5E9-A4C4-DFBB-429F-8774BFABBD2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473200"/>
            <a:ext cx="7467600" cy="4800600"/>
          </a:xfrm>
        </p:spPr>
        <p:txBody>
          <a:bodyPr/>
          <a:lstStyle/>
          <a:p>
            <a:pPr marL="230188" indent="-230188" eaLnBrk="1" hangingPunct="1">
              <a:lnSpc>
                <a:spcPct val="90000"/>
              </a:lnSpc>
            </a:pPr>
            <a:r>
              <a:rPr lang="en-US" altLang="en-US" sz="2000"/>
              <a:t>Standard methodology: </a:t>
            </a:r>
            <a:r>
              <a:rPr lang="en-US" altLang="en-US" sz="2000" b="1">
                <a:solidFill>
                  <a:schemeClr val="accent2"/>
                </a:solidFill>
              </a:rPr>
              <a:t>cross validation</a:t>
            </a:r>
          </a:p>
          <a:p>
            <a:pPr marL="571500" lvl="1" indent="-227013"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1. Collect a large set of examples (all with correct classifications!).</a:t>
            </a:r>
          </a:p>
          <a:p>
            <a:pPr marL="571500" lvl="1" indent="-227013"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2. Randomly divide collection into two disjoint sets:  </a:t>
            </a:r>
            <a:r>
              <a:rPr lang="en-US" altLang="en-US" sz="2000">
                <a:solidFill>
                  <a:schemeClr val="accent2"/>
                </a:solidFill>
              </a:rPr>
              <a:t>training </a:t>
            </a:r>
            <a:r>
              <a:rPr lang="en-US" altLang="en-US" sz="2000"/>
              <a:t>and </a:t>
            </a:r>
            <a:r>
              <a:rPr lang="en-US" altLang="en-US" sz="2000">
                <a:solidFill>
                  <a:schemeClr val="accent2"/>
                </a:solidFill>
              </a:rPr>
              <a:t>test</a:t>
            </a:r>
            <a:r>
              <a:rPr lang="en-US" altLang="en-US" sz="2000"/>
              <a:t>.</a:t>
            </a:r>
          </a:p>
          <a:p>
            <a:pPr marL="571500" lvl="1" indent="-227013"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3. Apply learning algorithm to training set giving hypothesis H</a:t>
            </a:r>
          </a:p>
          <a:p>
            <a:pPr marL="571500" lvl="1" indent="-227013"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4. Measure performance of H w.r.t. test set</a:t>
            </a:r>
          </a:p>
          <a:p>
            <a:pPr marL="230188" indent="-230188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</a:rPr>
              <a:t>Important:</a:t>
            </a:r>
            <a:r>
              <a:rPr lang="en-US" altLang="en-US" sz="2000"/>
              <a:t> keep the training and test sets disjoint!</a:t>
            </a:r>
          </a:p>
          <a:p>
            <a:pPr marL="230188" indent="-230188" eaLnBrk="1" hangingPunct="1">
              <a:lnSpc>
                <a:spcPct val="90000"/>
              </a:lnSpc>
            </a:pPr>
            <a:r>
              <a:rPr lang="en-US" altLang="en-US" sz="2000"/>
              <a:t>Learning is not to minimize training error (wrt data) but the error for test/cross-validation: </a:t>
            </a:r>
            <a:r>
              <a:rPr lang="en-US" altLang="en-US" sz="2000">
                <a:solidFill>
                  <a:schemeClr val="accent2"/>
                </a:solidFill>
              </a:rPr>
              <a:t>a way to fix overfitting</a:t>
            </a:r>
          </a:p>
          <a:p>
            <a:pPr marL="230188" indent="-230188" eaLnBrk="1" hangingPunct="1">
              <a:lnSpc>
                <a:spcPct val="90000"/>
              </a:lnSpc>
            </a:pPr>
            <a:r>
              <a:rPr lang="en-US" altLang="en-US" sz="2000"/>
              <a:t>To study the efficiency and robustness of an algorithm, repeat steps 2-4 for different training sets and sizes of training sets.</a:t>
            </a:r>
          </a:p>
          <a:p>
            <a:pPr marL="230188" indent="-230188" eaLnBrk="1" hangingPunct="1">
              <a:lnSpc>
                <a:spcPct val="90000"/>
              </a:lnSpc>
            </a:pPr>
            <a:r>
              <a:rPr lang="en-US" altLang="en-US" sz="2000"/>
              <a:t>If you improve your algorithm, start again with step 1 to avoid evolving the algorithm to work well on just this collection.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B298FACD-1018-EDF1-254D-2CAE306C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Pruning Decision Trees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9FA2ABE0-33DD-41F3-3185-9F1EF601D6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181600" cy="4572000"/>
          </a:xfrm>
        </p:spPr>
        <p:txBody>
          <a:bodyPr/>
          <a:lstStyle/>
          <a:p>
            <a:r>
              <a:rPr lang="en-US" altLang="en-US">
                <a:solidFill>
                  <a:srgbClr val="FF6600"/>
                </a:solidFill>
              </a:rPr>
              <a:t>Pre Pruning: </a:t>
            </a:r>
            <a:r>
              <a:rPr lang="en-US" altLang="en-US"/>
              <a:t>Stop growing before a fully grown tree</a:t>
            </a:r>
          </a:p>
          <a:p>
            <a:r>
              <a:rPr lang="en-US" altLang="en-US">
                <a:solidFill>
                  <a:srgbClr val="FF6600"/>
                </a:solidFill>
              </a:rPr>
              <a:t>Post Pruning : </a:t>
            </a:r>
            <a:r>
              <a:rPr lang="en-US" altLang="en-US"/>
              <a:t>Trim fully grown tree from the bottom</a:t>
            </a:r>
          </a:p>
          <a:p>
            <a:pPr lvl="1"/>
            <a:r>
              <a:rPr lang="en-US" altLang="en-US"/>
              <a:t>Reduced Error Pruning</a:t>
            </a:r>
          </a:p>
          <a:p>
            <a:pPr lvl="1"/>
            <a:r>
              <a:rPr lang="en-US" altLang="en-US"/>
              <a:t>Rule post pruning</a:t>
            </a:r>
          </a:p>
          <a:p>
            <a:endParaRPr lang="en-US" altLang="en-US"/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B5217AE8-791D-3C2C-88EB-675BAC48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676400"/>
            <a:ext cx="25812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AE2A3D21-A963-4CD9-F4D5-F113442F9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Real-valued data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AA1415B-D4F9-E905-46C1-94035BEF0B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524000"/>
            <a:ext cx="8382000" cy="4876800"/>
          </a:xfrm>
        </p:spPr>
        <p:txBody>
          <a:bodyPr/>
          <a:lstStyle/>
          <a:p>
            <a:pPr marL="225425" indent="-225425" eaLnBrk="1" hangingPunct="1"/>
            <a:r>
              <a:rPr lang="en-US" altLang="en-US" sz="2800" dirty="0"/>
              <a:t>Select a </a:t>
            </a:r>
            <a:r>
              <a:rPr lang="en-US" altLang="en-US" sz="2800" dirty="0">
                <a:solidFill>
                  <a:srgbClr val="FF0000"/>
                </a:solidFill>
              </a:rPr>
              <a:t>set of thresholds</a:t>
            </a:r>
            <a:r>
              <a:rPr lang="en-US" altLang="en-US" sz="2800" dirty="0"/>
              <a:t> defining intervals; </a:t>
            </a:r>
          </a:p>
          <a:p>
            <a:pPr marL="566738" lvl="1" indent="-227013" eaLnBrk="1" hangingPunct="1"/>
            <a:r>
              <a:rPr lang="en-US" altLang="en-US" dirty="0"/>
              <a:t>each interval becomes a discrete value of the attribute</a:t>
            </a:r>
          </a:p>
          <a:p>
            <a:pPr marL="225425" indent="-225425" eaLnBrk="1" hangingPunct="1"/>
            <a:r>
              <a:rPr lang="en-US" altLang="en-US" sz="2800" dirty="0"/>
              <a:t>We can use some </a:t>
            </a:r>
            <a:r>
              <a:rPr lang="en-US" altLang="en-US" sz="2800" dirty="0">
                <a:solidFill>
                  <a:srgbClr val="FF0000"/>
                </a:solidFill>
              </a:rPr>
              <a:t>simple heuristics</a:t>
            </a:r>
            <a:r>
              <a:rPr lang="en-US" altLang="en-US" sz="2800" dirty="0"/>
              <a:t> </a:t>
            </a:r>
          </a:p>
          <a:p>
            <a:pPr marL="566738" lvl="1" indent="-227013" eaLnBrk="1" hangingPunct="1"/>
            <a:r>
              <a:rPr lang="en-US" altLang="en-US" dirty="0"/>
              <a:t>always divide into quartiles</a:t>
            </a:r>
          </a:p>
          <a:p>
            <a:pPr marL="225425" indent="-225425" eaLnBrk="1" hangingPunct="1"/>
            <a:r>
              <a:rPr lang="en-US" altLang="en-US" sz="2800" dirty="0"/>
              <a:t>We can use </a:t>
            </a:r>
            <a:r>
              <a:rPr lang="en-US" altLang="en-US" sz="2800" dirty="0">
                <a:solidFill>
                  <a:srgbClr val="FF0000"/>
                </a:solidFill>
              </a:rPr>
              <a:t>domain knowledge</a:t>
            </a:r>
          </a:p>
          <a:p>
            <a:pPr marL="566738" lvl="1" indent="-227013" eaLnBrk="1" hangingPunct="1"/>
            <a:r>
              <a:rPr lang="en-US" altLang="en-US" dirty="0"/>
              <a:t>divide age into infant (0-2), toddler (3 - 5), and school aged (5-8)</a:t>
            </a:r>
          </a:p>
          <a:p>
            <a:pPr marL="225425" indent="-225425" eaLnBrk="1" hangingPunct="1"/>
            <a:r>
              <a:rPr lang="en-US" altLang="en-US" sz="2800" dirty="0"/>
              <a:t> or treat this </a:t>
            </a:r>
            <a:r>
              <a:rPr lang="en-US" altLang="en-US" sz="2800" dirty="0">
                <a:solidFill>
                  <a:srgbClr val="FF0000"/>
                </a:solidFill>
              </a:rPr>
              <a:t>as another learning</a:t>
            </a:r>
            <a:r>
              <a:rPr lang="en-US" altLang="en-US" sz="2800" dirty="0"/>
              <a:t> problem </a:t>
            </a:r>
          </a:p>
          <a:p>
            <a:pPr marL="566738" lvl="1" indent="-227013" eaLnBrk="1" hangingPunct="1"/>
            <a:r>
              <a:rPr lang="en-US" altLang="en-US" dirty="0"/>
              <a:t>try a </a:t>
            </a:r>
            <a:r>
              <a:rPr lang="en-US" altLang="en-US" u="sng" dirty="0"/>
              <a:t>range of ways to discretize</a:t>
            </a:r>
            <a:r>
              <a:rPr lang="en-US" altLang="en-US" dirty="0"/>
              <a:t> the continuous variable</a:t>
            </a:r>
          </a:p>
          <a:p>
            <a:pPr marL="566738" lvl="1" indent="-227013" eaLnBrk="1" hangingPunct="1"/>
            <a:r>
              <a:rPr lang="en-US" altLang="en-US" dirty="0"/>
              <a:t>Find out which yield “better results” with respect to some metric.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3">
            <a:extLst>
              <a:ext uri="{FF2B5EF4-FFF2-40B4-BE49-F238E27FC236}">
                <a16:creationId xmlns:a16="http://schemas.microsoft.com/office/drawing/2014/main" id="{D47A32E7-D99B-51A0-C5D6-68028AF99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/>
              <a:t>Performance Evaluation</a:t>
            </a:r>
          </a:p>
        </p:txBody>
      </p:sp>
      <p:sp>
        <p:nvSpPr>
          <p:cNvPr id="69635" name="Subtitle 3">
            <a:extLst>
              <a:ext uri="{FF2B5EF4-FFF2-40B4-BE49-F238E27FC236}">
                <a16:creationId xmlns:a16="http://schemas.microsoft.com/office/drawing/2014/main" id="{C1EAE29F-979F-85F3-96B2-A251D8B4A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Decision Tree Learning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7AC628D-F55C-6653-36E0-7A0B84992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543800" cy="874713"/>
          </a:xfrm>
        </p:spPr>
        <p:txBody>
          <a:bodyPr/>
          <a:lstStyle/>
          <a:p>
            <a:r>
              <a:rPr lang="en-US" altLang="en-US" sz="3200" b="1">
                <a:solidFill>
                  <a:schemeClr val="bg1"/>
                </a:solidFill>
              </a:rPr>
              <a:t>Metrics for Performance Evaluation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14424A5-9A16-38F3-C700-5B241C96E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33400"/>
            <a:ext cx="7543800" cy="4953000"/>
          </a:xfrm>
        </p:spPr>
        <p:txBody>
          <a:bodyPr/>
          <a:lstStyle/>
          <a:p>
            <a:r>
              <a:rPr lang="en-US" altLang="en-US" sz="2400"/>
              <a:t>Focus on the predictive capability of a model</a:t>
            </a:r>
          </a:p>
          <a:p>
            <a:pPr lvl="1"/>
            <a:r>
              <a:rPr lang="en-US" altLang="en-US" sz="2000"/>
              <a:t>Rather than how fast it takes to classify or build models, scalability, etc.</a:t>
            </a:r>
          </a:p>
          <a:p>
            <a:r>
              <a:rPr lang="en-US" altLang="en-US" sz="2400"/>
              <a:t>Confusion Matrix: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000"/>
              <a:t>TP: predicted to be in YES, and is actually in it</a:t>
            </a:r>
          </a:p>
          <a:p>
            <a:r>
              <a:rPr lang="en-US" altLang="en-US" sz="2000"/>
              <a:t>FP: predicted to be in YES, but is not actually in it</a:t>
            </a:r>
          </a:p>
          <a:p>
            <a:r>
              <a:rPr lang="en-US" altLang="en-US" sz="2000"/>
              <a:t>TN: predicted not to be in YES, and is not actually in it</a:t>
            </a:r>
          </a:p>
          <a:p>
            <a:r>
              <a:rPr lang="en-US" altLang="en-US" sz="2000"/>
              <a:t>FN: predicted not to be in YES, but is actually in it</a:t>
            </a:r>
          </a:p>
        </p:txBody>
      </p:sp>
      <p:graphicFrame>
        <p:nvGraphicFramePr>
          <p:cNvPr id="963588" name="Group 4">
            <a:extLst>
              <a:ext uri="{FF2B5EF4-FFF2-40B4-BE49-F238E27FC236}">
                <a16:creationId xmlns:a16="http://schemas.microsoft.com/office/drawing/2014/main" id="{170D3798-3B6B-BC02-D22B-1651C346F094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286000"/>
          <a:ext cx="5638800" cy="212248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3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PREDICTED CLASS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44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ACTUAL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CLASS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Class=Yes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Class=No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Class=Yes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TP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FN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Class=No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FP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TN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0683" name="Text Box 27">
            <a:extLst>
              <a:ext uri="{FF2B5EF4-FFF2-40B4-BE49-F238E27FC236}">
                <a16:creationId xmlns:a16="http://schemas.microsoft.com/office/drawing/2014/main" id="{79AF80F7-AA72-DAAB-5DF2-430A4F8A6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429000"/>
            <a:ext cx="23622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TP (true positive)</a:t>
            </a:r>
          </a:p>
          <a:p>
            <a:pPr>
              <a:spcBef>
                <a:spcPct val="50000"/>
              </a:spcBef>
            </a:pPr>
            <a:r>
              <a:rPr lang="en-US" altLang="en-US" sz="1800"/>
              <a:t>FN (false negative)</a:t>
            </a:r>
          </a:p>
          <a:p>
            <a:pPr>
              <a:spcBef>
                <a:spcPct val="50000"/>
              </a:spcBef>
            </a:pPr>
            <a:r>
              <a:rPr lang="en-US" altLang="en-US" sz="1800"/>
              <a:t>FP (false positive)</a:t>
            </a:r>
          </a:p>
          <a:p>
            <a:pPr>
              <a:spcBef>
                <a:spcPct val="50000"/>
              </a:spcBef>
            </a:pPr>
            <a:r>
              <a:rPr lang="en-US" altLang="en-US" sz="1800"/>
              <a:t>TN (true negative)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581C8126-63BE-09CB-C850-2C137B57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Metrics for Performance Evaluation…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65D508B9-CDAD-E38B-DA4B-A138F3280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4724400"/>
            <a:ext cx="7543800" cy="685800"/>
          </a:xfrm>
        </p:spPr>
        <p:txBody>
          <a:bodyPr/>
          <a:lstStyle/>
          <a:p>
            <a:r>
              <a:rPr lang="en-US" altLang="en-US"/>
              <a:t>Most widely-used metric:</a:t>
            </a:r>
          </a:p>
        </p:txBody>
      </p:sp>
      <p:graphicFrame>
        <p:nvGraphicFramePr>
          <p:cNvPr id="964612" name="Group 4">
            <a:extLst>
              <a:ext uri="{FF2B5EF4-FFF2-40B4-BE49-F238E27FC236}">
                <a16:creationId xmlns:a16="http://schemas.microsoft.com/office/drawing/2014/main" id="{06C2FE05-EC97-A846-5D50-B68EBFD0A0A8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6256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TP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FN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FP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TN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731" name="Object 27">
            <a:extLst>
              <a:ext uri="{FF2B5EF4-FFF2-40B4-BE49-F238E27FC236}">
                <a16:creationId xmlns:a16="http://schemas.microsoft.com/office/drawing/2014/main" id="{A35D3CD0-8BEC-F615-5A4A-7AE6B0F424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5410200"/>
          <a:ext cx="396081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393700" progId="Equation.DSMT4">
                  <p:embed/>
                </p:oleObj>
              </mc:Choice>
              <mc:Fallback>
                <p:oleObj name="Equation" r:id="rId3" imgW="2032000" imgH="393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10200"/>
                        <a:ext cx="3960813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3BBB2CD6-20E3-73EE-1B88-2435DEBFE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5562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eaLnBrk="1" hangingPunct="1">
              <a:defRPr/>
            </a:pP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Accuracy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FFBF9B6-3708-0323-2D42-A1F9FF5B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81000"/>
            <a:ext cx="7543800" cy="874713"/>
          </a:xfrm>
        </p:spPr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Limitation of Accuracy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44B798D2-AFAF-0740-9FF5-E60082226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7543800" cy="3505200"/>
          </a:xfrm>
        </p:spPr>
        <p:txBody>
          <a:bodyPr/>
          <a:lstStyle/>
          <a:p>
            <a:r>
              <a:rPr lang="en-US" altLang="en-US"/>
              <a:t>Consider a 2-class problem</a:t>
            </a:r>
          </a:p>
          <a:p>
            <a:pPr lvl="1"/>
            <a:r>
              <a:rPr lang="en-US" altLang="en-US"/>
              <a:t>Number of Class 0 examples = 9990</a:t>
            </a:r>
          </a:p>
          <a:p>
            <a:pPr lvl="1"/>
            <a:r>
              <a:rPr lang="en-US" altLang="en-US"/>
              <a:t>Number of Class 1 examples = 10</a:t>
            </a:r>
          </a:p>
          <a:p>
            <a:pPr lvl="1"/>
            <a:endParaRPr lang="en-US" altLang="en-US"/>
          </a:p>
          <a:p>
            <a:r>
              <a:rPr lang="en-US" altLang="en-US"/>
              <a:t>If model predicts everything to be class 0, accuracy is 9990/10000 = 99.9 %</a:t>
            </a:r>
          </a:p>
          <a:p>
            <a:pPr lvl="1"/>
            <a:r>
              <a:rPr lang="en-US" altLang="en-US"/>
              <a:t>Accuracy is misleading because model does not detect any class 1 example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13777F-6125-953D-C4C7-4B2A73950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96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eaLnBrk="1" hangingPunct="1">
              <a:defRPr/>
            </a:pP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Class imbalance problem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BE3B7FE-1A19-8EF5-8C7D-9E4150DF0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762000"/>
            <a:ext cx="8402638" cy="990600"/>
          </a:xfrm>
        </p:spPr>
        <p:txBody>
          <a:bodyPr/>
          <a:lstStyle/>
          <a:p>
            <a:r>
              <a:rPr lang="en-US" altLang="en-US" sz="3200"/>
              <a:t>Classifier Evaluation Metrics: </a:t>
            </a:r>
            <a:br>
              <a:rPr lang="en-US" altLang="en-US" sz="3200"/>
            </a:br>
            <a:r>
              <a:rPr lang="en-US" altLang="en-US" sz="3200"/>
              <a:t>Accuracy, Error Rate, Sensitivity and Specificity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E9028B2-62B9-44DD-24DE-D3EF8BD32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525" y="3505200"/>
            <a:ext cx="4724400" cy="2667000"/>
          </a:xfrm>
        </p:spPr>
        <p:txBody>
          <a:bodyPr/>
          <a:lstStyle/>
          <a:p>
            <a:r>
              <a:rPr lang="en-US" altLang="en-US" sz="2400" b="1"/>
              <a:t>Classifier Accuracy, </a:t>
            </a:r>
            <a:r>
              <a:rPr lang="en-US" altLang="en-US" sz="2400"/>
              <a:t>or recognition rate: percentage of test set tuples that are correctly classified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b="1"/>
              <a:t>Accuracy = (TP + TN)/All</a:t>
            </a:r>
            <a:endParaRPr lang="en-US" altLang="en-US"/>
          </a:p>
          <a:p>
            <a:r>
              <a:rPr lang="en-US" altLang="en-US" sz="2400" b="1"/>
              <a:t>Error rate:</a:t>
            </a:r>
            <a:r>
              <a:rPr lang="en-US" altLang="en-US" sz="2400"/>
              <a:t> </a:t>
            </a:r>
            <a:r>
              <a:rPr lang="en-US" altLang="en-US" sz="2400" i="1"/>
              <a:t>1 –</a:t>
            </a:r>
            <a:r>
              <a:rPr lang="en-US" altLang="en-US" sz="2400"/>
              <a:t> </a:t>
            </a:r>
            <a:r>
              <a:rPr lang="en-US" altLang="en-US" sz="2400" i="1"/>
              <a:t>accuracy</a:t>
            </a:r>
            <a:r>
              <a:rPr lang="en-US" altLang="en-US" sz="2400"/>
              <a:t>, or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b="1"/>
              <a:t>Error rate = (FP + FN)/All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8E2873D-B2A4-6F40-788B-BD5C83CAB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524000"/>
            <a:ext cx="3810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en-US" b="1" dirty="0">
                <a:latin typeface="+mn-lt"/>
              </a:rPr>
              <a:t>Sensitivity</a:t>
            </a:r>
            <a:r>
              <a:rPr lang="en-US" dirty="0">
                <a:latin typeface="+mn-lt"/>
              </a:rPr>
              <a:t>: True Positive recognition rate</a:t>
            </a:r>
          </a:p>
          <a:p>
            <a:pPr marL="685800" lvl="1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/>
            </a:pPr>
            <a:r>
              <a:rPr lang="en-US" b="1" dirty="0">
                <a:latin typeface="+mn-lt"/>
              </a:rPr>
              <a:t>Sensitivity = TP/P</a:t>
            </a: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en-US" b="1" dirty="0">
                <a:latin typeface="+mn-lt"/>
              </a:rPr>
              <a:t>Specificity</a:t>
            </a:r>
            <a:r>
              <a:rPr lang="en-US" dirty="0">
                <a:latin typeface="+mn-lt"/>
              </a:rPr>
              <a:t>: True Negative recognition rate</a:t>
            </a:r>
          </a:p>
          <a:p>
            <a:pPr marL="685800" lvl="1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/>
            </a:pPr>
            <a:r>
              <a:rPr lang="en-US" b="1" dirty="0">
                <a:latin typeface="+mn-lt"/>
              </a:rPr>
              <a:t>Specificity = TN/N</a:t>
            </a:r>
          </a:p>
        </p:txBody>
      </p:sp>
      <p:graphicFrame>
        <p:nvGraphicFramePr>
          <p:cNvPr id="62595" name="Group 131">
            <a:extLst>
              <a:ext uri="{FF2B5EF4-FFF2-40B4-BE49-F238E27FC236}">
                <a16:creationId xmlns:a16="http://schemas.microsoft.com/office/drawing/2014/main" id="{84182A64-979D-B56F-7049-25C92C8B25BF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1676400"/>
          <a:ext cx="1981200" cy="1466850"/>
        </p:xfrm>
        <a:graphic>
          <a:graphicData uri="http://schemas.openxmlformats.org/drawingml/2006/table">
            <a:tbl>
              <a:tblPr/>
              <a:tblGrid>
                <a:gridCol w="533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L="91449" marR="91449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Yes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No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Yes</a:t>
                      </a:r>
                    </a:p>
                  </a:txBody>
                  <a:tcPr marL="91449" marR="91449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No</a:t>
                      </a:r>
                    </a:p>
                  </a:txBody>
                  <a:tcPr marL="91449" marR="91449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91449" marR="91449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L="91449" marR="91449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832" name="Slide Number Placeholder 7">
            <a:extLst>
              <a:ext uri="{FF2B5EF4-FFF2-40B4-BE49-F238E27FC236}">
                <a16:creationId xmlns:a16="http://schemas.microsoft.com/office/drawing/2014/main" id="{DA55D875-B19A-80E5-941C-3659218EC5C2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3EC28868-C9B6-4868-8DF8-A47FF35D86FC}" type="slidenum">
              <a:rPr lang="en-US" altLang="en-US" sz="1200" b="1">
                <a:latin typeface="Calibri" panose="020F0502020204030204" pitchFamily="34" charset="0"/>
              </a:rPr>
              <a:pPr algn="r"/>
              <a:t>54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C67290C-4510-30CC-8C44-AC23631D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88" y="249238"/>
            <a:ext cx="8402637" cy="1066800"/>
          </a:xfrm>
        </p:spPr>
        <p:txBody>
          <a:bodyPr/>
          <a:lstStyle/>
          <a:p>
            <a:r>
              <a:rPr lang="en-US" altLang="en-US" sz="3200"/>
              <a:t>Classifier Evaluation Metrics: </a:t>
            </a:r>
            <a:br>
              <a:rPr lang="en-US" altLang="en-US" sz="3200"/>
            </a:br>
            <a:r>
              <a:rPr lang="en-US" altLang="en-US" sz="3200"/>
              <a:t>Precision and Recall, and F-measures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E6A2012C-EDD5-0156-376F-D3EC4CD3B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75" y="1371600"/>
            <a:ext cx="8429625" cy="3505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/>
              <a:t>Precision</a:t>
            </a:r>
            <a:r>
              <a:rPr lang="en-US" altLang="en-US" sz="2400"/>
              <a:t>: exactness – what % of tuples that the classifier labeled as positive are actually positive</a:t>
            </a:r>
          </a:p>
          <a:p>
            <a:pPr lvl="1">
              <a:lnSpc>
                <a:spcPct val="90000"/>
              </a:lnSpc>
            </a:pPr>
            <a:endParaRPr lang="en-US" altLang="en-US" b="1"/>
          </a:p>
          <a:p>
            <a:pPr>
              <a:lnSpc>
                <a:spcPct val="90000"/>
              </a:lnSpc>
            </a:pPr>
            <a:r>
              <a:rPr lang="en-US" altLang="en-US" sz="2400" b="1"/>
              <a:t>Recall: </a:t>
            </a:r>
            <a:r>
              <a:rPr lang="en-US" altLang="en-US" sz="2400"/>
              <a:t>completeness – what % of positive tuples did the classifier label as positive?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Perfect score is 1.0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en-US" altLang="en-US" sz="2400" b="1" i="1"/>
              <a:t>F</a:t>
            </a:r>
            <a:r>
              <a:rPr lang="en-US" altLang="en-US" sz="2400" b="1"/>
              <a:t>-measure (</a:t>
            </a:r>
            <a:r>
              <a:rPr lang="en-US" altLang="en-US" sz="2400" b="1" i="1"/>
              <a:t>F</a:t>
            </a:r>
            <a:r>
              <a:rPr lang="en-US" altLang="en-US" sz="2400" b="1" i="1" baseline="-25000"/>
              <a:t>1</a:t>
            </a:r>
            <a:r>
              <a:rPr lang="en-US" altLang="en-US" sz="2400" b="1"/>
              <a:t> score </a:t>
            </a:r>
            <a:r>
              <a:rPr lang="en-US" altLang="en-US" sz="2400"/>
              <a:t>or</a:t>
            </a:r>
            <a:r>
              <a:rPr lang="en-US" altLang="en-US" sz="2400" b="1"/>
              <a:t> </a:t>
            </a:r>
            <a:r>
              <a:rPr lang="en-US" altLang="en-US" sz="2400" b="1" i="1"/>
              <a:t>F</a:t>
            </a:r>
            <a:r>
              <a:rPr lang="en-US" altLang="en-US" sz="2400" b="1"/>
              <a:t>-score)</a:t>
            </a:r>
            <a:r>
              <a:rPr lang="en-US" altLang="en-US" sz="2400"/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harmonic mean of precision and recall,</a:t>
            </a:r>
            <a:endParaRPr lang="en-US" altLang="en-US" sz="2200" b="1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b="1" i="1"/>
          </a:p>
        </p:txBody>
      </p:sp>
      <p:sp>
        <p:nvSpPr>
          <p:cNvPr id="78852" name="Text Box 5">
            <a:extLst>
              <a:ext uri="{FF2B5EF4-FFF2-40B4-BE49-F238E27FC236}">
                <a16:creationId xmlns:a16="http://schemas.microsoft.com/office/drawing/2014/main" id="{9CAF3BF5-4456-BC3B-6C45-C10A35443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010150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2800"/>
          </a:p>
        </p:txBody>
      </p:sp>
      <p:graphicFrame>
        <p:nvGraphicFramePr>
          <p:cNvPr id="78853" name="Object 27">
            <a:extLst>
              <a:ext uri="{FF2B5EF4-FFF2-40B4-BE49-F238E27FC236}">
                <a16:creationId xmlns:a16="http://schemas.microsoft.com/office/drawing/2014/main" id="{7AB366FD-47D8-41E1-6E29-C8E0D27BD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3788" y="1866900"/>
          <a:ext cx="259873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500" imgH="393700" progId="Equation.DSMT4">
                  <p:embed/>
                </p:oleObj>
              </mc:Choice>
              <mc:Fallback>
                <p:oleObj name="Equation" r:id="rId3" imgW="1333500" imgH="393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1866900"/>
                        <a:ext cx="259873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3">
            <a:extLst>
              <a:ext uri="{FF2B5EF4-FFF2-40B4-BE49-F238E27FC236}">
                <a16:creationId xmlns:a16="http://schemas.microsoft.com/office/drawing/2014/main" id="{A5411DD9-CFEE-469D-05BB-824E1F52A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3788" y="2982913"/>
          <a:ext cx="22034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29810" imgH="393529" progId="Equation.DSMT4">
                  <p:embed/>
                </p:oleObj>
              </mc:Choice>
              <mc:Fallback>
                <p:oleObj name="Equation" r:id="rId5" imgW="1129810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2982913"/>
                        <a:ext cx="22034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Object 4">
            <a:extLst>
              <a:ext uri="{FF2B5EF4-FFF2-40B4-BE49-F238E27FC236}">
                <a16:creationId xmlns:a16="http://schemas.microsoft.com/office/drawing/2014/main" id="{CCB6C746-8150-C998-B6B2-9E97C0D9FA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4684713"/>
          <a:ext cx="31432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12900" imgH="419100" progId="Equation.DSMT4">
                  <p:embed/>
                </p:oleObj>
              </mc:Choice>
              <mc:Fallback>
                <p:oleObj name="Equation" r:id="rId7" imgW="16129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684713"/>
                        <a:ext cx="31432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6" name="Rectangle 4">
            <a:extLst>
              <a:ext uri="{FF2B5EF4-FFF2-40B4-BE49-F238E27FC236}">
                <a16:creationId xmlns:a16="http://schemas.microsoft.com/office/drawing/2014/main" id="{2B0A4840-249D-E10A-000B-50D968FFA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562600"/>
            <a:ext cx="541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1600"/>
              <a:t>Precision is biased towards </a:t>
            </a:r>
            <a:r>
              <a:rPr lang="en-US" altLang="en-US" sz="1600">
                <a:solidFill>
                  <a:srgbClr val="FF6600"/>
                </a:solidFill>
              </a:rPr>
              <a:t>TP &amp; FP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1600"/>
              <a:t>Recall is biased towards </a:t>
            </a:r>
            <a:r>
              <a:rPr lang="en-US" altLang="en-US" sz="1600">
                <a:solidFill>
                  <a:srgbClr val="FF6600"/>
                </a:solidFill>
              </a:rPr>
              <a:t>TP &amp; FN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1600"/>
              <a:t>F-measure is biased towards all except </a:t>
            </a:r>
            <a:r>
              <a:rPr lang="en-US" altLang="en-US" sz="1600">
                <a:solidFill>
                  <a:srgbClr val="FF6600"/>
                </a:solidFill>
              </a:rPr>
              <a:t>TN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D3B2004A-A821-0053-EBE1-2D3F1A96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63" y="228600"/>
            <a:ext cx="8402637" cy="1066800"/>
          </a:xfrm>
        </p:spPr>
        <p:txBody>
          <a:bodyPr/>
          <a:lstStyle/>
          <a:p>
            <a:r>
              <a:rPr lang="en-US" altLang="en-US" sz="3200"/>
              <a:t>Classifier Evaluation Metrics: </a:t>
            </a:r>
            <a:br>
              <a:rPr lang="en-US" altLang="en-US" sz="3200"/>
            </a:br>
            <a:r>
              <a:rPr lang="en-US" altLang="en-US" sz="3200"/>
              <a:t>Matthews correlation coefficient (MCC)</a:t>
            </a: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BF11727-CE43-AC76-F39B-200CE6BAF2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524000"/>
            <a:ext cx="8534400" cy="3962400"/>
          </a:xfrm>
        </p:spPr>
        <p:txBody>
          <a:bodyPr/>
          <a:lstStyle/>
          <a:p>
            <a:pPr lvl="1" eaLnBrk="1" hangingPunct="1"/>
            <a:r>
              <a:rPr lang="en-US" altLang="en-US"/>
              <a:t>MCC takes into account true and false positives and negatives.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Generally regarded as a balanced measure which can be used even if the classes are of very different sizes.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It returns a value between −1 and +1. </a:t>
            </a:r>
          </a:p>
          <a:p>
            <a:pPr lvl="2" eaLnBrk="1" hangingPunct="1"/>
            <a:r>
              <a:rPr lang="en-US" altLang="en-US"/>
              <a:t>1 represents a perfect prediction</a:t>
            </a:r>
          </a:p>
          <a:p>
            <a:pPr lvl="2" eaLnBrk="1" hangingPunct="1"/>
            <a:r>
              <a:rPr lang="en-US" altLang="en-US"/>
              <a:t>0 no better than random prediction </a:t>
            </a:r>
          </a:p>
          <a:p>
            <a:pPr lvl="2" eaLnBrk="1" hangingPunct="1"/>
            <a:r>
              <a:rPr lang="en-US" altLang="en-US"/>
              <a:t>−1 indicates total disagreement between prediction and observation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58D44BA-4AB0-13D6-2E19-A724F156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63" y="228600"/>
            <a:ext cx="8402637" cy="1066800"/>
          </a:xfrm>
        </p:spPr>
        <p:txBody>
          <a:bodyPr/>
          <a:lstStyle/>
          <a:p>
            <a:r>
              <a:rPr lang="en-US" altLang="en-US" sz="3200"/>
              <a:t>Classifier Evaluation Metrics: </a:t>
            </a:r>
            <a:br>
              <a:rPr lang="en-US" altLang="en-US" sz="3200"/>
            </a:br>
            <a:r>
              <a:rPr lang="en-US" altLang="en-US" sz="3200"/>
              <a:t>Matthews correlation coefficient (MCC)</a:t>
            </a:r>
          </a:p>
        </p:txBody>
      </p:sp>
      <p:graphicFrame>
        <p:nvGraphicFramePr>
          <p:cNvPr id="81923" name="Object 2">
            <a:extLst>
              <a:ext uri="{FF2B5EF4-FFF2-40B4-BE49-F238E27FC236}">
                <a16:creationId xmlns:a16="http://schemas.microsoft.com/office/drawing/2014/main" id="{4FF48CA3-EE93-DA92-F70A-039523758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950" y="1676400"/>
          <a:ext cx="8350250" cy="397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1917700" progId="Equation.DSMT4">
                  <p:embed/>
                </p:oleObj>
              </mc:Choice>
              <mc:Fallback>
                <p:oleObj name="Equation" r:id="rId2" imgW="3200400" imgH="1917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1676400"/>
                        <a:ext cx="8350250" cy="397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7B92BDE7-1A33-A300-0D17-BDA855FA9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82947" name="Content Placeholder 2">
            <a:extLst>
              <a:ext uri="{FF2B5EF4-FFF2-40B4-BE49-F238E27FC236}">
                <a16:creationId xmlns:a16="http://schemas.microsoft.com/office/drawing/2014/main" id="{6AB98670-814B-9DAF-2615-3F2C8E7E43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7772400" cy="2209800"/>
          </a:xfrm>
        </p:spPr>
        <p:txBody>
          <a:bodyPr/>
          <a:lstStyle/>
          <a:p>
            <a:pPr eaLnBrk="1" hangingPunct="1"/>
            <a:r>
              <a:rPr lang="en-US" altLang="en-US"/>
              <a:t>Chapter 18 of </a:t>
            </a:r>
            <a:r>
              <a:rPr lang="en-GB" altLang="en-US" sz="2800"/>
              <a:t>“Artificial Intelligence: A modern approach” by Stuart Russell, Peter Norvig.</a:t>
            </a:r>
          </a:p>
          <a:p>
            <a:pPr eaLnBrk="1" hangingPunct="1"/>
            <a:r>
              <a:rPr lang="en-US" altLang="en-US" sz="2800"/>
              <a:t>Chapter 10 of </a:t>
            </a:r>
            <a:r>
              <a:rPr lang="en-GB" altLang="en-US" sz="2800"/>
              <a:t>“AI Illuminated” by Ben Coppin.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MU">
      <a:majorFont>
        <a:latin typeface="CMU Serif"/>
        <a:ea typeface=""/>
        <a:cs typeface=""/>
      </a:majorFont>
      <a:minorFont>
        <a:latin typeface="CMU Serif"/>
        <a:ea typeface=""/>
        <a:cs typeface="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54127</TotalTime>
  <Words>2853</Words>
  <Application>Microsoft Office PowerPoint</Application>
  <PresentationFormat>On-screen Show (4:3)</PresentationFormat>
  <Paragraphs>501</Paragraphs>
  <Slides>58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72" baseType="lpstr">
      <vt:lpstr>Arial</vt:lpstr>
      <vt:lpstr>Arial Black</vt:lpstr>
      <vt:lpstr>Arial Narrow</vt:lpstr>
      <vt:lpstr>Calibri</vt:lpstr>
      <vt:lpstr>CMU Serif</vt:lpstr>
      <vt:lpstr>Franklin Gothic Book</vt:lpstr>
      <vt:lpstr>Monotype Sorts</vt:lpstr>
      <vt:lpstr>Symbol</vt:lpstr>
      <vt:lpstr>Times New Roman</vt:lpstr>
      <vt:lpstr>Wingdings</vt:lpstr>
      <vt:lpstr>Wingdings 2</vt:lpstr>
      <vt:lpstr>Equity</vt:lpstr>
      <vt:lpstr>Bitmap Image</vt:lpstr>
      <vt:lpstr>Equation</vt:lpstr>
      <vt:lpstr>Machine Learning</vt:lpstr>
      <vt:lpstr>What is Machine Learning?</vt:lpstr>
      <vt:lpstr>For which tasks ?</vt:lpstr>
      <vt:lpstr>For which applications ?</vt:lpstr>
      <vt:lpstr>Banking / Telecom / Retail</vt:lpstr>
      <vt:lpstr>Biomedical / Biometrics</vt:lpstr>
      <vt:lpstr>Computer / Internet</vt:lpstr>
      <vt:lpstr>ML in a Nutshell</vt:lpstr>
      <vt:lpstr>Representation</vt:lpstr>
      <vt:lpstr>Evaluation</vt:lpstr>
      <vt:lpstr>Optimization</vt:lpstr>
      <vt:lpstr>Types of Learning</vt:lpstr>
      <vt:lpstr>Supervised Learning</vt:lpstr>
      <vt:lpstr>Supervised Learning</vt:lpstr>
      <vt:lpstr>Learning From Examples</vt:lpstr>
      <vt:lpstr>What We’ll Cover</vt:lpstr>
      <vt:lpstr>Classification: Decision Trees</vt:lpstr>
      <vt:lpstr>Classification: Neural Nets</vt:lpstr>
      <vt:lpstr>Decision Tree Learning</vt:lpstr>
      <vt:lpstr>Choosing the Best Attribute</vt:lpstr>
      <vt:lpstr>PowerPoint Presentation</vt:lpstr>
      <vt:lpstr>PowerPoint Presentation</vt:lpstr>
      <vt:lpstr>Information Theory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About Entropy and Information Gain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Information Gain</vt:lpstr>
      <vt:lpstr>Extensions of Decision Tree Learning</vt:lpstr>
      <vt:lpstr>Extensions of the Decision Tree Learning</vt:lpstr>
      <vt:lpstr>Noisy data and Overfitting</vt:lpstr>
      <vt:lpstr>Noisy data and Overfitting</vt:lpstr>
      <vt:lpstr>Cross Validation: An Evaluation Methodology</vt:lpstr>
      <vt:lpstr>Pruning Decision Trees</vt:lpstr>
      <vt:lpstr>Real-valued data</vt:lpstr>
      <vt:lpstr>Performance Evaluation</vt:lpstr>
      <vt:lpstr>Metrics for Performance Evaluation</vt:lpstr>
      <vt:lpstr>Metrics for Performance Evaluation…</vt:lpstr>
      <vt:lpstr>Limitation of Accuracy</vt:lpstr>
      <vt:lpstr>Classifier Evaluation Metrics:  Accuracy, Error Rate, Sensitivity and Specificity</vt:lpstr>
      <vt:lpstr>Classifier Evaluation Metrics:  Precision and Recall, and F-measures</vt:lpstr>
      <vt:lpstr>Classifier Evaluation Metrics:  Matthews correlation coefficient (MCC)</vt:lpstr>
      <vt:lpstr>Classifier Evaluation Metrics:  Matthews correlation coefficient (MCC)</vt:lpstr>
      <vt:lpstr>References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 </dc:creator>
  <cp:lastModifiedBy>Mohammad M Alam</cp:lastModifiedBy>
  <cp:revision>852</cp:revision>
  <cp:lastPrinted>1999-02-22T18:27:14Z</cp:lastPrinted>
  <dcterms:created xsi:type="dcterms:W3CDTF">1999-02-14T18:41:17Z</dcterms:created>
  <dcterms:modified xsi:type="dcterms:W3CDTF">2025-04-24T05:14:09Z</dcterms:modified>
</cp:coreProperties>
</file>