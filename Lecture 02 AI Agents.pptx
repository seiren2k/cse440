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8" r:id="rId1"/>
  </p:sldMasterIdLst>
  <p:notesMasterIdLst>
    <p:notesMasterId r:id="rId32"/>
  </p:notesMasterIdLst>
  <p:sldIdLst>
    <p:sldId id="256"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CC"/>
    <a:srgbClr val="0099FF"/>
    <a:srgbClr val="66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123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15E3D8-DDB0-4D1F-BC26-95A94F663B19}" type="datetimeFigureOut">
              <a:rPr lang="en-US" smtClean="0"/>
              <a:t>2/28/2025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03963F-15E3-4F9A-906F-AFE85BBD6231}" type="slidenum">
              <a:rPr lang="en-US" smtClean="0"/>
              <a:t>‹#›</a:t>
            </a:fld>
            <a:endParaRPr lang="en-US"/>
          </a:p>
        </p:txBody>
      </p:sp>
    </p:spTree>
    <p:extLst>
      <p:ext uri="{BB962C8B-B14F-4D97-AF65-F5344CB8AC3E}">
        <p14:creationId xmlns:p14="http://schemas.microsoft.com/office/powerpoint/2010/main" val="1791078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03963F-15E3-4F9A-906F-AFE85BBD6231}" type="slidenum">
              <a:rPr lang="en-US" smtClean="0"/>
              <a:t>9</a:t>
            </a:fld>
            <a:endParaRPr lang="en-US"/>
          </a:p>
        </p:txBody>
      </p:sp>
    </p:spTree>
    <p:extLst>
      <p:ext uri="{BB962C8B-B14F-4D97-AF65-F5344CB8AC3E}">
        <p14:creationId xmlns:p14="http://schemas.microsoft.com/office/powerpoint/2010/main" val="23038667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C5809-5736-7018-6236-860DD8F661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E4058A-DA54-8CCD-B6C2-10AD9C8827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FEC63A-C6FB-5001-2B55-64B8794B2C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BEE089-D68E-AE5B-FC30-0F998BBEA971}"/>
              </a:ext>
            </a:extLst>
          </p:cNvPr>
          <p:cNvSpPr>
            <a:spLocks noGrp="1"/>
          </p:cNvSpPr>
          <p:nvPr>
            <p:ph type="sldNum" sz="quarter" idx="5"/>
          </p:nvPr>
        </p:nvSpPr>
        <p:spPr/>
        <p:txBody>
          <a:bodyPr/>
          <a:lstStyle/>
          <a:p>
            <a:fld id="{8C03963F-15E3-4F9A-906F-AFE85BBD6231}" type="slidenum">
              <a:rPr lang="en-US" smtClean="0"/>
              <a:t>10</a:t>
            </a:fld>
            <a:endParaRPr lang="en-US"/>
          </a:p>
        </p:txBody>
      </p:sp>
    </p:spTree>
    <p:extLst>
      <p:ext uri="{BB962C8B-B14F-4D97-AF65-F5344CB8AC3E}">
        <p14:creationId xmlns:p14="http://schemas.microsoft.com/office/powerpoint/2010/main" val="22497849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B2667-C749-8A47-1630-A9927620AE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7BF498-DD49-36D3-FFA1-39C34EA5B1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52A20E-5FF4-9DCB-ABC2-94CC7B388B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C50647-207E-9B24-1F0C-19FC620CA3E2}"/>
              </a:ext>
            </a:extLst>
          </p:cNvPr>
          <p:cNvSpPr>
            <a:spLocks noGrp="1"/>
          </p:cNvSpPr>
          <p:nvPr>
            <p:ph type="sldNum" sz="quarter" idx="5"/>
          </p:nvPr>
        </p:nvSpPr>
        <p:spPr/>
        <p:txBody>
          <a:bodyPr/>
          <a:lstStyle/>
          <a:p>
            <a:fld id="{8C03963F-15E3-4F9A-906F-AFE85BBD6231}" type="slidenum">
              <a:rPr lang="en-US" smtClean="0"/>
              <a:t>11</a:t>
            </a:fld>
            <a:endParaRPr lang="en-US"/>
          </a:p>
        </p:txBody>
      </p:sp>
    </p:spTree>
    <p:extLst>
      <p:ext uri="{BB962C8B-B14F-4D97-AF65-F5344CB8AC3E}">
        <p14:creationId xmlns:p14="http://schemas.microsoft.com/office/powerpoint/2010/main" val="34716529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711F9-3A00-1FC4-1BC3-9FF6C38B96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5EFE84-14C5-D29D-C592-178C67EB3D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44D5C4-872E-F61D-9629-6BBFD59C9D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0207A2-DDA3-487F-F403-12A2F8F9AA35}"/>
              </a:ext>
            </a:extLst>
          </p:cNvPr>
          <p:cNvSpPr>
            <a:spLocks noGrp="1"/>
          </p:cNvSpPr>
          <p:nvPr>
            <p:ph type="sldNum" sz="quarter" idx="5"/>
          </p:nvPr>
        </p:nvSpPr>
        <p:spPr/>
        <p:txBody>
          <a:bodyPr/>
          <a:lstStyle/>
          <a:p>
            <a:fld id="{8C03963F-15E3-4F9A-906F-AFE85BBD6231}" type="slidenum">
              <a:rPr lang="en-US" smtClean="0"/>
              <a:t>12</a:t>
            </a:fld>
            <a:endParaRPr lang="en-US"/>
          </a:p>
        </p:txBody>
      </p:sp>
    </p:spTree>
    <p:extLst>
      <p:ext uri="{BB962C8B-B14F-4D97-AF65-F5344CB8AC3E}">
        <p14:creationId xmlns:p14="http://schemas.microsoft.com/office/powerpoint/2010/main" val="13759537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FA7D0-6C5C-3509-AF47-84C997236B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56E071-0109-04A2-8EFB-21A25CB7FC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37F884-0A6E-9D58-F931-E555937E2F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D47D6F-A38E-76EC-4226-1D57BD1C9EC2}"/>
              </a:ext>
            </a:extLst>
          </p:cNvPr>
          <p:cNvSpPr>
            <a:spLocks noGrp="1"/>
          </p:cNvSpPr>
          <p:nvPr>
            <p:ph type="sldNum" sz="quarter" idx="5"/>
          </p:nvPr>
        </p:nvSpPr>
        <p:spPr/>
        <p:txBody>
          <a:bodyPr/>
          <a:lstStyle/>
          <a:p>
            <a:fld id="{8C03963F-15E3-4F9A-906F-AFE85BBD6231}" type="slidenum">
              <a:rPr lang="en-US" smtClean="0"/>
              <a:t>13</a:t>
            </a:fld>
            <a:endParaRPr lang="en-US"/>
          </a:p>
        </p:txBody>
      </p:sp>
    </p:spTree>
    <p:extLst>
      <p:ext uri="{BB962C8B-B14F-4D97-AF65-F5344CB8AC3E}">
        <p14:creationId xmlns:p14="http://schemas.microsoft.com/office/powerpoint/2010/main" val="26687783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45677-5CF9-52FE-BE4B-A0FA876A72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62E845-E262-B1EB-9E74-DF08016DB1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DA1DF6-0470-7F5E-EEB7-FA60801D04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6FB3CE-D8D2-EE4B-CD5F-AFB1A6620368}"/>
              </a:ext>
            </a:extLst>
          </p:cNvPr>
          <p:cNvSpPr>
            <a:spLocks noGrp="1"/>
          </p:cNvSpPr>
          <p:nvPr>
            <p:ph type="sldNum" sz="quarter" idx="5"/>
          </p:nvPr>
        </p:nvSpPr>
        <p:spPr/>
        <p:txBody>
          <a:bodyPr/>
          <a:lstStyle/>
          <a:p>
            <a:fld id="{8C03963F-15E3-4F9A-906F-AFE85BBD6231}" type="slidenum">
              <a:rPr lang="en-US" smtClean="0"/>
              <a:t>14</a:t>
            </a:fld>
            <a:endParaRPr lang="en-US"/>
          </a:p>
        </p:txBody>
      </p:sp>
    </p:spTree>
    <p:extLst>
      <p:ext uri="{BB962C8B-B14F-4D97-AF65-F5344CB8AC3E}">
        <p14:creationId xmlns:p14="http://schemas.microsoft.com/office/powerpoint/2010/main" val="29572188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7E7B6-435C-590B-F891-FFD2B205E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5147B-2E38-0B60-CCE0-244BD5AC8C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D90453-8AF6-A4D1-BE71-A36CC99A5F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6FCA49-242F-FD68-FE66-C756C6F5158A}"/>
              </a:ext>
            </a:extLst>
          </p:cNvPr>
          <p:cNvSpPr>
            <a:spLocks noGrp="1"/>
          </p:cNvSpPr>
          <p:nvPr>
            <p:ph type="sldNum" sz="quarter" idx="5"/>
          </p:nvPr>
        </p:nvSpPr>
        <p:spPr/>
        <p:txBody>
          <a:bodyPr/>
          <a:lstStyle/>
          <a:p>
            <a:fld id="{8C03963F-15E3-4F9A-906F-AFE85BBD6231}" type="slidenum">
              <a:rPr lang="en-US" smtClean="0"/>
              <a:t>15</a:t>
            </a:fld>
            <a:endParaRPr lang="en-US"/>
          </a:p>
        </p:txBody>
      </p:sp>
    </p:spTree>
    <p:extLst>
      <p:ext uri="{BB962C8B-B14F-4D97-AF65-F5344CB8AC3E}">
        <p14:creationId xmlns:p14="http://schemas.microsoft.com/office/powerpoint/2010/main" val="41621816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28877-0F52-2309-9466-65645FB423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8E4AF5-5C5B-284B-0463-2EEB6BA0C1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49DCBC-71BE-35C2-38A3-923223DB20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2238ED-5886-961B-CB27-310D4EF42C43}"/>
              </a:ext>
            </a:extLst>
          </p:cNvPr>
          <p:cNvSpPr>
            <a:spLocks noGrp="1"/>
          </p:cNvSpPr>
          <p:nvPr>
            <p:ph type="sldNum" sz="quarter" idx="5"/>
          </p:nvPr>
        </p:nvSpPr>
        <p:spPr/>
        <p:txBody>
          <a:bodyPr/>
          <a:lstStyle/>
          <a:p>
            <a:fld id="{8C03963F-15E3-4F9A-906F-AFE85BBD6231}" type="slidenum">
              <a:rPr lang="en-US" smtClean="0"/>
              <a:t>16</a:t>
            </a:fld>
            <a:endParaRPr lang="en-US"/>
          </a:p>
        </p:txBody>
      </p:sp>
    </p:spTree>
    <p:extLst>
      <p:ext uri="{BB962C8B-B14F-4D97-AF65-F5344CB8AC3E}">
        <p14:creationId xmlns:p14="http://schemas.microsoft.com/office/powerpoint/2010/main" val="28781950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51670-3431-BC0A-3DA3-552F6490AD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59B1A3-BAB6-1AB9-55EE-1D21CC4C8D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6B0FB8-C535-7156-2636-CE981AB6AC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DD1411-67CD-DF8A-6A47-AF523C0F0D52}"/>
              </a:ext>
            </a:extLst>
          </p:cNvPr>
          <p:cNvSpPr>
            <a:spLocks noGrp="1"/>
          </p:cNvSpPr>
          <p:nvPr>
            <p:ph type="sldNum" sz="quarter" idx="5"/>
          </p:nvPr>
        </p:nvSpPr>
        <p:spPr/>
        <p:txBody>
          <a:bodyPr/>
          <a:lstStyle/>
          <a:p>
            <a:fld id="{8C03963F-15E3-4F9A-906F-AFE85BBD6231}" type="slidenum">
              <a:rPr lang="en-US" smtClean="0"/>
              <a:t>17</a:t>
            </a:fld>
            <a:endParaRPr lang="en-US"/>
          </a:p>
        </p:txBody>
      </p:sp>
    </p:spTree>
    <p:extLst>
      <p:ext uri="{BB962C8B-B14F-4D97-AF65-F5344CB8AC3E}">
        <p14:creationId xmlns:p14="http://schemas.microsoft.com/office/powerpoint/2010/main" val="2179028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39D2E-E979-8889-CA57-CE2926AFEE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78349F-955E-66AE-A819-F830C9C910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32AFF5-FC2F-D339-9635-DEF5AFB31B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5910EB-8C33-C253-E1F7-355830C458F0}"/>
              </a:ext>
            </a:extLst>
          </p:cNvPr>
          <p:cNvSpPr>
            <a:spLocks noGrp="1"/>
          </p:cNvSpPr>
          <p:nvPr>
            <p:ph type="sldNum" sz="quarter" idx="5"/>
          </p:nvPr>
        </p:nvSpPr>
        <p:spPr/>
        <p:txBody>
          <a:bodyPr/>
          <a:lstStyle/>
          <a:p>
            <a:fld id="{8C03963F-15E3-4F9A-906F-AFE85BBD6231}" type="slidenum">
              <a:rPr lang="en-US" smtClean="0"/>
              <a:t>18</a:t>
            </a:fld>
            <a:endParaRPr lang="en-US"/>
          </a:p>
        </p:txBody>
      </p:sp>
    </p:spTree>
    <p:extLst>
      <p:ext uri="{BB962C8B-B14F-4D97-AF65-F5344CB8AC3E}">
        <p14:creationId xmlns:p14="http://schemas.microsoft.com/office/powerpoint/2010/main" val="37047882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10A82-664C-2544-4BE6-9CDD1D3451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82B1B0-30D5-7677-A44A-CC10B6A514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4C033D-F483-9518-4A6D-FF75BE0D47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F7EB00-1572-D46A-263D-E95A5985AF5D}"/>
              </a:ext>
            </a:extLst>
          </p:cNvPr>
          <p:cNvSpPr>
            <a:spLocks noGrp="1"/>
          </p:cNvSpPr>
          <p:nvPr>
            <p:ph type="sldNum" sz="quarter" idx="5"/>
          </p:nvPr>
        </p:nvSpPr>
        <p:spPr/>
        <p:txBody>
          <a:bodyPr/>
          <a:lstStyle/>
          <a:p>
            <a:fld id="{8C03963F-15E3-4F9A-906F-AFE85BBD6231}" type="slidenum">
              <a:rPr lang="en-US" smtClean="0"/>
              <a:t>19</a:t>
            </a:fld>
            <a:endParaRPr lang="en-US"/>
          </a:p>
        </p:txBody>
      </p:sp>
    </p:spTree>
    <p:extLst>
      <p:ext uri="{BB962C8B-B14F-4D97-AF65-F5344CB8AC3E}">
        <p14:creationId xmlns:p14="http://schemas.microsoft.com/office/powerpoint/2010/main" val="14962008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E74B5-C1F1-13E7-FFFA-65654F33A9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5A77B6-CDF5-AC93-A2BA-C5B28A5FF8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23B339-B41C-E021-5F86-23032DDC1D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606A83-ECDA-7A45-0CEB-C6BD1479CEF0}"/>
              </a:ext>
            </a:extLst>
          </p:cNvPr>
          <p:cNvSpPr>
            <a:spLocks noGrp="1"/>
          </p:cNvSpPr>
          <p:nvPr>
            <p:ph type="sldNum" sz="quarter" idx="5"/>
          </p:nvPr>
        </p:nvSpPr>
        <p:spPr/>
        <p:txBody>
          <a:bodyPr/>
          <a:lstStyle/>
          <a:p>
            <a:fld id="{8C03963F-15E3-4F9A-906F-AFE85BBD6231}" type="slidenum">
              <a:rPr lang="en-US" smtClean="0"/>
              <a:t>20</a:t>
            </a:fld>
            <a:endParaRPr lang="en-US"/>
          </a:p>
        </p:txBody>
      </p:sp>
    </p:spTree>
    <p:extLst>
      <p:ext uri="{BB962C8B-B14F-4D97-AF65-F5344CB8AC3E}">
        <p14:creationId xmlns:p14="http://schemas.microsoft.com/office/powerpoint/2010/main" val="5366771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40315-AC56-9D61-9CE9-494A257C27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F88881-9962-09E5-6744-97C8E22AF3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5CC3A8-4FB4-CBA8-FF8F-B2B87A3A91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3D7391-3F2D-7018-CAF0-7FC7814220FB}"/>
              </a:ext>
            </a:extLst>
          </p:cNvPr>
          <p:cNvSpPr>
            <a:spLocks noGrp="1"/>
          </p:cNvSpPr>
          <p:nvPr>
            <p:ph type="sldNum" sz="quarter" idx="5"/>
          </p:nvPr>
        </p:nvSpPr>
        <p:spPr/>
        <p:txBody>
          <a:bodyPr/>
          <a:lstStyle/>
          <a:p>
            <a:fld id="{8C03963F-15E3-4F9A-906F-AFE85BBD6231}" type="slidenum">
              <a:rPr lang="en-US" smtClean="0"/>
              <a:t>21</a:t>
            </a:fld>
            <a:endParaRPr lang="en-US"/>
          </a:p>
        </p:txBody>
      </p:sp>
    </p:spTree>
    <p:extLst>
      <p:ext uri="{BB962C8B-B14F-4D97-AF65-F5344CB8AC3E}">
        <p14:creationId xmlns:p14="http://schemas.microsoft.com/office/powerpoint/2010/main" val="26597164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B90B3-C4FB-ADFB-DD29-F959D6CEE5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72D1DB-6387-43B9-502E-81C9DCC2B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9A516F-9584-C560-0A6C-16CFED13EA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3DD417-0EC0-CA4F-04DC-44B729A91A40}"/>
              </a:ext>
            </a:extLst>
          </p:cNvPr>
          <p:cNvSpPr>
            <a:spLocks noGrp="1"/>
          </p:cNvSpPr>
          <p:nvPr>
            <p:ph type="sldNum" sz="quarter" idx="5"/>
          </p:nvPr>
        </p:nvSpPr>
        <p:spPr/>
        <p:txBody>
          <a:bodyPr/>
          <a:lstStyle/>
          <a:p>
            <a:fld id="{8C03963F-15E3-4F9A-906F-AFE85BBD6231}" type="slidenum">
              <a:rPr lang="en-US" smtClean="0"/>
              <a:t>22</a:t>
            </a:fld>
            <a:endParaRPr lang="en-US"/>
          </a:p>
        </p:txBody>
      </p:sp>
    </p:spTree>
    <p:extLst>
      <p:ext uri="{BB962C8B-B14F-4D97-AF65-F5344CB8AC3E}">
        <p14:creationId xmlns:p14="http://schemas.microsoft.com/office/powerpoint/2010/main" val="26251025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A46A5-65B7-0FE6-036E-D9EB77C631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9DE55B-B0E5-98BF-979D-1858EFAFC1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6592F8-85C0-1072-FE39-D2E8B667E7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F94977-87E0-514E-0982-BC16EB318739}"/>
              </a:ext>
            </a:extLst>
          </p:cNvPr>
          <p:cNvSpPr>
            <a:spLocks noGrp="1"/>
          </p:cNvSpPr>
          <p:nvPr>
            <p:ph type="sldNum" sz="quarter" idx="5"/>
          </p:nvPr>
        </p:nvSpPr>
        <p:spPr/>
        <p:txBody>
          <a:bodyPr/>
          <a:lstStyle/>
          <a:p>
            <a:fld id="{8C03963F-15E3-4F9A-906F-AFE85BBD6231}" type="slidenum">
              <a:rPr lang="en-US" smtClean="0"/>
              <a:t>23</a:t>
            </a:fld>
            <a:endParaRPr lang="en-US"/>
          </a:p>
        </p:txBody>
      </p:sp>
    </p:spTree>
    <p:extLst>
      <p:ext uri="{BB962C8B-B14F-4D97-AF65-F5344CB8AC3E}">
        <p14:creationId xmlns:p14="http://schemas.microsoft.com/office/powerpoint/2010/main" val="34201327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81187-1DDD-D40E-8946-1C5064D066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A0F8FA-2542-90E0-3F6A-5EED7CF1DE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4C9FA3-86AD-E043-05C8-6DE4F06357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4896EC-C257-8C06-FBFA-B5C9D31DD447}"/>
              </a:ext>
            </a:extLst>
          </p:cNvPr>
          <p:cNvSpPr>
            <a:spLocks noGrp="1"/>
          </p:cNvSpPr>
          <p:nvPr>
            <p:ph type="sldNum" sz="quarter" idx="5"/>
          </p:nvPr>
        </p:nvSpPr>
        <p:spPr/>
        <p:txBody>
          <a:bodyPr/>
          <a:lstStyle/>
          <a:p>
            <a:fld id="{8C03963F-15E3-4F9A-906F-AFE85BBD6231}" type="slidenum">
              <a:rPr lang="en-US" smtClean="0"/>
              <a:t>24</a:t>
            </a:fld>
            <a:endParaRPr lang="en-US"/>
          </a:p>
        </p:txBody>
      </p:sp>
    </p:spTree>
    <p:extLst>
      <p:ext uri="{BB962C8B-B14F-4D97-AF65-F5344CB8AC3E}">
        <p14:creationId xmlns:p14="http://schemas.microsoft.com/office/powerpoint/2010/main" val="28481812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29A05-59A5-858A-A1CE-253805E94E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4B6657-8FD1-B3FA-8960-695E88E4A1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A9BF0-9B6D-EFC1-F4EE-B8B43A4805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C3D9D9-7BAC-B749-880B-B03011339A77}"/>
              </a:ext>
            </a:extLst>
          </p:cNvPr>
          <p:cNvSpPr>
            <a:spLocks noGrp="1"/>
          </p:cNvSpPr>
          <p:nvPr>
            <p:ph type="sldNum" sz="quarter" idx="5"/>
          </p:nvPr>
        </p:nvSpPr>
        <p:spPr/>
        <p:txBody>
          <a:bodyPr/>
          <a:lstStyle/>
          <a:p>
            <a:fld id="{8C03963F-15E3-4F9A-906F-AFE85BBD6231}" type="slidenum">
              <a:rPr lang="en-US" smtClean="0"/>
              <a:t>25</a:t>
            </a:fld>
            <a:endParaRPr lang="en-US"/>
          </a:p>
        </p:txBody>
      </p:sp>
    </p:spTree>
    <p:extLst>
      <p:ext uri="{BB962C8B-B14F-4D97-AF65-F5344CB8AC3E}">
        <p14:creationId xmlns:p14="http://schemas.microsoft.com/office/powerpoint/2010/main" val="8292731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B3BC1-72A2-81ED-2636-4CD1CF9491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AA2108-F031-BEBD-22CE-837F3E0929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72F891-A1E1-573D-C77B-C5A6A6AE0E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5C7956-03DC-FE96-699E-5A37CF9D530D}"/>
              </a:ext>
            </a:extLst>
          </p:cNvPr>
          <p:cNvSpPr>
            <a:spLocks noGrp="1"/>
          </p:cNvSpPr>
          <p:nvPr>
            <p:ph type="sldNum" sz="quarter" idx="5"/>
          </p:nvPr>
        </p:nvSpPr>
        <p:spPr/>
        <p:txBody>
          <a:bodyPr/>
          <a:lstStyle/>
          <a:p>
            <a:fld id="{8C03963F-15E3-4F9A-906F-AFE85BBD6231}" type="slidenum">
              <a:rPr lang="en-US" smtClean="0"/>
              <a:t>26</a:t>
            </a:fld>
            <a:endParaRPr lang="en-US"/>
          </a:p>
        </p:txBody>
      </p:sp>
    </p:spTree>
    <p:extLst>
      <p:ext uri="{BB962C8B-B14F-4D97-AF65-F5344CB8AC3E}">
        <p14:creationId xmlns:p14="http://schemas.microsoft.com/office/powerpoint/2010/main" val="16757299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9C0EB-B839-347A-9A9C-10E2A1022B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EFA50F-149D-0C37-2ED8-E546692B92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3EB3C2-05F2-05A7-0AE3-5CE8087A4A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FC32F3-1C3B-960A-56E7-9B3C31EBDD3C}"/>
              </a:ext>
            </a:extLst>
          </p:cNvPr>
          <p:cNvSpPr>
            <a:spLocks noGrp="1"/>
          </p:cNvSpPr>
          <p:nvPr>
            <p:ph type="sldNum" sz="quarter" idx="5"/>
          </p:nvPr>
        </p:nvSpPr>
        <p:spPr/>
        <p:txBody>
          <a:bodyPr/>
          <a:lstStyle/>
          <a:p>
            <a:fld id="{8C03963F-15E3-4F9A-906F-AFE85BBD6231}" type="slidenum">
              <a:rPr lang="en-US" smtClean="0"/>
              <a:t>27</a:t>
            </a:fld>
            <a:endParaRPr lang="en-US"/>
          </a:p>
        </p:txBody>
      </p:sp>
    </p:spTree>
    <p:extLst>
      <p:ext uri="{BB962C8B-B14F-4D97-AF65-F5344CB8AC3E}">
        <p14:creationId xmlns:p14="http://schemas.microsoft.com/office/powerpoint/2010/main" val="8610875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94B10-91A2-A7AF-E3BD-30C73586F6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DC1FFD-EEFC-730B-5A34-350215F861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DE5DDA-B7EB-95FB-9B52-980F79F430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DC2B43-AB78-A1BF-6E99-12B3B78B4203}"/>
              </a:ext>
            </a:extLst>
          </p:cNvPr>
          <p:cNvSpPr>
            <a:spLocks noGrp="1"/>
          </p:cNvSpPr>
          <p:nvPr>
            <p:ph type="sldNum" sz="quarter" idx="5"/>
          </p:nvPr>
        </p:nvSpPr>
        <p:spPr/>
        <p:txBody>
          <a:bodyPr/>
          <a:lstStyle/>
          <a:p>
            <a:fld id="{8C03963F-15E3-4F9A-906F-AFE85BBD6231}" type="slidenum">
              <a:rPr lang="en-US" smtClean="0"/>
              <a:t>28</a:t>
            </a:fld>
            <a:endParaRPr lang="en-US"/>
          </a:p>
        </p:txBody>
      </p:sp>
    </p:spTree>
    <p:extLst>
      <p:ext uri="{BB962C8B-B14F-4D97-AF65-F5344CB8AC3E}">
        <p14:creationId xmlns:p14="http://schemas.microsoft.com/office/powerpoint/2010/main" val="15601427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515C9-C5AA-F077-BE75-91BFF1DBE1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7E2890-C6AD-9834-854D-B8CCDED1F1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70627-E1DB-DF56-2A08-A564BAF3B3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A79648-3E6D-CBBD-820A-3AEC1036928C}"/>
              </a:ext>
            </a:extLst>
          </p:cNvPr>
          <p:cNvSpPr>
            <a:spLocks noGrp="1"/>
          </p:cNvSpPr>
          <p:nvPr>
            <p:ph type="sldNum" sz="quarter" idx="5"/>
          </p:nvPr>
        </p:nvSpPr>
        <p:spPr/>
        <p:txBody>
          <a:bodyPr/>
          <a:lstStyle/>
          <a:p>
            <a:fld id="{8C03963F-15E3-4F9A-906F-AFE85BBD6231}" type="slidenum">
              <a:rPr lang="en-US" smtClean="0"/>
              <a:t>29</a:t>
            </a:fld>
            <a:endParaRPr lang="en-US"/>
          </a:p>
        </p:txBody>
      </p:sp>
    </p:spTree>
    <p:extLst>
      <p:ext uri="{BB962C8B-B14F-4D97-AF65-F5344CB8AC3E}">
        <p14:creationId xmlns:p14="http://schemas.microsoft.com/office/powerpoint/2010/main" val="31268831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B1E12-9044-F38B-D1E0-895900FF7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3033E7-599A-7038-74CC-0255B8DD66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F18E05-D7EC-9B23-9FC1-26BC27A3D3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B179E9-C50F-E391-3410-BFF1F998DD2B}"/>
              </a:ext>
            </a:extLst>
          </p:cNvPr>
          <p:cNvSpPr>
            <a:spLocks noGrp="1"/>
          </p:cNvSpPr>
          <p:nvPr>
            <p:ph type="sldNum" sz="quarter" idx="5"/>
          </p:nvPr>
        </p:nvSpPr>
        <p:spPr/>
        <p:txBody>
          <a:bodyPr/>
          <a:lstStyle/>
          <a:p>
            <a:fld id="{8C03963F-15E3-4F9A-906F-AFE85BBD6231}" type="slidenum">
              <a:rPr lang="en-US" smtClean="0"/>
              <a:t>30</a:t>
            </a:fld>
            <a:endParaRPr lang="en-US"/>
          </a:p>
        </p:txBody>
      </p:sp>
    </p:spTree>
    <p:extLst>
      <p:ext uri="{BB962C8B-B14F-4D97-AF65-F5344CB8AC3E}">
        <p14:creationId xmlns:p14="http://schemas.microsoft.com/office/powerpoint/2010/main" val="991067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8091" y="3085765"/>
            <a:ext cx="8240108"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2" y="990600"/>
            <a:ext cx="7989752" cy="1504844"/>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2" y="2495444"/>
            <a:ext cx="7989752"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6ECD0B64-F392-4469-B10B-622E9378706B}" type="datetimeFigureOut">
              <a:rPr lang="en-US" smtClean="0"/>
              <a:t>2/28/2025</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6176B7BD-3197-4DA1-BA2E-B38AE6E9DD9D}" type="slidenum">
              <a:rPr lang="en-US" smtClean="0"/>
              <a:t>‹#›</a:t>
            </a:fld>
            <a:endParaRPr lang="en-US"/>
          </a:p>
        </p:txBody>
      </p:sp>
    </p:spTree>
    <p:extLst>
      <p:ext uri="{BB962C8B-B14F-4D97-AF65-F5344CB8AC3E}">
        <p14:creationId xmlns:p14="http://schemas.microsoft.com/office/powerpoint/2010/main" val="21042752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581192" y="2228003"/>
            <a:ext cx="7989752" cy="36307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CD0B64-F392-4469-B10B-622E9378706B}" type="datetimeFigureOut">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76B7BD-3197-4DA1-BA2E-B38AE6E9DD9D}" type="slidenum">
              <a:rPr lang="en-US" smtClean="0"/>
              <a:t>‹#›</a:t>
            </a:fld>
            <a:endParaRPr lang="en-US"/>
          </a:p>
        </p:txBody>
      </p:sp>
    </p:spTree>
    <p:extLst>
      <p:ext uri="{BB962C8B-B14F-4D97-AF65-F5344CB8AC3E}">
        <p14:creationId xmlns:p14="http://schemas.microsoft.com/office/powerpoint/2010/main" val="798857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52646" y="5141973"/>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36573"/>
            <a:ext cx="7989751" cy="1504844"/>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3" y="4541417"/>
            <a:ext cx="7989751"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6ECD0B64-F392-4469-B10B-622E9378706B}" type="datetimeFigureOut">
              <a:rPr lang="en-US" smtClean="0"/>
              <a:t>2/28/2025</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6176B7BD-3197-4DA1-BA2E-B38AE6E9DD9D}" type="slidenum">
              <a:rPr lang="en-US" smtClean="0"/>
              <a:t>‹#›</a:t>
            </a:fld>
            <a:endParaRPr lang="en-US"/>
          </a:p>
        </p:txBody>
      </p:sp>
    </p:spTree>
    <p:extLst>
      <p:ext uri="{BB962C8B-B14F-4D97-AF65-F5344CB8AC3E}">
        <p14:creationId xmlns:p14="http://schemas.microsoft.com/office/powerpoint/2010/main" val="20224595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81192" y="2228002"/>
            <a:ext cx="389952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282" y="2228003"/>
            <a:ext cx="390766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ECD0B64-F392-4469-B10B-622E9378706B}" type="datetimeFigureOut">
              <a:rPr lang="en-US" smtClean="0"/>
              <a:t>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76B7BD-3197-4DA1-BA2E-B38AE6E9DD9D}" type="slidenum">
              <a:rPr lang="en-US" smtClean="0"/>
              <a:t>‹#›</a:t>
            </a:fld>
            <a:endParaRPr lang="en-US"/>
          </a:p>
        </p:txBody>
      </p:sp>
    </p:spTree>
    <p:extLst>
      <p:ext uri="{BB962C8B-B14F-4D97-AF65-F5344CB8AC3E}">
        <p14:creationId xmlns:p14="http://schemas.microsoft.com/office/powerpoint/2010/main" val="26699240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87219" y="2228003"/>
            <a:ext cx="3593500"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2" y="2926051"/>
            <a:ext cx="3899527"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969308" y="2228003"/>
            <a:ext cx="3601635"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282" y="2926051"/>
            <a:ext cx="3907662"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ECD0B64-F392-4469-B10B-622E9378706B}" type="datetimeFigureOut">
              <a:rPr lang="en-US" smtClean="0"/>
              <a:t>2/28/2025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176B7BD-3197-4DA1-BA2E-B38AE6E9DD9D}" type="slidenum">
              <a:rPr lang="en-US" smtClean="0"/>
              <a:t>‹#›</a:t>
            </a:fld>
            <a:endParaRPr lang="en-US"/>
          </a:p>
        </p:txBody>
      </p:sp>
    </p:spTree>
    <p:extLst>
      <p:ext uri="{BB962C8B-B14F-4D97-AF65-F5344CB8AC3E}">
        <p14:creationId xmlns:p14="http://schemas.microsoft.com/office/powerpoint/2010/main" val="40240334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ECD0B64-F392-4469-B10B-622E9378706B}" type="datetimeFigureOut">
              <a:rPr lang="en-US" smtClean="0"/>
              <a:t>2/28/2025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176B7BD-3197-4DA1-BA2E-B38AE6E9DD9D}" type="slidenum">
              <a:rPr lang="en-US" smtClean="0"/>
              <a:t>‹#›</a:t>
            </a:fld>
            <a:endParaRPr lang="en-US"/>
          </a:p>
        </p:txBody>
      </p:sp>
    </p:spTree>
    <p:extLst>
      <p:ext uri="{BB962C8B-B14F-4D97-AF65-F5344CB8AC3E}">
        <p14:creationId xmlns:p14="http://schemas.microsoft.com/office/powerpoint/2010/main" val="30221638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CD0B64-F392-4469-B10B-622E9378706B}" type="datetimeFigureOut">
              <a:rPr lang="en-US" smtClean="0"/>
              <a:t>2/28/2025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176B7BD-3197-4DA1-BA2E-B38AE6E9DD9D}" type="slidenum">
              <a:rPr lang="en-US" smtClean="0"/>
              <a:t>‹#›</a:t>
            </a:fld>
            <a:endParaRPr lang="en-US"/>
          </a:p>
        </p:txBody>
      </p:sp>
    </p:spTree>
    <p:extLst>
      <p:ext uri="{BB962C8B-B14F-4D97-AF65-F5344CB8AC3E}">
        <p14:creationId xmlns:p14="http://schemas.microsoft.com/office/powerpoint/2010/main" val="1364676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52646" y="5141973"/>
            <a:ext cx="8238707"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352" y="5262296"/>
            <a:ext cx="353662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6399" y="601200"/>
            <a:ext cx="824040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305617" y="5262295"/>
            <a:ext cx="426532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6ECD0B64-F392-4469-B10B-622E9378706B}" type="datetimeFigureOut">
              <a:rPr lang="en-US" smtClean="0"/>
              <a:t>2/28/2025</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6176B7BD-3197-4DA1-BA2E-B38AE6E9DD9D}" type="slidenum">
              <a:rPr lang="en-US" smtClean="0"/>
              <a:t>‹#›</a:t>
            </a:fld>
            <a:endParaRPr lang="en-US"/>
          </a:p>
        </p:txBody>
      </p:sp>
    </p:spTree>
    <p:extLst>
      <p:ext uri="{BB962C8B-B14F-4D97-AF65-F5344CB8AC3E}">
        <p14:creationId xmlns:p14="http://schemas.microsoft.com/office/powerpoint/2010/main" val="1788540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2" y="4693389"/>
            <a:ext cx="7989752"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8093" y="599725"/>
            <a:ext cx="8238706"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6"/>
            <a:ext cx="7989752"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ECD0B64-F392-4469-B10B-622E9378706B}" type="datetimeFigureOut">
              <a:rPr lang="en-US" smtClean="0"/>
              <a:t>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76B7BD-3197-4DA1-BA2E-B38AE6E9DD9D}" type="slidenum">
              <a:rPr lang="en-US" smtClean="0"/>
              <a:t>‹#›</a:t>
            </a:fld>
            <a:endParaRPr lang="en-US"/>
          </a:p>
        </p:txBody>
      </p:sp>
    </p:spTree>
    <p:extLst>
      <p:ext uri="{BB962C8B-B14F-4D97-AF65-F5344CB8AC3E}">
        <p14:creationId xmlns:p14="http://schemas.microsoft.com/office/powerpoint/2010/main" val="4519348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CD0B64-F392-4469-B10B-622E9378706B}" type="datetimeFigureOut">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76B7BD-3197-4DA1-BA2E-B38AE6E9DD9D}" type="slidenum">
              <a:rPr lang="en-US" smtClean="0"/>
              <a:t>‹#›</a:t>
            </a:fld>
            <a:endParaRPr lang="en-US"/>
          </a:p>
        </p:txBody>
      </p:sp>
    </p:spTree>
    <p:extLst>
      <p:ext uri="{BB962C8B-B14F-4D97-AF65-F5344CB8AC3E}">
        <p14:creationId xmlns:p14="http://schemas.microsoft.com/office/powerpoint/2010/main" val="14054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629400" y="599725"/>
            <a:ext cx="2057399"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629400" y="675725"/>
            <a:ext cx="1503123"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81192" y="675725"/>
            <a:ext cx="592220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745255" y="5956136"/>
            <a:ext cx="947672" cy="365125"/>
          </a:xfrm>
        </p:spPr>
        <p:txBody>
          <a:bodyPr/>
          <a:lstStyle>
            <a:lvl1pPr>
              <a:defRPr>
                <a:solidFill>
                  <a:schemeClr val="accent1">
                    <a:lumMod val="75000"/>
                    <a:lumOff val="25000"/>
                  </a:schemeClr>
                </a:solidFill>
              </a:defRPr>
            </a:lvl1pPr>
          </a:lstStyle>
          <a:p>
            <a:fld id="{6ECD0B64-F392-4469-B10B-622E9378706B}" type="datetimeFigureOut">
              <a:rPr lang="en-US" smtClean="0"/>
              <a:t>2/28/2025</a:t>
            </a:fld>
            <a:endParaRPr lang="en-US"/>
          </a:p>
        </p:txBody>
      </p:sp>
      <p:sp>
        <p:nvSpPr>
          <p:cNvPr id="5" name="Footer Placeholder 4"/>
          <p:cNvSpPr>
            <a:spLocks noGrp="1"/>
          </p:cNvSpPr>
          <p:nvPr>
            <p:ph type="ftr" sz="quarter" idx="11"/>
          </p:nvPr>
        </p:nvSpPr>
        <p:spPr>
          <a:xfrm>
            <a:off x="581192" y="5951810"/>
            <a:ext cx="5922209" cy="365125"/>
          </a:xfrm>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6176B7BD-3197-4DA1-BA2E-B38AE6E9DD9D}" type="slidenum">
              <a:rPr lang="en-US" smtClean="0"/>
              <a:t>‹#›</a:t>
            </a:fld>
            <a:endParaRPr lang="en-US"/>
          </a:p>
        </p:txBody>
      </p:sp>
    </p:spTree>
    <p:extLst>
      <p:ext uri="{BB962C8B-B14F-4D97-AF65-F5344CB8AC3E}">
        <p14:creationId xmlns:p14="http://schemas.microsoft.com/office/powerpoint/2010/main" val="2323114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687474"/>
            <a:ext cx="7989752" cy="1083329"/>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228003"/>
            <a:ext cx="7989752" cy="3630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559327" y="5956136"/>
            <a:ext cx="2133600" cy="365125"/>
          </a:xfrm>
          <a:prstGeom prst="rect">
            <a:avLst/>
          </a:prstGeom>
        </p:spPr>
        <p:txBody>
          <a:bodyPr vert="horz" lIns="91440" tIns="45720" rIns="91440" bIns="45720" rtlCol="0" anchor="ctr"/>
          <a:lstStyle>
            <a:lvl1pPr algn="r">
              <a:defRPr sz="900">
                <a:solidFill>
                  <a:schemeClr val="accent2"/>
                </a:solidFill>
              </a:defRPr>
            </a:lvl1pPr>
          </a:lstStyle>
          <a:p>
            <a:fld id="{6ECD0B64-F392-4469-B10B-622E9378706B}" type="datetimeFigureOut">
              <a:rPr lang="en-US" smtClean="0"/>
              <a:t>2/28/2025</a:t>
            </a:fld>
            <a:endParaRPr lang="en-US"/>
          </a:p>
        </p:txBody>
      </p:sp>
      <p:sp>
        <p:nvSpPr>
          <p:cNvPr id="5" name="Footer Placeholder 4"/>
          <p:cNvSpPr>
            <a:spLocks noGrp="1"/>
          </p:cNvSpPr>
          <p:nvPr>
            <p:ph type="ftr" sz="quarter" idx="3"/>
          </p:nvPr>
        </p:nvSpPr>
        <p:spPr>
          <a:xfrm>
            <a:off x="581192" y="5951810"/>
            <a:ext cx="4870585"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7800476" y="5956136"/>
            <a:ext cx="770468" cy="365125"/>
          </a:xfrm>
          <a:prstGeom prst="rect">
            <a:avLst/>
          </a:prstGeom>
        </p:spPr>
        <p:txBody>
          <a:bodyPr vert="horz" lIns="91440" tIns="45720" rIns="91440" bIns="45720" rtlCol="0" anchor="ctr"/>
          <a:lstStyle>
            <a:lvl1pPr algn="r">
              <a:defRPr sz="900">
                <a:solidFill>
                  <a:schemeClr val="accent2"/>
                </a:solidFill>
              </a:defRPr>
            </a:lvl1pPr>
          </a:lstStyle>
          <a:p>
            <a:fld id="{6176B7BD-3197-4DA1-BA2E-B38AE6E9DD9D}" type="slidenum">
              <a:rPr lang="en-US" smtClean="0"/>
              <a:t>‹#›</a:t>
            </a:fld>
            <a:endParaRPr lang="en-US"/>
          </a:p>
        </p:txBody>
      </p:sp>
      <p:sp>
        <p:nvSpPr>
          <p:cNvPr id="9" name="Rectangle 8"/>
          <p:cNvSpPr/>
          <p:nvPr/>
        </p:nvSpPr>
        <p:spPr>
          <a:xfrm>
            <a:off x="448091" y="441325"/>
            <a:ext cx="2719909" cy="10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976001" y="441325"/>
            <a:ext cx="2710800" cy="108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3216601" y="441325"/>
            <a:ext cx="2710800" cy="108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546218684"/>
      </p:ext>
    </p:extLst>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F5D087E4-6954-FD2F-ABCB-633814FDC1C8}"/>
              </a:ext>
            </a:extLst>
          </p:cNvPr>
          <p:cNvSpPr txBox="1"/>
          <p:nvPr/>
        </p:nvSpPr>
        <p:spPr>
          <a:xfrm>
            <a:off x="728131" y="3736776"/>
            <a:ext cx="7687733" cy="615553"/>
          </a:xfrm>
          <a:prstGeom prst="rect">
            <a:avLst/>
          </a:prstGeom>
          <a:noFill/>
        </p:spPr>
        <p:txBody>
          <a:bodyPr wrap="square" lIns="0" tIns="0" rIns="0" bIns="0" rtlCol="0" anchor="ctr">
            <a:spAutoFit/>
          </a:bodyPr>
          <a:lstStyle/>
          <a:p>
            <a:pPr algn="ctr"/>
            <a:r>
              <a:rPr lang="en-US" sz="4000" dirty="0">
                <a:solidFill>
                  <a:schemeClr val="bg1"/>
                </a:solidFill>
                <a:latin typeface="CMU Serif" panose="02000603000000000000" pitchFamily="2" charset="0"/>
                <a:ea typeface="CMU Serif" panose="02000603000000000000" pitchFamily="2" charset="0"/>
                <a:cs typeface="CMU Serif" panose="02000603000000000000" pitchFamily="2" charset="0"/>
              </a:rPr>
              <a:t>AI Agents</a:t>
            </a:r>
          </a:p>
        </p:txBody>
      </p:sp>
      <p:sp>
        <p:nvSpPr>
          <p:cNvPr id="11" name="TextBox 10">
            <a:extLst>
              <a:ext uri="{FF2B5EF4-FFF2-40B4-BE49-F238E27FC236}">
                <a16:creationId xmlns:a16="http://schemas.microsoft.com/office/drawing/2014/main" id="{2E214D9D-2F9E-D295-0F59-4E5091EF0BAA}"/>
              </a:ext>
            </a:extLst>
          </p:cNvPr>
          <p:cNvSpPr txBox="1"/>
          <p:nvPr/>
        </p:nvSpPr>
        <p:spPr>
          <a:xfrm>
            <a:off x="1231898" y="1138762"/>
            <a:ext cx="6680200" cy="1354217"/>
          </a:xfrm>
          <a:prstGeom prst="rect">
            <a:avLst/>
          </a:prstGeom>
          <a:noFill/>
        </p:spPr>
        <p:txBody>
          <a:bodyPr wrap="square" lIns="0" tIns="0" rIns="0" bIns="0" rtlCol="0" anchor="ctr">
            <a:spAutoFit/>
          </a:bodyPr>
          <a:lstStyle/>
          <a:p>
            <a:pPr algn="ctr"/>
            <a:r>
              <a:rPr lang="en-US" sz="4400" dirty="0">
                <a:solidFill>
                  <a:schemeClr val="accent1"/>
                </a:solidFill>
                <a:latin typeface="CMU Serif" panose="02000603000000000000" pitchFamily="2" charset="0"/>
                <a:ea typeface="CMU Serif" panose="02000603000000000000" pitchFamily="2" charset="0"/>
                <a:cs typeface="CMU Serif" panose="02000603000000000000" pitchFamily="2" charset="0"/>
              </a:rPr>
              <a:t>CSE 440 </a:t>
            </a:r>
          </a:p>
          <a:p>
            <a:pPr algn="ctr"/>
            <a:r>
              <a:rPr lang="en-US" sz="4400" dirty="0">
                <a:solidFill>
                  <a:schemeClr val="accent1"/>
                </a:solidFill>
                <a:latin typeface="CMU Serif" panose="02000603000000000000" pitchFamily="2" charset="0"/>
                <a:ea typeface="CMU Serif" panose="02000603000000000000" pitchFamily="2" charset="0"/>
                <a:cs typeface="CMU Serif" panose="02000603000000000000" pitchFamily="2" charset="0"/>
              </a:rPr>
              <a:t>Artificial Intelligence</a:t>
            </a:r>
          </a:p>
        </p:txBody>
      </p:sp>
      <p:sp>
        <p:nvSpPr>
          <p:cNvPr id="12" name="TextBox 11">
            <a:extLst>
              <a:ext uri="{FF2B5EF4-FFF2-40B4-BE49-F238E27FC236}">
                <a16:creationId xmlns:a16="http://schemas.microsoft.com/office/drawing/2014/main" id="{A6D60280-9426-4BB9-15A1-74F21142D85D}"/>
              </a:ext>
            </a:extLst>
          </p:cNvPr>
          <p:cNvSpPr txBox="1"/>
          <p:nvPr/>
        </p:nvSpPr>
        <p:spPr>
          <a:xfrm>
            <a:off x="927094" y="4920620"/>
            <a:ext cx="7289805" cy="923330"/>
          </a:xfrm>
          <a:prstGeom prst="rect">
            <a:avLst/>
          </a:prstGeom>
          <a:noFill/>
        </p:spPr>
        <p:txBody>
          <a:bodyPr wrap="square" lIns="0" tIns="0" rIns="0" bIns="0" rtlCol="0" anchor="ctr">
            <a:spAutoFit/>
          </a:bodyPr>
          <a:lstStyle/>
          <a:p>
            <a:pPr algn="ctr"/>
            <a:r>
              <a:rPr lang="en-US" sz="2000" dirty="0">
                <a:solidFill>
                  <a:schemeClr val="bg1"/>
                </a:solidFill>
                <a:latin typeface="CMU Serif" panose="02000603000000000000" pitchFamily="2" charset="0"/>
                <a:ea typeface="CMU Serif" panose="02000603000000000000" pitchFamily="2" charset="0"/>
                <a:cs typeface="CMU Serif" panose="02000603000000000000" pitchFamily="2" charset="0"/>
              </a:rPr>
              <a:t>Dr. Mohammad Mahmudul Alam</a:t>
            </a:r>
          </a:p>
          <a:p>
            <a:pPr algn="ctr"/>
            <a:r>
              <a:rPr lang="en-US" sz="2000" dirty="0">
                <a:solidFill>
                  <a:schemeClr val="bg1"/>
                </a:solidFill>
                <a:latin typeface="CMU Serif" panose="02000603000000000000" pitchFamily="2" charset="0"/>
                <a:ea typeface="CMU Serif" panose="02000603000000000000" pitchFamily="2" charset="0"/>
                <a:cs typeface="CMU Serif" panose="02000603000000000000" pitchFamily="2" charset="0"/>
              </a:rPr>
              <a:t>Department of Electrical &amp; Computer Engineering (ECE)</a:t>
            </a:r>
          </a:p>
          <a:p>
            <a:pPr algn="ctr"/>
            <a:r>
              <a:rPr lang="en-US" sz="2000" dirty="0">
                <a:solidFill>
                  <a:schemeClr val="bg1"/>
                </a:solidFill>
                <a:latin typeface="CMU Serif" panose="02000603000000000000" pitchFamily="2" charset="0"/>
                <a:ea typeface="CMU Serif" panose="02000603000000000000" pitchFamily="2" charset="0"/>
                <a:cs typeface="CMU Serif" panose="02000603000000000000" pitchFamily="2" charset="0"/>
              </a:rPr>
              <a:t>North South University (NSU)</a:t>
            </a:r>
          </a:p>
        </p:txBody>
      </p:sp>
    </p:spTree>
    <p:extLst>
      <p:ext uri="{BB962C8B-B14F-4D97-AF65-F5344CB8AC3E}">
        <p14:creationId xmlns:p14="http://schemas.microsoft.com/office/powerpoint/2010/main" val="3098322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F5D54-78D8-C72F-E271-F8DA5BD6259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D5FA21F-30CA-339F-96B8-078FF18136B2}"/>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What is an Agent? </a:t>
            </a:r>
          </a:p>
        </p:txBody>
      </p:sp>
      <p:sp>
        <p:nvSpPr>
          <p:cNvPr id="5" name="TextBox 4">
            <a:extLst>
              <a:ext uri="{FF2B5EF4-FFF2-40B4-BE49-F238E27FC236}">
                <a16:creationId xmlns:a16="http://schemas.microsoft.com/office/drawing/2014/main" id="{FB9E9EE8-A913-624B-DBB2-7B19E7379580}"/>
              </a:ext>
            </a:extLst>
          </p:cNvPr>
          <p:cNvSpPr txBox="1"/>
          <p:nvPr/>
        </p:nvSpPr>
        <p:spPr>
          <a:xfrm>
            <a:off x="452966" y="1461925"/>
            <a:ext cx="8238067" cy="1631216"/>
          </a:xfrm>
          <a:prstGeom prst="rect">
            <a:avLst/>
          </a:prstGeom>
          <a:noFill/>
        </p:spPr>
        <p:txBody>
          <a:bodyPr wrap="square" lIns="0" tIns="0" rIns="0" bIns="0" rtlCol="0" anchor="ctr">
            <a:spAutoFit/>
          </a:bodyPr>
          <a:lstStyle/>
          <a:p>
            <a:pPr>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An agent is anything that can be viewed as perceiving its </a:t>
            </a:r>
            <a:r>
              <a:rPr lang="en-US" sz="2400" b="1" dirty="0">
                <a:solidFill>
                  <a:schemeClr val="accent1"/>
                </a:solidFill>
                <a:latin typeface="CMU Serif" panose="02000603000000000000" pitchFamily="2" charset="0"/>
                <a:ea typeface="CMU Serif" panose="02000603000000000000" pitchFamily="2" charset="0"/>
                <a:cs typeface="CMU Serif" panose="02000603000000000000" pitchFamily="2" charset="0"/>
              </a:rPr>
              <a:t>environment</a:t>
            </a:r>
            <a:r>
              <a:rPr lang="en-US" sz="2400" dirty="0">
                <a:latin typeface="CMU Serif" panose="02000603000000000000" pitchFamily="2" charset="0"/>
                <a:ea typeface="CMU Serif" panose="02000603000000000000" pitchFamily="2" charset="0"/>
                <a:cs typeface="CMU Serif" panose="02000603000000000000" pitchFamily="2" charset="0"/>
              </a:rPr>
              <a:t> through </a:t>
            </a:r>
            <a:r>
              <a:rPr lang="en-US" sz="2400" b="1" dirty="0">
                <a:solidFill>
                  <a:schemeClr val="accent1"/>
                </a:solidFill>
                <a:latin typeface="CMU Serif" panose="02000603000000000000" pitchFamily="2" charset="0"/>
                <a:ea typeface="CMU Serif" panose="02000603000000000000" pitchFamily="2" charset="0"/>
                <a:cs typeface="CMU Serif" panose="02000603000000000000" pitchFamily="2" charset="0"/>
              </a:rPr>
              <a:t>sensors</a:t>
            </a:r>
            <a:r>
              <a:rPr lang="en-US" sz="2400" dirty="0">
                <a:latin typeface="CMU Serif" panose="02000603000000000000" pitchFamily="2" charset="0"/>
                <a:ea typeface="CMU Serif" panose="02000603000000000000" pitchFamily="2" charset="0"/>
                <a:cs typeface="CMU Serif" panose="02000603000000000000" pitchFamily="2" charset="0"/>
              </a:rPr>
              <a:t> and </a:t>
            </a:r>
            <a:r>
              <a:rPr lang="en-US" sz="2400" b="1" dirty="0">
                <a:solidFill>
                  <a:schemeClr val="accent1"/>
                </a:solidFill>
                <a:latin typeface="CMU Serif" panose="02000603000000000000" pitchFamily="2" charset="0"/>
                <a:ea typeface="CMU Serif" panose="02000603000000000000" pitchFamily="2" charset="0"/>
                <a:cs typeface="CMU Serif" panose="02000603000000000000" pitchFamily="2" charset="0"/>
              </a:rPr>
              <a:t>acting</a:t>
            </a:r>
            <a:r>
              <a:rPr lang="en-US" sz="2400" dirty="0">
                <a:latin typeface="CMU Serif" panose="02000603000000000000" pitchFamily="2" charset="0"/>
                <a:ea typeface="CMU Serif" panose="02000603000000000000" pitchFamily="2" charset="0"/>
                <a:cs typeface="CMU Serif" panose="02000603000000000000" pitchFamily="2" charset="0"/>
              </a:rPr>
              <a:t> upon that environment through </a:t>
            </a:r>
            <a:r>
              <a:rPr lang="en-US" sz="2400" b="1" dirty="0">
                <a:solidFill>
                  <a:schemeClr val="accent1"/>
                </a:solidFill>
                <a:latin typeface="CMU Serif" panose="02000603000000000000" pitchFamily="2" charset="0"/>
                <a:ea typeface="CMU Serif" panose="02000603000000000000" pitchFamily="2" charset="0"/>
                <a:cs typeface="CMU Serif" panose="02000603000000000000" pitchFamily="2" charset="0"/>
              </a:rPr>
              <a:t>actuators</a:t>
            </a:r>
            <a:r>
              <a:rPr lang="en-US" sz="2400" dirty="0">
                <a:latin typeface="CMU Serif" panose="02000603000000000000" pitchFamily="2" charset="0"/>
                <a:ea typeface="CMU Serif" panose="02000603000000000000" pitchFamily="2" charset="0"/>
                <a:cs typeface="CMU Serif" panose="02000603000000000000" pitchFamily="2" charset="0"/>
              </a:rPr>
              <a:t>. </a:t>
            </a:r>
          </a:p>
          <a:p>
            <a:pPr>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Broadly: A thing that does something, with agency. </a:t>
            </a:r>
          </a:p>
        </p:txBody>
      </p:sp>
      <p:pic>
        <p:nvPicPr>
          <p:cNvPr id="6" name="Picture 5">
            <a:extLst>
              <a:ext uri="{FF2B5EF4-FFF2-40B4-BE49-F238E27FC236}">
                <a16:creationId xmlns:a16="http://schemas.microsoft.com/office/drawing/2014/main" id="{51174776-E2EC-5848-45C3-7DF33889D9D4}"/>
              </a:ext>
            </a:extLst>
          </p:cNvPr>
          <p:cNvPicPr>
            <a:picLocks noChangeAspect="1"/>
          </p:cNvPicPr>
          <p:nvPr/>
        </p:nvPicPr>
        <p:blipFill>
          <a:blip r:embed="rId2"/>
          <a:stretch>
            <a:fillRect/>
          </a:stretch>
        </p:blipFill>
        <p:spPr>
          <a:xfrm>
            <a:off x="1966548" y="3198798"/>
            <a:ext cx="5210902" cy="3343742"/>
          </a:xfrm>
          <a:prstGeom prst="rect">
            <a:avLst/>
          </a:prstGeom>
        </p:spPr>
      </p:pic>
    </p:spTree>
    <p:extLst>
      <p:ext uri="{BB962C8B-B14F-4D97-AF65-F5344CB8AC3E}">
        <p14:creationId xmlns:p14="http://schemas.microsoft.com/office/powerpoint/2010/main" val="11447078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060BC-C4FD-534C-1F14-B787B8C9B48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A30CDB6-1A6C-ACDF-C684-4271CA7DECD1}"/>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Human as Agent</a:t>
            </a:r>
          </a:p>
        </p:txBody>
      </p:sp>
      <p:graphicFrame>
        <p:nvGraphicFramePr>
          <p:cNvPr id="2" name="Table 1">
            <a:extLst>
              <a:ext uri="{FF2B5EF4-FFF2-40B4-BE49-F238E27FC236}">
                <a16:creationId xmlns:a16="http://schemas.microsoft.com/office/drawing/2014/main" id="{B8CAC743-8A3D-5CEA-6010-B155ED0D244B}"/>
              </a:ext>
            </a:extLst>
          </p:cNvPr>
          <p:cNvGraphicFramePr>
            <a:graphicFrameLocks noGrp="1"/>
          </p:cNvGraphicFramePr>
          <p:nvPr>
            <p:extLst>
              <p:ext uri="{D42A27DB-BD31-4B8C-83A1-F6EECF244321}">
                <p14:modId xmlns:p14="http://schemas.microsoft.com/office/powerpoint/2010/main" val="2601799720"/>
              </p:ext>
            </p:extLst>
          </p:nvPr>
        </p:nvGraphicFramePr>
        <p:xfrm>
          <a:off x="452965" y="1454573"/>
          <a:ext cx="8229600" cy="164592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1222878662"/>
                    </a:ext>
                  </a:extLst>
                </a:gridCol>
                <a:gridCol w="4114800">
                  <a:extLst>
                    <a:ext uri="{9D8B030D-6E8A-4147-A177-3AD203B41FA5}">
                      <a16:colId xmlns:a16="http://schemas.microsoft.com/office/drawing/2014/main" val="1253768364"/>
                    </a:ext>
                  </a:extLst>
                </a:gridCol>
              </a:tblGrid>
              <a:tr h="0">
                <a:tc>
                  <a:txBody>
                    <a:bodyPr/>
                    <a:lstStyle/>
                    <a:p>
                      <a:pPr algn="ctr"/>
                      <a:r>
                        <a:rPr lang="en-US" sz="2400" b="0" dirty="0">
                          <a:solidFill>
                            <a:schemeClr val="tx1"/>
                          </a:solidFill>
                          <a:latin typeface="CMU Serif" panose="02000603000000000000" pitchFamily="2" charset="0"/>
                          <a:ea typeface="CMU Serif" panose="02000603000000000000" pitchFamily="2" charset="0"/>
                          <a:cs typeface="CMU Serif" panose="02000603000000000000" pitchFamily="2" charset="0"/>
                        </a:rPr>
                        <a:t>Percepts</a:t>
                      </a:r>
                    </a:p>
                  </a:txBody>
                  <a:tcPr/>
                </a:tc>
                <a:tc>
                  <a:txBody>
                    <a:bodyPr/>
                    <a:lstStyle/>
                    <a:p>
                      <a:pPr algn="ctr"/>
                      <a:r>
                        <a:rPr lang="en-US" sz="2400" b="0" dirty="0">
                          <a:solidFill>
                            <a:schemeClr val="tx1"/>
                          </a:solidFill>
                          <a:latin typeface="CMU Serif" panose="02000603000000000000" pitchFamily="2" charset="0"/>
                          <a:ea typeface="CMU Serif" panose="02000603000000000000" pitchFamily="2" charset="0"/>
                          <a:cs typeface="CMU Serif" panose="02000603000000000000" pitchFamily="2" charset="0"/>
                        </a:rPr>
                        <a:t>Actions</a:t>
                      </a:r>
                    </a:p>
                  </a:txBody>
                  <a:tcPr/>
                </a:tc>
                <a:extLst>
                  <a:ext uri="{0D108BD9-81ED-4DB2-BD59-A6C34878D82A}">
                    <a16:rowId xmlns:a16="http://schemas.microsoft.com/office/drawing/2014/main" val="2729243484"/>
                  </a:ext>
                </a:extLst>
              </a:tr>
              <a:tr h="0">
                <a:tc>
                  <a:txBody>
                    <a:bodyPr/>
                    <a:lstStyle/>
                    <a:p>
                      <a:pPr algn="ctr"/>
                      <a:r>
                        <a:rPr lang="en-US" sz="2400" b="0" dirty="0">
                          <a:solidFill>
                            <a:schemeClr val="tx1"/>
                          </a:solidFill>
                          <a:latin typeface="CMU Serif" panose="02000603000000000000" pitchFamily="2" charset="0"/>
                          <a:ea typeface="CMU Serif" panose="02000603000000000000" pitchFamily="2" charset="0"/>
                          <a:cs typeface="CMU Serif" panose="02000603000000000000" pitchFamily="2" charset="0"/>
                        </a:rPr>
                        <a:t>Eyes, ears, other sensory organs to percept the environment </a:t>
                      </a:r>
                    </a:p>
                  </a:txBody>
                  <a:tcPr/>
                </a:tc>
                <a:tc>
                  <a:txBody>
                    <a:bodyPr/>
                    <a:lstStyle/>
                    <a:p>
                      <a:pPr algn="ctr"/>
                      <a:r>
                        <a:rPr lang="en-US" sz="2400" b="0" dirty="0">
                          <a:solidFill>
                            <a:schemeClr val="tx1"/>
                          </a:solidFill>
                          <a:latin typeface="CMU Serif" panose="02000603000000000000" pitchFamily="2" charset="0"/>
                          <a:ea typeface="CMU Serif" panose="02000603000000000000" pitchFamily="2" charset="0"/>
                          <a:cs typeface="CMU Serif" panose="02000603000000000000" pitchFamily="2" charset="0"/>
                        </a:rPr>
                        <a:t>Hands, legs, vocal tract as actuators for any actions on the environment</a:t>
                      </a:r>
                    </a:p>
                  </a:txBody>
                  <a:tcPr/>
                </a:tc>
                <a:extLst>
                  <a:ext uri="{0D108BD9-81ED-4DB2-BD59-A6C34878D82A}">
                    <a16:rowId xmlns:a16="http://schemas.microsoft.com/office/drawing/2014/main" val="3249428972"/>
                  </a:ext>
                </a:extLst>
              </a:tr>
            </a:tbl>
          </a:graphicData>
        </a:graphic>
      </p:graphicFrame>
      <p:pic>
        <p:nvPicPr>
          <p:cNvPr id="3" name="Picture 2">
            <a:extLst>
              <a:ext uri="{FF2B5EF4-FFF2-40B4-BE49-F238E27FC236}">
                <a16:creationId xmlns:a16="http://schemas.microsoft.com/office/drawing/2014/main" id="{245C37EF-14E7-A58D-A2C9-B2CA893EBF37}"/>
              </a:ext>
            </a:extLst>
          </p:cNvPr>
          <p:cNvPicPr>
            <a:picLocks noChangeAspect="1"/>
          </p:cNvPicPr>
          <p:nvPr/>
        </p:nvPicPr>
        <p:blipFill>
          <a:blip r:embed="rId2"/>
          <a:stretch>
            <a:fillRect/>
          </a:stretch>
        </p:blipFill>
        <p:spPr>
          <a:xfrm>
            <a:off x="1966548" y="3198798"/>
            <a:ext cx="5210902" cy="3343742"/>
          </a:xfrm>
          <a:prstGeom prst="rect">
            <a:avLst/>
          </a:prstGeom>
        </p:spPr>
      </p:pic>
    </p:spTree>
    <p:extLst>
      <p:ext uri="{BB962C8B-B14F-4D97-AF65-F5344CB8AC3E}">
        <p14:creationId xmlns:p14="http://schemas.microsoft.com/office/powerpoint/2010/main" val="41044132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02462-7C1B-B900-7F82-A014B3E116A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2491BB8-2633-4CE6-267F-E097F8B10E0B}"/>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A Robotic Agent</a:t>
            </a:r>
          </a:p>
        </p:txBody>
      </p:sp>
      <p:graphicFrame>
        <p:nvGraphicFramePr>
          <p:cNvPr id="2" name="Table 1">
            <a:extLst>
              <a:ext uri="{FF2B5EF4-FFF2-40B4-BE49-F238E27FC236}">
                <a16:creationId xmlns:a16="http://schemas.microsoft.com/office/drawing/2014/main" id="{F8EC0A61-EDC9-B30E-3E29-F06A570A165C}"/>
              </a:ext>
            </a:extLst>
          </p:cNvPr>
          <p:cNvGraphicFramePr>
            <a:graphicFrameLocks noGrp="1"/>
          </p:cNvGraphicFramePr>
          <p:nvPr>
            <p:extLst>
              <p:ext uri="{D42A27DB-BD31-4B8C-83A1-F6EECF244321}">
                <p14:modId xmlns:p14="http://schemas.microsoft.com/office/powerpoint/2010/main" val="1959266104"/>
              </p:ext>
            </p:extLst>
          </p:nvPr>
        </p:nvGraphicFramePr>
        <p:xfrm>
          <a:off x="452965" y="1454573"/>
          <a:ext cx="8229600" cy="9144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1222878662"/>
                    </a:ext>
                  </a:extLst>
                </a:gridCol>
                <a:gridCol w="4114800">
                  <a:extLst>
                    <a:ext uri="{9D8B030D-6E8A-4147-A177-3AD203B41FA5}">
                      <a16:colId xmlns:a16="http://schemas.microsoft.com/office/drawing/2014/main" val="1253768364"/>
                    </a:ext>
                  </a:extLst>
                </a:gridCol>
              </a:tblGrid>
              <a:tr h="120227">
                <a:tc>
                  <a:txBody>
                    <a:bodyPr/>
                    <a:lstStyle/>
                    <a:p>
                      <a:pPr algn="ctr"/>
                      <a:r>
                        <a:rPr lang="en-US" sz="2400" b="0" dirty="0">
                          <a:solidFill>
                            <a:schemeClr val="tx1"/>
                          </a:solidFill>
                          <a:latin typeface="CMU Serif" panose="02000603000000000000" pitchFamily="2" charset="0"/>
                          <a:ea typeface="CMU Serif" panose="02000603000000000000" pitchFamily="2" charset="0"/>
                          <a:cs typeface="CMU Serif" panose="02000603000000000000" pitchFamily="2" charset="0"/>
                        </a:rPr>
                        <a:t>Percepts</a:t>
                      </a:r>
                    </a:p>
                  </a:txBody>
                  <a:tcPr/>
                </a:tc>
                <a:tc>
                  <a:txBody>
                    <a:bodyPr/>
                    <a:lstStyle/>
                    <a:p>
                      <a:pPr algn="ctr"/>
                      <a:r>
                        <a:rPr lang="en-US" sz="2400" b="0" dirty="0">
                          <a:solidFill>
                            <a:schemeClr val="tx1"/>
                          </a:solidFill>
                          <a:latin typeface="CMU Serif" panose="02000603000000000000" pitchFamily="2" charset="0"/>
                          <a:ea typeface="CMU Serif" panose="02000603000000000000" pitchFamily="2" charset="0"/>
                          <a:cs typeface="CMU Serif" panose="02000603000000000000" pitchFamily="2" charset="0"/>
                        </a:rPr>
                        <a:t>Actions</a:t>
                      </a:r>
                    </a:p>
                  </a:txBody>
                  <a:tcPr/>
                </a:tc>
                <a:extLst>
                  <a:ext uri="{0D108BD9-81ED-4DB2-BD59-A6C34878D82A}">
                    <a16:rowId xmlns:a16="http://schemas.microsoft.com/office/drawing/2014/main" val="2729243484"/>
                  </a:ext>
                </a:extLst>
              </a:tr>
              <a:tr h="0">
                <a:tc>
                  <a:txBody>
                    <a:bodyPr/>
                    <a:lstStyle/>
                    <a:p>
                      <a:pPr algn="ctr"/>
                      <a:endParaRPr lang="en-US" sz="2400" b="0" dirty="0">
                        <a:solidFill>
                          <a:schemeClr val="tx1"/>
                        </a:solidFill>
                        <a:latin typeface="CMU Serif" panose="02000603000000000000" pitchFamily="2" charset="0"/>
                        <a:ea typeface="CMU Serif" panose="02000603000000000000" pitchFamily="2" charset="0"/>
                        <a:cs typeface="CMU Serif" panose="02000603000000000000" pitchFamily="2" charset="0"/>
                      </a:endParaRPr>
                    </a:p>
                  </a:txBody>
                  <a:tcPr marL="45720" marR="45720"/>
                </a:tc>
                <a:tc>
                  <a:txBody>
                    <a:bodyPr/>
                    <a:lstStyle/>
                    <a:p>
                      <a:pPr algn="ctr"/>
                      <a:endParaRPr lang="en-US" sz="2400" b="0" dirty="0">
                        <a:solidFill>
                          <a:schemeClr val="tx1"/>
                        </a:solidFill>
                        <a:latin typeface="CMU Serif" panose="02000603000000000000" pitchFamily="2" charset="0"/>
                        <a:ea typeface="CMU Serif" panose="02000603000000000000" pitchFamily="2" charset="0"/>
                        <a:cs typeface="CMU Serif" panose="02000603000000000000" pitchFamily="2" charset="0"/>
                      </a:endParaRPr>
                    </a:p>
                  </a:txBody>
                  <a:tcPr/>
                </a:tc>
                <a:extLst>
                  <a:ext uri="{0D108BD9-81ED-4DB2-BD59-A6C34878D82A}">
                    <a16:rowId xmlns:a16="http://schemas.microsoft.com/office/drawing/2014/main" val="3249428972"/>
                  </a:ext>
                </a:extLst>
              </a:tr>
            </a:tbl>
          </a:graphicData>
        </a:graphic>
      </p:graphicFrame>
      <p:pic>
        <p:nvPicPr>
          <p:cNvPr id="3" name="Picture 2">
            <a:extLst>
              <a:ext uri="{FF2B5EF4-FFF2-40B4-BE49-F238E27FC236}">
                <a16:creationId xmlns:a16="http://schemas.microsoft.com/office/drawing/2014/main" id="{357F90B3-7233-6A72-4AC6-495D0E37003E}"/>
              </a:ext>
            </a:extLst>
          </p:cNvPr>
          <p:cNvPicPr>
            <a:picLocks noChangeAspect="1"/>
          </p:cNvPicPr>
          <p:nvPr/>
        </p:nvPicPr>
        <p:blipFill>
          <a:blip r:embed="rId2"/>
          <a:stretch>
            <a:fillRect/>
          </a:stretch>
        </p:blipFill>
        <p:spPr>
          <a:xfrm>
            <a:off x="1966548" y="3198798"/>
            <a:ext cx="5210902" cy="3343742"/>
          </a:xfrm>
          <a:prstGeom prst="rect">
            <a:avLst/>
          </a:prstGeom>
        </p:spPr>
      </p:pic>
      <p:graphicFrame>
        <p:nvGraphicFramePr>
          <p:cNvPr id="5" name="Table 4">
            <a:extLst>
              <a:ext uri="{FF2B5EF4-FFF2-40B4-BE49-F238E27FC236}">
                <a16:creationId xmlns:a16="http://schemas.microsoft.com/office/drawing/2014/main" id="{F2C923FE-7E4A-767F-FBEB-BFBC6BF0252A}"/>
              </a:ext>
            </a:extLst>
          </p:cNvPr>
          <p:cNvGraphicFramePr>
            <a:graphicFrameLocks noGrp="1"/>
          </p:cNvGraphicFramePr>
          <p:nvPr>
            <p:extLst>
              <p:ext uri="{D42A27DB-BD31-4B8C-83A1-F6EECF244321}">
                <p14:modId xmlns:p14="http://schemas.microsoft.com/office/powerpoint/2010/main" val="326143783"/>
              </p:ext>
            </p:extLst>
          </p:nvPr>
        </p:nvGraphicFramePr>
        <p:xfrm>
          <a:off x="452965" y="1454573"/>
          <a:ext cx="8229600" cy="128016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1222878662"/>
                    </a:ext>
                  </a:extLst>
                </a:gridCol>
                <a:gridCol w="4114800">
                  <a:extLst>
                    <a:ext uri="{9D8B030D-6E8A-4147-A177-3AD203B41FA5}">
                      <a16:colId xmlns:a16="http://schemas.microsoft.com/office/drawing/2014/main" val="1253768364"/>
                    </a:ext>
                  </a:extLst>
                </a:gridCol>
              </a:tblGrid>
              <a:tr h="0">
                <a:tc>
                  <a:txBody>
                    <a:bodyPr/>
                    <a:lstStyle/>
                    <a:p>
                      <a:pPr algn="ctr"/>
                      <a:r>
                        <a:rPr lang="en-US" sz="2400" b="0" dirty="0">
                          <a:solidFill>
                            <a:schemeClr val="tx1"/>
                          </a:solidFill>
                          <a:latin typeface="CMU Serif" panose="02000603000000000000" pitchFamily="2" charset="0"/>
                          <a:ea typeface="CMU Serif" panose="02000603000000000000" pitchFamily="2" charset="0"/>
                          <a:cs typeface="CMU Serif" panose="02000603000000000000" pitchFamily="2" charset="0"/>
                        </a:rPr>
                        <a:t>Percepts</a:t>
                      </a:r>
                    </a:p>
                  </a:txBody>
                  <a:tcPr/>
                </a:tc>
                <a:tc>
                  <a:txBody>
                    <a:bodyPr/>
                    <a:lstStyle/>
                    <a:p>
                      <a:pPr algn="ctr"/>
                      <a:r>
                        <a:rPr lang="en-US" sz="2400" b="0" dirty="0">
                          <a:solidFill>
                            <a:schemeClr val="tx1"/>
                          </a:solidFill>
                          <a:latin typeface="CMU Serif" panose="02000603000000000000" pitchFamily="2" charset="0"/>
                          <a:ea typeface="CMU Serif" panose="02000603000000000000" pitchFamily="2" charset="0"/>
                          <a:cs typeface="CMU Serif" panose="02000603000000000000" pitchFamily="2" charset="0"/>
                        </a:rPr>
                        <a:t>Actions</a:t>
                      </a:r>
                    </a:p>
                  </a:txBody>
                  <a:tcPr/>
                </a:tc>
                <a:extLst>
                  <a:ext uri="{0D108BD9-81ED-4DB2-BD59-A6C34878D82A}">
                    <a16:rowId xmlns:a16="http://schemas.microsoft.com/office/drawing/2014/main" val="2729243484"/>
                  </a:ext>
                </a:extLst>
              </a:tr>
              <a:tr h="0">
                <a:tc>
                  <a:txBody>
                    <a:bodyPr/>
                    <a:lstStyle/>
                    <a:p>
                      <a:pPr algn="ctr"/>
                      <a:r>
                        <a:rPr lang="en-US" sz="2400" b="0" dirty="0">
                          <a:solidFill>
                            <a:schemeClr val="tx1"/>
                          </a:solidFill>
                          <a:latin typeface="CMU Serif" panose="02000603000000000000" pitchFamily="2" charset="0"/>
                          <a:ea typeface="CMU Serif" panose="02000603000000000000" pitchFamily="2" charset="0"/>
                          <a:cs typeface="CMU Serif" panose="02000603000000000000" pitchFamily="2" charset="0"/>
                        </a:rPr>
                        <a:t>Cameras, infrared to percept the environment </a:t>
                      </a:r>
                    </a:p>
                  </a:txBody>
                  <a:tcPr marL="45720" marR="45720"/>
                </a:tc>
                <a:tc>
                  <a:txBody>
                    <a:bodyPr/>
                    <a:lstStyle/>
                    <a:p>
                      <a:pPr algn="ctr"/>
                      <a:r>
                        <a:rPr lang="en-US" sz="2400" b="0" dirty="0">
                          <a:solidFill>
                            <a:schemeClr val="tx1"/>
                          </a:solidFill>
                          <a:latin typeface="CMU Serif" panose="02000603000000000000" pitchFamily="2" charset="0"/>
                          <a:ea typeface="CMU Serif" panose="02000603000000000000" pitchFamily="2" charset="0"/>
                          <a:cs typeface="CMU Serif" panose="02000603000000000000" pitchFamily="2" charset="0"/>
                        </a:rPr>
                        <a:t>Various motors for actuators to act on the environment</a:t>
                      </a:r>
                    </a:p>
                  </a:txBody>
                  <a:tcPr/>
                </a:tc>
                <a:extLst>
                  <a:ext uri="{0D108BD9-81ED-4DB2-BD59-A6C34878D82A}">
                    <a16:rowId xmlns:a16="http://schemas.microsoft.com/office/drawing/2014/main" val="3249428972"/>
                  </a:ext>
                </a:extLst>
              </a:tr>
            </a:tbl>
          </a:graphicData>
        </a:graphic>
      </p:graphicFrame>
    </p:spTree>
    <p:extLst>
      <p:ext uri="{BB962C8B-B14F-4D97-AF65-F5344CB8AC3E}">
        <p14:creationId xmlns:p14="http://schemas.microsoft.com/office/powerpoint/2010/main" val="1747524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13FC4-3650-E2CF-6522-33891F08982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0D75502-9356-696E-E5B8-5E4B54D21D18}"/>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A Software Agent</a:t>
            </a:r>
          </a:p>
        </p:txBody>
      </p:sp>
      <p:graphicFrame>
        <p:nvGraphicFramePr>
          <p:cNvPr id="2" name="Table 1">
            <a:extLst>
              <a:ext uri="{FF2B5EF4-FFF2-40B4-BE49-F238E27FC236}">
                <a16:creationId xmlns:a16="http://schemas.microsoft.com/office/drawing/2014/main" id="{6FAF1B5D-71BB-D5A9-44DC-2DADC60FDBF0}"/>
              </a:ext>
            </a:extLst>
          </p:cNvPr>
          <p:cNvGraphicFramePr>
            <a:graphicFrameLocks noGrp="1"/>
          </p:cNvGraphicFramePr>
          <p:nvPr>
            <p:extLst>
              <p:ext uri="{D42A27DB-BD31-4B8C-83A1-F6EECF244321}">
                <p14:modId xmlns:p14="http://schemas.microsoft.com/office/powerpoint/2010/main" val="3071502528"/>
              </p:ext>
            </p:extLst>
          </p:nvPr>
        </p:nvGraphicFramePr>
        <p:xfrm>
          <a:off x="452965" y="1454573"/>
          <a:ext cx="8229600" cy="9144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1222878662"/>
                    </a:ext>
                  </a:extLst>
                </a:gridCol>
                <a:gridCol w="4114800">
                  <a:extLst>
                    <a:ext uri="{9D8B030D-6E8A-4147-A177-3AD203B41FA5}">
                      <a16:colId xmlns:a16="http://schemas.microsoft.com/office/drawing/2014/main" val="1253768364"/>
                    </a:ext>
                  </a:extLst>
                </a:gridCol>
              </a:tblGrid>
              <a:tr h="0">
                <a:tc>
                  <a:txBody>
                    <a:bodyPr/>
                    <a:lstStyle/>
                    <a:p>
                      <a:pPr algn="ctr"/>
                      <a:r>
                        <a:rPr lang="en-US" sz="2400" b="0" dirty="0">
                          <a:solidFill>
                            <a:schemeClr val="tx1"/>
                          </a:solidFill>
                          <a:latin typeface="CMU Serif" panose="02000603000000000000" pitchFamily="2" charset="0"/>
                          <a:ea typeface="CMU Serif" panose="02000603000000000000" pitchFamily="2" charset="0"/>
                          <a:cs typeface="CMU Serif" panose="02000603000000000000" pitchFamily="2" charset="0"/>
                        </a:rPr>
                        <a:t>Percepts</a:t>
                      </a:r>
                    </a:p>
                  </a:txBody>
                  <a:tcPr/>
                </a:tc>
                <a:tc>
                  <a:txBody>
                    <a:bodyPr/>
                    <a:lstStyle/>
                    <a:p>
                      <a:pPr algn="ctr"/>
                      <a:r>
                        <a:rPr lang="en-US" sz="2400" b="0" dirty="0">
                          <a:solidFill>
                            <a:schemeClr val="tx1"/>
                          </a:solidFill>
                          <a:latin typeface="CMU Serif" panose="02000603000000000000" pitchFamily="2" charset="0"/>
                          <a:ea typeface="CMU Serif" panose="02000603000000000000" pitchFamily="2" charset="0"/>
                          <a:cs typeface="CMU Serif" panose="02000603000000000000" pitchFamily="2" charset="0"/>
                        </a:rPr>
                        <a:t>Actions</a:t>
                      </a:r>
                    </a:p>
                  </a:txBody>
                  <a:tcPr/>
                </a:tc>
                <a:extLst>
                  <a:ext uri="{0D108BD9-81ED-4DB2-BD59-A6C34878D82A}">
                    <a16:rowId xmlns:a16="http://schemas.microsoft.com/office/drawing/2014/main" val="2729243484"/>
                  </a:ext>
                </a:extLst>
              </a:tr>
              <a:tr h="0">
                <a:tc>
                  <a:txBody>
                    <a:bodyPr/>
                    <a:lstStyle/>
                    <a:p>
                      <a:pPr algn="ctr"/>
                      <a:endParaRPr lang="en-US" sz="2400" b="0" dirty="0">
                        <a:solidFill>
                          <a:schemeClr val="tx1"/>
                        </a:solidFill>
                        <a:latin typeface="CMU Serif" panose="02000603000000000000" pitchFamily="2" charset="0"/>
                        <a:ea typeface="CMU Serif" panose="02000603000000000000" pitchFamily="2" charset="0"/>
                        <a:cs typeface="CMU Serif" panose="02000603000000000000" pitchFamily="2" charset="0"/>
                      </a:endParaRPr>
                    </a:p>
                  </a:txBody>
                  <a:tcPr/>
                </a:tc>
                <a:tc>
                  <a:txBody>
                    <a:bodyPr/>
                    <a:lstStyle/>
                    <a:p>
                      <a:pPr algn="ctr"/>
                      <a:endParaRPr lang="en-US" sz="2400" b="0" dirty="0">
                        <a:solidFill>
                          <a:schemeClr val="tx1"/>
                        </a:solidFill>
                        <a:latin typeface="CMU Serif" panose="02000603000000000000" pitchFamily="2" charset="0"/>
                        <a:ea typeface="CMU Serif" panose="02000603000000000000" pitchFamily="2" charset="0"/>
                        <a:cs typeface="CMU Serif" panose="02000603000000000000" pitchFamily="2" charset="0"/>
                      </a:endParaRPr>
                    </a:p>
                  </a:txBody>
                  <a:tcPr/>
                </a:tc>
                <a:extLst>
                  <a:ext uri="{0D108BD9-81ED-4DB2-BD59-A6C34878D82A}">
                    <a16:rowId xmlns:a16="http://schemas.microsoft.com/office/drawing/2014/main" val="3249428972"/>
                  </a:ext>
                </a:extLst>
              </a:tr>
            </a:tbl>
          </a:graphicData>
        </a:graphic>
      </p:graphicFrame>
      <p:pic>
        <p:nvPicPr>
          <p:cNvPr id="3" name="Picture 2">
            <a:extLst>
              <a:ext uri="{FF2B5EF4-FFF2-40B4-BE49-F238E27FC236}">
                <a16:creationId xmlns:a16="http://schemas.microsoft.com/office/drawing/2014/main" id="{559E7877-61F4-E956-7E37-84D8ECFA691E}"/>
              </a:ext>
            </a:extLst>
          </p:cNvPr>
          <p:cNvPicPr>
            <a:picLocks noChangeAspect="1"/>
          </p:cNvPicPr>
          <p:nvPr/>
        </p:nvPicPr>
        <p:blipFill>
          <a:blip r:embed="rId2"/>
          <a:stretch>
            <a:fillRect/>
          </a:stretch>
        </p:blipFill>
        <p:spPr>
          <a:xfrm>
            <a:off x="1966548" y="3198798"/>
            <a:ext cx="5210902" cy="3343742"/>
          </a:xfrm>
          <a:prstGeom prst="rect">
            <a:avLst/>
          </a:prstGeom>
        </p:spPr>
      </p:pic>
      <p:graphicFrame>
        <p:nvGraphicFramePr>
          <p:cNvPr id="5" name="Table 4">
            <a:extLst>
              <a:ext uri="{FF2B5EF4-FFF2-40B4-BE49-F238E27FC236}">
                <a16:creationId xmlns:a16="http://schemas.microsoft.com/office/drawing/2014/main" id="{A9FA5EAA-2F1D-97D6-216F-02ADD03E84F8}"/>
              </a:ext>
            </a:extLst>
          </p:cNvPr>
          <p:cNvGraphicFramePr>
            <a:graphicFrameLocks noGrp="1"/>
          </p:cNvGraphicFramePr>
          <p:nvPr>
            <p:extLst>
              <p:ext uri="{D42A27DB-BD31-4B8C-83A1-F6EECF244321}">
                <p14:modId xmlns:p14="http://schemas.microsoft.com/office/powerpoint/2010/main" val="4165030952"/>
              </p:ext>
            </p:extLst>
          </p:nvPr>
        </p:nvGraphicFramePr>
        <p:xfrm>
          <a:off x="452965" y="1454573"/>
          <a:ext cx="8229600" cy="164592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1222878662"/>
                    </a:ext>
                  </a:extLst>
                </a:gridCol>
                <a:gridCol w="4114800">
                  <a:extLst>
                    <a:ext uri="{9D8B030D-6E8A-4147-A177-3AD203B41FA5}">
                      <a16:colId xmlns:a16="http://schemas.microsoft.com/office/drawing/2014/main" val="1253768364"/>
                    </a:ext>
                  </a:extLst>
                </a:gridCol>
              </a:tblGrid>
              <a:tr h="0">
                <a:tc>
                  <a:txBody>
                    <a:bodyPr/>
                    <a:lstStyle/>
                    <a:p>
                      <a:pPr algn="ctr"/>
                      <a:r>
                        <a:rPr lang="en-US" sz="2400" b="0" dirty="0">
                          <a:solidFill>
                            <a:schemeClr val="tx1"/>
                          </a:solidFill>
                          <a:latin typeface="CMU Serif" panose="02000603000000000000" pitchFamily="2" charset="0"/>
                          <a:ea typeface="CMU Serif" panose="02000603000000000000" pitchFamily="2" charset="0"/>
                          <a:cs typeface="CMU Serif" panose="02000603000000000000" pitchFamily="2" charset="0"/>
                        </a:rPr>
                        <a:t>Percepts</a:t>
                      </a:r>
                    </a:p>
                  </a:txBody>
                  <a:tcPr/>
                </a:tc>
                <a:tc>
                  <a:txBody>
                    <a:bodyPr/>
                    <a:lstStyle/>
                    <a:p>
                      <a:pPr algn="ctr"/>
                      <a:r>
                        <a:rPr lang="en-US" sz="2400" b="0" dirty="0">
                          <a:solidFill>
                            <a:schemeClr val="tx1"/>
                          </a:solidFill>
                          <a:latin typeface="CMU Serif" panose="02000603000000000000" pitchFamily="2" charset="0"/>
                          <a:ea typeface="CMU Serif" panose="02000603000000000000" pitchFamily="2" charset="0"/>
                          <a:cs typeface="CMU Serif" panose="02000603000000000000" pitchFamily="2" charset="0"/>
                        </a:rPr>
                        <a:t>Actions</a:t>
                      </a:r>
                    </a:p>
                  </a:txBody>
                  <a:tcPr/>
                </a:tc>
                <a:extLst>
                  <a:ext uri="{0D108BD9-81ED-4DB2-BD59-A6C34878D82A}">
                    <a16:rowId xmlns:a16="http://schemas.microsoft.com/office/drawing/2014/main" val="2729243484"/>
                  </a:ext>
                </a:extLst>
              </a:tr>
              <a:tr h="0">
                <a:tc>
                  <a:txBody>
                    <a:bodyPr/>
                    <a:lstStyle/>
                    <a:p>
                      <a:pPr algn="ctr"/>
                      <a:r>
                        <a:rPr lang="en-US" sz="2400" b="0" dirty="0">
                          <a:solidFill>
                            <a:schemeClr val="tx1"/>
                          </a:solidFill>
                          <a:latin typeface="CMU Serif" panose="02000603000000000000" pitchFamily="2" charset="0"/>
                          <a:ea typeface="CMU Serif" panose="02000603000000000000" pitchFamily="2" charset="0"/>
                          <a:cs typeface="CMU Serif" panose="02000603000000000000" pitchFamily="2" charset="0"/>
                        </a:rPr>
                        <a:t>File content, receive network packets, human inputs </a:t>
                      </a:r>
                    </a:p>
                  </a:txBody>
                  <a:tcPr/>
                </a:tc>
                <a:tc>
                  <a:txBody>
                    <a:bodyPr/>
                    <a:lstStyle/>
                    <a:p>
                      <a:pPr algn="ctr"/>
                      <a:r>
                        <a:rPr lang="en-US" sz="2400" b="0" dirty="0">
                          <a:solidFill>
                            <a:schemeClr val="tx1"/>
                          </a:solidFill>
                          <a:latin typeface="CMU Serif" panose="02000603000000000000" pitchFamily="2" charset="0"/>
                          <a:ea typeface="CMU Serif" panose="02000603000000000000" pitchFamily="2" charset="0"/>
                          <a:cs typeface="CMU Serif" panose="02000603000000000000" pitchFamily="2" charset="0"/>
                        </a:rPr>
                        <a:t>Writing files, send network packets, display information or play a sound</a:t>
                      </a:r>
                    </a:p>
                  </a:txBody>
                  <a:tcPr/>
                </a:tc>
                <a:extLst>
                  <a:ext uri="{0D108BD9-81ED-4DB2-BD59-A6C34878D82A}">
                    <a16:rowId xmlns:a16="http://schemas.microsoft.com/office/drawing/2014/main" val="3249428972"/>
                  </a:ext>
                </a:extLst>
              </a:tr>
            </a:tbl>
          </a:graphicData>
        </a:graphic>
      </p:graphicFrame>
    </p:spTree>
    <p:extLst>
      <p:ext uri="{BB962C8B-B14F-4D97-AF65-F5344CB8AC3E}">
        <p14:creationId xmlns:p14="http://schemas.microsoft.com/office/powerpoint/2010/main" val="1282869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04950-08D1-6079-3D45-985D69DB30D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06A9311-4AF2-9C9A-234D-AEC13535E5DC}"/>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A Rational Agent</a:t>
            </a:r>
          </a:p>
        </p:txBody>
      </p:sp>
      <p:sp>
        <p:nvSpPr>
          <p:cNvPr id="6" name="TextBox 5">
            <a:extLst>
              <a:ext uri="{FF2B5EF4-FFF2-40B4-BE49-F238E27FC236}">
                <a16:creationId xmlns:a16="http://schemas.microsoft.com/office/drawing/2014/main" id="{0A2AB704-FB6A-5CC3-1C83-5967048C925D}"/>
              </a:ext>
            </a:extLst>
          </p:cNvPr>
          <p:cNvSpPr txBox="1"/>
          <p:nvPr/>
        </p:nvSpPr>
        <p:spPr>
          <a:xfrm>
            <a:off x="452965" y="1917202"/>
            <a:ext cx="8238067" cy="3954929"/>
          </a:xfrm>
          <a:prstGeom prst="rect">
            <a:avLst/>
          </a:prstGeom>
          <a:noFill/>
        </p:spPr>
        <p:txBody>
          <a:bodyPr wrap="square" lIns="0" tIns="0" rIns="0" bIns="0" rtlCol="0" anchor="ctr">
            <a:spAutoFit/>
          </a:bodyPr>
          <a:lstStyle/>
          <a:p>
            <a:pPr>
              <a:spcAft>
                <a:spcPts val="6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A rational agent is one that does the right thing. Obviously, doing the right thing is better than doing the wrong thing, but what does it mean to do the right thing?</a:t>
            </a:r>
          </a:p>
          <a:p>
            <a:pPr>
              <a:spcAft>
                <a:spcPts val="600"/>
              </a:spcAft>
              <a:buClr>
                <a:schemeClr val="accent1"/>
              </a:buClr>
            </a:pPr>
            <a:endParaRPr lang="en-US" sz="1100" dirty="0">
              <a:latin typeface="CMU Serif" panose="02000603000000000000" pitchFamily="2" charset="0"/>
              <a:ea typeface="CMU Serif" panose="02000603000000000000" pitchFamily="2" charset="0"/>
              <a:cs typeface="CMU Serif" panose="02000603000000000000" pitchFamily="2" charset="0"/>
            </a:endParaRPr>
          </a:p>
          <a:p>
            <a:pPr>
              <a:spcAft>
                <a:spcPts val="6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What is rational at any given time depends on four things:</a:t>
            </a:r>
          </a:p>
          <a:p>
            <a:pPr marL="342900" indent="-342900">
              <a:spcAft>
                <a:spcPts val="6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The performance measure that defines the criterion of success.</a:t>
            </a:r>
          </a:p>
          <a:p>
            <a:pPr marL="342900" indent="-342900">
              <a:spcAft>
                <a:spcPts val="6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The agent’s prior knowledge of the environment.</a:t>
            </a:r>
          </a:p>
          <a:p>
            <a:pPr marL="342900" indent="-342900">
              <a:spcAft>
                <a:spcPts val="6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The actions that the agent can perform.</a:t>
            </a:r>
          </a:p>
          <a:p>
            <a:pPr marL="342900" indent="-342900">
              <a:spcAft>
                <a:spcPts val="6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The agent’s percept sequence to date.</a:t>
            </a:r>
          </a:p>
        </p:txBody>
      </p:sp>
    </p:spTree>
    <p:extLst>
      <p:ext uri="{BB962C8B-B14F-4D97-AF65-F5344CB8AC3E}">
        <p14:creationId xmlns:p14="http://schemas.microsoft.com/office/powerpoint/2010/main" val="6153485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3D9D1-C55B-7A79-5333-5CB952440C3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1612D7B-AA5E-EAB1-7FBD-78C8942177CA}"/>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A Rational Agent Example </a:t>
            </a:r>
          </a:p>
        </p:txBody>
      </p:sp>
      <p:sp>
        <p:nvSpPr>
          <p:cNvPr id="6" name="TextBox 5">
            <a:extLst>
              <a:ext uri="{FF2B5EF4-FFF2-40B4-BE49-F238E27FC236}">
                <a16:creationId xmlns:a16="http://schemas.microsoft.com/office/drawing/2014/main" id="{A9B597E9-1854-674C-DB9D-20258D053D8E}"/>
              </a:ext>
            </a:extLst>
          </p:cNvPr>
          <p:cNvSpPr txBox="1"/>
          <p:nvPr/>
        </p:nvSpPr>
        <p:spPr>
          <a:xfrm>
            <a:off x="452965" y="1480965"/>
            <a:ext cx="8238067" cy="5047536"/>
          </a:xfrm>
          <a:prstGeom prst="rect">
            <a:avLst/>
          </a:prstGeom>
          <a:noFill/>
        </p:spPr>
        <p:txBody>
          <a:bodyPr wrap="square" lIns="0" tIns="0" rIns="0" bIns="0" rtlCol="0" anchor="ctr">
            <a:spAutoFit/>
          </a:bodyPr>
          <a:lstStyle/>
          <a:p>
            <a:pPr>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Imagine a vacuum-cleaner robotic agent attempting to clean a room. At each time step it can clean a square foot.</a:t>
            </a:r>
          </a:p>
          <a:p>
            <a:pPr marL="342900" indent="-342900">
              <a:spcAft>
                <a:spcPts val="1200"/>
              </a:spcAft>
              <a:buClr>
                <a:schemeClr val="accent1"/>
              </a:buClr>
              <a:buFont typeface="Arial" panose="020B0604020202020204" pitchFamily="34" charset="0"/>
              <a:buChar char="•"/>
            </a:pP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The performance measure that defines the criterion of success. </a:t>
            </a:r>
            <a:r>
              <a:rPr lang="en-US" sz="2400" dirty="0">
                <a:latin typeface="CMU Serif" panose="02000603000000000000" pitchFamily="2" charset="0"/>
                <a:ea typeface="CMU Serif" panose="02000603000000000000" pitchFamily="2" charset="0"/>
                <a:cs typeface="CMU Serif" panose="02000603000000000000" pitchFamily="2" charset="0"/>
              </a:rPr>
              <a:t>Square footage of dirt cleaned by the agent.</a:t>
            </a:r>
          </a:p>
          <a:p>
            <a:pPr marL="342900" indent="-342900">
              <a:spcAft>
                <a:spcPts val="1200"/>
              </a:spcAft>
              <a:buClr>
                <a:schemeClr val="accent1"/>
              </a:buClr>
              <a:buFont typeface="Arial" panose="020B0604020202020204" pitchFamily="34" charset="0"/>
              <a:buChar char="•"/>
            </a:pP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The agent’s prior knowledge of the environment. </a:t>
            </a:r>
            <a:r>
              <a:rPr lang="en-US" sz="2400" dirty="0">
                <a:latin typeface="CMU Serif" panose="02000603000000000000" pitchFamily="2" charset="0"/>
                <a:ea typeface="CMU Serif" panose="02000603000000000000" pitchFamily="2" charset="0"/>
                <a:cs typeface="CMU Serif" panose="02000603000000000000" pitchFamily="2" charset="0"/>
              </a:rPr>
              <a:t>Agent need to know about the environment/geography but not necessary a priori knowledge of the dirt location. </a:t>
            </a:r>
          </a:p>
          <a:p>
            <a:pPr marL="342900" indent="-342900">
              <a:spcAft>
                <a:spcPts val="1200"/>
              </a:spcAft>
              <a:buClr>
                <a:schemeClr val="accent1"/>
              </a:buClr>
              <a:buFont typeface="Arial" panose="020B0604020202020204" pitchFamily="34" charset="0"/>
              <a:buChar char="•"/>
            </a:pP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The actions that the agent can perform. </a:t>
            </a:r>
            <a:r>
              <a:rPr lang="en-US" sz="2400" dirty="0">
                <a:latin typeface="CMU Serif" panose="02000603000000000000" pitchFamily="2" charset="0"/>
                <a:ea typeface="CMU Serif" panose="02000603000000000000" pitchFamily="2" charset="0"/>
                <a:cs typeface="CMU Serif" panose="02000603000000000000" pitchFamily="2" charset="0"/>
              </a:rPr>
              <a:t>Must have actuators to move left, right, forward, and clean up dirt.</a:t>
            </a:r>
          </a:p>
          <a:p>
            <a:pPr marL="342900" indent="-342900">
              <a:spcAft>
                <a:spcPts val="1200"/>
              </a:spcAft>
              <a:buClr>
                <a:schemeClr val="accent1"/>
              </a:buClr>
              <a:buFont typeface="Arial" panose="020B0604020202020204" pitchFamily="34" charset="0"/>
              <a:buChar char="•"/>
            </a:pP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The agent’s percept sequence to date. </a:t>
            </a:r>
            <a:r>
              <a:rPr lang="en-US" sz="2400" dirty="0">
                <a:latin typeface="CMU Serif" panose="02000603000000000000" pitchFamily="2" charset="0"/>
                <a:ea typeface="CMU Serif" panose="02000603000000000000" pitchFamily="2" charset="0"/>
                <a:cs typeface="CMU Serif" panose="02000603000000000000" pitchFamily="2" charset="0"/>
              </a:rPr>
              <a:t>Agent must be able to correctly perceive its location and the location of the dirt. </a:t>
            </a:r>
          </a:p>
        </p:txBody>
      </p:sp>
    </p:spTree>
    <p:extLst>
      <p:ext uri="{BB962C8B-B14F-4D97-AF65-F5344CB8AC3E}">
        <p14:creationId xmlns:p14="http://schemas.microsoft.com/office/powerpoint/2010/main" val="33258080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97589-E7E9-5086-C508-352CC7CE9C9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8518F6D-EA84-7DC5-9886-5563F0C63EF6}"/>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PEAS</a:t>
            </a:r>
          </a:p>
        </p:txBody>
      </p:sp>
      <p:sp>
        <p:nvSpPr>
          <p:cNvPr id="6" name="TextBox 5">
            <a:extLst>
              <a:ext uri="{FF2B5EF4-FFF2-40B4-BE49-F238E27FC236}">
                <a16:creationId xmlns:a16="http://schemas.microsoft.com/office/drawing/2014/main" id="{3BDC5FF8-7671-7586-B4E4-18BD46C8E3EA}"/>
              </a:ext>
            </a:extLst>
          </p:cNvPr>
          <p:cNvSpPr txBox="1"/>
          <p:nvPr/>
        </p:nvSpPr>
        <p:spPr>
          <a:xfrm>
            <a:off x="452966" y="1974123"/>
            <a:ext cx="8238067" cy="3739485"/>
          </a:xfrm>
          <a:prstGeom prst="rect">
            <a:avLst/>
          </a:prstGeom>
          <a:noFill/>
        </p:spPr>
        <p:txBody>
          <a:bodyPr wrap="square" lIns="0" tIns="0" rIns="0" bIns="0" rtlCol="0" anchor="ctr">
            <a:spAutoFit/>
          </a:bodyPr>
          <a:lstStyle/>
          <a:p>
            <a:pPr>
              <a:spcBef>
                <a:spcPts val="600"/>
              </a:spcBef>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Therefore, An Agents must have: </a:t>
            </a:r>
          </a:p>
          <a:p>
            <a:pPr marL="342900" indent="-342900">
              <a:spcBef>
                <a:spcPts val="600"/>
              </a:spcBef>
              <a:spcAft>
                <a:spcPts val="1200"/>
              </a:spcAft>
              <a:buClr>
                <a:schemeClr val="accent1"/>
              </a:buClr>
              <a:buFont typeface="Arial" panose="020B0604020202020204" pitchFamily="34" charset="0"/>
              <a:buChar char="•"/>
            </a:pPr>
            <a:r>
              <a:rPr lang="en-US" sz="2400" b="1" dirty="0">
                <a:latin typeface="CMU Serif" panose="02000603000000000000" pitchFamily="2" charset="0"/>
                <a:ea typeface="CMU Serif" panose="02000603000000000000" pitchFamily="2" charset="0"/>
                <a:cs typeface="CMU Serif" panose="02000603000000000000" pitchFamily="2" charset="0"/>
              </a:rPr>
              <a:t>P</a:t>
            </a:r>
            <a:r>
              <a:rPr lang="en-US" sz="2400" dirty="0">
                <a:latin typeface="CMU Serif" panose="02000603000000000000" pitchFamily="2" charset="0"/>
                <a:ea typeface="CMU Serif" panose="02000603000000000000" pitchFamily="2" charset="0"/>
                <a:cs typeface="CMU Serif" panose="02000603000000000000" pitchFamily="2" charset="0"/>
              </a:rPr>
              <a:t>erformance measure </a:t>
            </a:r>
          </a:p>
          <a:p>
            <a:pPr marL="342900" indent="-342900">
              <a:spcBef>
                <a:spcPts val="600"/>
              </a:spcBef>
              <a:spcAft>
                <a:spcPts val="1200"/>
              </a:spcAft>
              <a:buClr>
                <a:schemeClr val="accent1"/>
              </a:buClr>
              <a:buFont typeface="Arial" panose="020B0604020202020204" pitchFamily="34" charset="0"/>
              <a:buChar char="•"/>
            </a:pPr>
            <a:r>
              <a:rPr lang="en-US" sz="2400" b="1" dirty="0">
                <a:latin typeface="CMU Serif" panose="02000603000000000000" pitchFamily="2" charset="0"/>
                <a:ea typeface="CMU Serif" panose="02000603000000000000" pitchFamily="2" charset="0"/>
                <a:cs typeface="CMU Serif" panose="02000603000000000000" pitchFamily="2" charset="0"/>
              </a:rPr>
              <a:t>E</a:t>
            </a:r>
            <a:r>
              <a:rPr lang="en-US" sz="2400" dirty="0">
                <a:latin typeface="CMU Serif" panose="02000603000000000000" pitchFamily="2" charset="0"/>
                <a:ea typeface="CMU Serif" panose="02000603000000000000" pitchFamily="2" charset="0"/>
                <a:cs typeface="CMU Serif" panose="02000603000000000000" pitchFamily="2" charset="0"/>
              </a:rPr>
              <a:t>nvironment </a:t>
            </a:r>
          </a:p>
          <a:p>
            <a:pPr marL="342900" indent="-342900">
              <a:spcBef>
                <a:spcPts val="600"/>
              </a:spcBef>
              <a:spcAft>
                <a:spcPts val="1200"/>
              </a:spcAft>
              <a:buClr>
                <a:schemeClr val="accent1"/>
              </a:buClr>
              <a:buFont typeface="Arial" panose="020B0604020202020204" pitchFamily="34" charset="0"/>
              <a:buChar char="•"/>
            </a:pPr>
            <a:r>
              <a:rPr lang="en-US" sz="2400" b="1" dirty="0">
                <a:latin typeface="CMU Serif" panose="02000603000000000000" pitchFamily="2" charset="0"/>
                <a:ea typeface="CMU Serif" panose="02000603000000000000" pitchFamily="2" charset="0"/>
                <a:cs typeface="CMU Serif" panose="02000603000000000000" pitchFamily="2" charset="0"/>
              </a:rPr>
              <a:t>A</a:t>
            </a:r>
            <a:r>
              <a:rPr lang="en-US" sz="2400" dirty="0">
                <a:latin typeface="CMU Serif" panose="02000603000000000000" pitchFamily="2" charset="0"/>
                <a:ea typeface="CMU Serif" panose="02000603000000000000" pitchFamily="2" charset="0"/>
                <a:cs typeface="CMU Serif" panose="02000603000000000000" pitchFamily="2" charset="0"/>
              </a:rPr>
              <a:t>ctuators </a:t>
            </a:r>
          </a:p>
          <a:p>
            <a:pPr marL="342900" indent="-342900">
              <a:spcBef>
                <a:spcPts val="600"/>
              </a:spcBef>
              <a:spcAft>
                <a:spcPts val="1200"/>
              </a:spcAft>
              <a:buClr>
                <a:schemeClr val="accent1"/>
              </a:buClr>
              <a:buFont typeface="Arial" panose="020B0604020202020204" pitchFamily="34" charset="0"/>
              <a:buChar char="•"/>
            </a:pPr>
            <a:r>
              <a:rPr lang="en-US" sz="2400" b="1" dirty="0">
                <a:latin typeface="CMU Serif" panose="02000603000000000000" pitchFamily="2" charset="0"/>
                <a:ea typeface="CMU Serif" panose="02000603000000000000" pitchFamily="2" charset="0"/>
                <a:cs typeface="CMU Serif" panose="02000603000000000000" pitchFamily="2" charset="0"/>
              </a:rPr>
              <a:t>S</a:t>
            </a:r>
            <a:r>
              <a:rPr lang="en-US" sz="2400" dirty="0">
                <a:latin typeface="CMU Serif" panose="02000603000000000000" pitchFamily="2" charset="0"/>
                <a:ea typeface="CMU Serif" panose="02000603000000000000" pitchFamily="2" charset="0"/>
                <a:cs typeface="CMU Serif" panose="02000603000000000000" pitchFamily="2" charset="0"/>
              </a:rPr>
              <a:t>ensors </a:t>
            </a:r>
          </a:p>
          <a:p>
            <a:pPr>
              <a:spcBef>
                <a:spcPts val="600"/>
              </a:spcBef>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In designing an agent, the first step must always be to specify the task environment as fully as possible.</a:t>
            </a:r>
          </a:p>
        </p:txBody>
      </p:sp>
    </p:spTree>
    <p:extLst>
      <p:ext uri="{BB962C8B-B14F-4D97-AF65-F5344CB8AC3E}">
        <p14:creationId xmlns:p14="http://schemas.microsoft.com/office/powerpoint/2010/main" val="1243629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C3193-CCD1-A5AE-8759-18422E91ABB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408AE48-550B-5D39-8269-E98045A8B7B8}"/>
              </a:ext>
            </a:extLst>
          </p:cNvPr>
          <p:cNvSpPr txBox="1"/>
          <p:nvPr/>
        </p:nvSpPr>
        <p:spPr>
          <a:xfrm>
            <a:off x="452966" y="1436334"/>
            <a:ext cx="8238067" cy="2462213"/>
          </a:xfrm>
          <a:prstGeom prst="rect">
            <a:avLst/>
          </a:prstGeom>
          <a:noFill/>
        </p:spPr>
        <p:txBody>
          <a:bodyPr wrap="square" lIns="0" tIns="0" rIns="0" bIns="0" rtlCol="0" anchor="ctr">
            <a:spAutoFit/>
          </a:bodyPr>
          <a:lstStyle/>
          <a:p>
            <a:pPr>
              <a:spcAft>
                <a:spcPts val="1200"/>
              </a:spcAft>
              <a:buClr>
                <a:schemeClr val="accent1"/>
              </a:buClr>
            </a:pPr>
            <a:endParaRPr lang="en-US" sz="2400" dirty="0">
              <a:latin typeface="CMU Serif" panose="02000603000000000000" pitchFamily="2" charset="0"/>
              <a:ea typeface="CMU Serif" panose="02000603000000000000" pitchFamily="2" charset="0"/>
              <a:cs typeface="CMU Serif" panose="02000603000000000000" pitchFamily="2" charset="0"/>
            </a:endParaRPr>
          </a:p>
          <a:p>
            <a:pPr>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Performance measure: </a:t>
            </a:r>
          </a:p>
          <a:p>
            <a:pPr>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Environment:</a:t>
            </a:r>
          </a:p>
          <a:p>
            <a:pPr>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Actuators:</a:t>
            </a:r>
          </a:p>
          <a:p>
            <a:pPr>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Sensors:</a:t>
            </a:r>
          </a:p>
        </p:txBody>
      </p:sp>
      <p:sp>
        <p:nvSpPr>
          <p:cNvPr id="6" name="TextBox 5">
            <a:extLst>
              <a:ext uri="{FF2B5EF4-FFF2-40B4-BE49-F238E27FC236}">
                <a16:creationId xmlns:a16="http://schemas.microsoft.com/office/drawing/2014/main" id="{D10413DC-0717-2EA9-E003-D5D09C3A7C91}"/>
              </a:ext>
            </a:extLst>
          </p:cNvPr>
          <p:cNvSpPr txBox="1"/>
          <p:nvPr/>
        </p:nvSpPr>
        <p:spPr>
          <a:xfrm>
            <a:off x="452966" y="1436335"/>
            <a:ext cx="8238067" cy="2462213"/>
          </a:xfrm>
          <a:prstGeom prst="rect">
            <a:avLst/>
          </a:prstGeom>
          <a:noFill/>
        </p:spPr>
        <p:txBody>
          <a:bodyPr wrap="square" lIns="0" tIns="0" rIns="0" bIns="0" rtlCol="0" anchor="ctr">
            <a:spAutoFit/>
          </a:bodyPr>
          <a:lstStyle/>
          <a:p>
            <a:pPr>
              <a:spcAft>
                <a:spcPts val="1200"/>
              </a:spcAft>
              <a:buClr>
                <a:schemeClr val="accent1"/>
              </a:buClr>
            </a:pPr>
            <a:r>
              <a:rPr lang="en-US" sz="2400" b="1" dirty="0">
                <a:latin typeface="CMU Serif" panose="02000603000000000000" pitchFamily="2" charset="0"/>
                <a:ea typeface="CMU Serif" panose="02000603000000000000" pitchFamily="2" charset="0"/>
                <a:cs typeface="CMU Serif" panose="02000603000000000000" pitchFamily="2" charset="0"/>
              </a:rPr>
              <a:t>Part-picking robot:</a:t>
            </a:r>
          </a:p>
          <a:p>
            <a:pPr>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Performance measure: Percentage of parts in correct bins</a:t>
            </a:r>
          </a:p>
          <a:p>
            <a:pPr>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Environment: Conveyor belt with parts, bins</a:t>
            </a:r>
          </a:p>
          <a:p>
            <a:pPr>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Actuators: Jointed arm and hand</a:t>
            </a:r>
          </a:p>
          <a:p>
            <a:pPr>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Sensors: Camera, joint angle sensors</a:t>
            </a:r>
          </a:p>
        </p:txBody>
      </p:sp>
      <p:sp>
        <p:nvSpPr>
          <p:cNvPr id="4" name="TextBox 3">
            <a:extLst>
              <a:ext uri="{FF2B5EF4-FFF2-40B4-BE49-F238E27FC236}">
                <a16:creationId xmlns:a16="http://schemas.microsoft.com/office/drawing/2014/main" id="{A7D1BB4E-B7C6-3C0B-053E-1AF7C11B2251}"/>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PEAS Example </a:t>
            </a:r>
          </a:p>
        </p:txBody>
      </p:sp>
      <p:pic>
        <p:nvPicPr>
          <p:cNvPr id="1026" name="Picture 2" descr="Piece-picking Robots | RoboticsTomorrow">
            <a:extLst>
              <a:ext uri="{FF2B5EF4-FFF2-40B4-BE49-F238E27FC236}">
                <a16:creationId xmlns:a16="http://schemas.microsoft.com/office/drawing/2014/main" id="{2644DA7B-D9E8-0D12-485B-6C51BC86819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667" r="14183"/>
          <a:stretch/>
        </p:blipFill>
        <p:spPr bwMode="auto">
          <a:xfrm>
            <a:off x="2675067" y="3973450"/>
            <a:ext cx="3793864" cy="274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3450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88537-A3B3-B7B0-A64A-DB220811AA4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FFAC0D1-4B34-8237-4ECF-0CAC07C8E69D}"/>
              </a:ext>
            </a:extLst>
          </p:cNvPr>
          <p:cNvSpPr txBox="1"/>
          <p:nvPr/>
        </p:nvSpPr>
        <p:spPr>
          <a:xfrm>
            <a:off x="452966" y="1436334"/>
            <a:ext cx="8238067" cy="2462213"/>
          </a:xfrm>
          <a:prstGeom prst="rect">
            <a:avLst/>
          </a:prstGeom>
          <a:noFill/>
        </p:spPr>
        <p:txBody>
          <a:bodyPr wrap="square" lIns="0" tIns="0" rIns="0" bIns="0" rtlCol="0" anchor="ctr">
            <a:spAutoFit/>
          </a:bodyPr>
          <a:lstStyle/>
          <a:p>
            <a:pPr>
              <a:spcAft>
                <a:spcPts val="1200"/>
              </a:spcAft>
              <a:buClr>
                <a:schemeClr val="accent1"/>
              </a:buClr>
            </a:pPr>
            <a:endParaRPr lang="en-US" sz="2400" dirty="0">
              <a:latin typeface="CMU Serif" panose="02000603000000000000" pitchFamily="2" charset="0"/>
              <a:ea typeface="CMU Serif" panose="02000603000000000000" pitchFamily="2" charset="0"/>
              <a:cs typeface="CMU Serif" panose="02000603000000000000" pitchFamily="2" charset="0"/>
            </a:endParaRPr>
          </a:p>
          <a:p>
            <a:pPr>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Performance measure: </a:t>
            </a:r>
          </a:p>
          <a:p>
            <a:pPr>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Environment:</a:t>
            </a:r>
          </a:p>
          <a:p>
            <a:pPr>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Actuators:</a:t>
            </a:r>
          </a:p>
          <a:p>
            <a:pPr>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Sensors:</a:t>
            </a:r>
          </a:p>
        </p:txBody>
      </p:sp>
      <p:sp>
        <p:nvSpPr>
          <p:cNvPr id="6" name="TextBox 5">
            <a:extLst>
              <a:ext uri="{FF2B5EF4-FFF2-40B4-BE49-F238E27FC236}">
                <a16:creationId xmlns:a16="http://schemas.microsoft.com/office/drawing/2014/main" id="{7E099145-6EB8-1339-35ED-A0DB72B9D711}"/>
              </a:ext>
            </a:extLst>
          </p:cNvPr>
          <p:cNvSpPr txBox="1"/>
          <p:nvPr/>
        </p:nvSpPr>
        <p:spPr>
          <a:xfrm>
            <a:off x="452966" y="1436335"/>
            <a:ext cx="8238067" cy="2462213"/>
          </a:xfrm>
          <a:prstGeom prst="rect">
            <a:avLst/>
          </a:prstGeom>
          <a:noFill/>
        </p:spPr>
        <p:txBody>
          <a:bodyPr wrap="square" lIns="0" tIns="0" rIns="0" bIns="0" rtlCol="0" anchor="ctr">
            <a:spAutoFit/>
          </a:bodyPr>
          <a:lstStyle/>
          <a:p>
            <a:pPr>
              <a:spcAft>
                <a:spcPts val="1200"/>
              </a:spcAft>
              <a:buClr>
                <a:schemeClr val="accent1"/>
              </a:buClr>
            </a:pPr>
            <a:r>
              <a:rPr lang="en-US" sz="2400" b="1" dirty="0">
                <a:latin typeface="CMU Serif" panose="02000603000000000000" pitchFamily="2" charset="0"/>
                <a:ea typeface="CMU Serif" panose="02000603000000000000" pitchFamily="2" charset="0"/>
                <a:cs typeface="CMU Serif" panose="02000603000000000000" pitchFamily="2" charset="0"/>
              </a:rPr>
              <a:t>Interactive English tutor:</a:t>
            </a:r>
          </a:p>
          <a:p>
            <a:pPr>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Performance measure: Maximize student’s score on test</a:t>
            </a:r>
          </a:p>
          <a:p>
            <a:pPr>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Environment: Set of students</a:t>
            </a:r>
          </a:p>
          <a:p>
            <a:pPr>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Actuators: Screen display (exercises, suggestions, corrections)</a:t>
            </a:r>
          </a:p>
          <a:p>
            <a:pPr>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Sensors: Keyboard, Microphone  </a:t>
            </a:r>
          </a:p>
        </p:txBody>
      </p:sp>
      <p:sp>
        <p:nvSpPr>
          <p:cNvPr id="4" name="TextBox 3">
            <a:extLst>
              <a:ext uri="{FF2B5EF4-FFF2-40B4-BE49-F238E27FC236}">
                <a16:creationId xmlns:a16="http://schemas.microsoft.com/office/drawing/2014/main" id="{BAF163D7-0D80-3142-E4E0-001666B51A18}"/>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PEAS Example </a:t>
            </a:r>
          </a:p>
        </p:txBody>
      </p:sp>
      <p:pic>
        <p:nvPicPr>
          <p:cNvPr id="5" name="Picture 4">
            <a:extLst>
              <a:ext uri="{FF2B5EF4-FFF2-40B4-BE49-F238E27FC236}">
                <a16:creationId xmlns:a16="http://schemas.microsoft.com/office/drawing/2014/main" id="{91E9B407-EE4A-D3D8-8344-E5787907881E}"/>
              </a:ext>
            </a:extLst>
          </p:cNvPr>
          <p:cNvPicPr>
            <a:picLocks noChangeAspect="1"/>
          </p:cNvPicPr>
          <p:nvPr/>
        </p:nvPicPr>
        <p:blipFill>
          <a:blip r:embed="rId3"/>
          <a:stretch>
            <a:fillRect/>
          </a:stretch>
        </p:blipFill>
        <p:spPr>
          <a:xfrm>
            <a:off x="2574457" y="3982771"/>
            <a:ext cx="3995084" cy="2743200"/>
          </a:xfrm>
          <a:prstGeom prst="rect">
            <a:avLst/>
          </a:prstGeom>
        </p:spPr>
      </p:pic>
    </p:spTree>
    <p:extLst>
      <p:ext uri="{BB962C8B-B14F-4D97-AF65-F5344CB8AC3E}">
        <p14:creationId xmlns:p14="http://schemas.microsoft.com/office/powerpoint/2010/main" val="1995782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F2B43-2231-F384-B93A-854592EACA6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41CA7D1-15F5-7EA1-9A80-CD9C470FF0CA}"/>
              </a:ext>
            </a:extLst>
          </p:cNvPr>
          <p:cNvSpPr txBox="1"/>
          <p:nvPr/>
        </p:nvSpPr>
        <p:spPr>
          <a:xfrm>
            <a:off x="452966" y="1436334"/>
            <a:ext cx="8238067" cy="2462213"/>
          </a:xfrm>
          <a:prstGeom prst="rect">
            <a:avLst/>
          </a:prstGeom>
          <a:noFill/>
        </p:spPr>
        <p:txBody>
          <a:bodyPr wrap="square" lIns="0" tIns="0" rIns="0" bIns="0" rtlCol="0" anchor="ctr">
            <a:spAutoFit/>
          </a:bodyPr>
          <a:lstStyle/>
          <a:p>
            <a:pPr>
              <a:spcAft>
                <a:spcPts val="1200"/>
              </a:spcAft>
              <a:buClr>
                <a:schemeClr val="accent1"/>
              </a:buClr>
            </a:pPr>
            <a:endParaRPr lang="en-US" sz="2400" dirty="0">
              <a:latin typeface="CMU Serif" panose="02000603000000000000" pitchFamily="2" charset="0"/>
              <a:ea typeface="CMU Serif" panose="02000603000000000000" pitchFamily="2" charset="0"/>
              <a:cs typeface="CMU Serif" panose="02000603000000000000" pitchFamily="2" charset="0"/>
            </a:endParaRPr>
          </a:p>
          <a:p>
            <a:pPr>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Performance measure: </a:t>
            </a:r>
          </a:p>
          <a:p>
            <a:pPr>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Environment:</a:t>
            </a:r>
          </a:p>
          <a:p>
            <a:pPr>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Actuators:</a:t>
            </a:r>
          </a:p>
          <a:p>
            <a:pPr>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Sensors:</a:t>
            </a:r>
          </a:p>
        </p:txBody>
      </p:sp>
      <p:sp>
        <p:nvSpPr>
          <p:cNvPr id="6" name="TextBox 5">
            <a:extLst>
              <a:ext uri="{FF2B5EF4-FFF2-40B4-BE49-F238E27FC236}">
                <a16:creationId xmlns:a16="http://schemas.microsoft.com/office/drawing/2014/main" id="{C6D6E9E6-B01C-9F86-4643-16081D0D03D4}"/>
              </a:ext>
            </a:extLst>
          </p:cNvPr>
          <p:cNvSpPr txBox="1"/>
          <p:nvPr/>
        </p:nvSpPr>
        <p:spPr>
          <a:xfrm>
            <a:off x="452966" y="1436337"/>
            <a:ext cx="8547101" cy="2462213"/>
          </a:xfrm>
          <a:prstGeom prst="rect">
            <a:avLst/>
          </a:prstGeom>
          <a:noFill/>
        </p:spPr>
        <p:txBody>
          <a:bodyPr wrap="square" lIns="0" tIns="0" rIns="0" bIns="0" rtlCol="0" anchor="ctr">
            <a:spAutoFit/>
          </a:bodyPr>
          <a:lstStyle/>
          <a:p>
            <a:pPr>
              <a:spcAft>
                <a:spcPts val="1200"/>
              </a:spcAft>
              <a:buClr>
                <a:schemeClr val="accent1"/>
              </a:buClr>
            </a:pPr>
            <a:r>
              <a:rPr lang="en-US" sz="2400" b="1" dirty="0">
                <a:latin typeface="CMU Serif" panose="02000603000000000000" pitchFamily="2" charset="0"/>
                <a:ea typeface="CMU Serif" panose="02000603000000000000" pitchFamily="2" charset="0"/>
                <a:cs typeface="CMU Serif" panose="02000603000000000000" pitchFamily="2" charset="0"/>
              </a:rPr>
              <a:t>Automated Taxi:</a:t>
            </a:r>
          </a:p>
          <a:p>
            <a:pPr>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Performance measure: Safe, fast, legal trip, maximize profit </a:t>
            </a:r>
          </a:p>
          <a:p>
            <a:pPr>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Environment: Road, traffic, police, pedestrians, weather </a:t>
            </a:r>
          </a:p>
          <a:p>
            <a:pPr>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Actuators: Steering, accelerator, brake, signals, display, sound</a:t>
            </a:r>
          </a:p>
          <a:p>
            <a:pPr>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Sensors: Cameras, radar, speedometer, GPS, engine, and more</a:t>
            </a:r>
          </a:p>
        </p:txBody>
      </p:sp>
      <p:sp>
        <p:nvSpPr>
          <p:cNvPr id="4" name="TextBox 3">
            <a:extLst>
              <a:ext uri="{FF2B5EF4-FFF2-40B4-BE49-F238E27FC236}">
                <a16:creationId xmlns:a16="http://schemas.microsoft.com/office/drawing/2014/main" id="{F6A917D4-5655-021A-788C-746A7AD91A45}"/>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PEAS Example </a:t>
            </a:r>
          </a:p>
        </p:txBody>
      </p:sp>
      <p:pic>
        <p:nvPicPr>
          <p:cNvPr id="2050" name="Picture 2" descr="Self-Driving Car Service - Ride-Hailing in Phoenix, AZ - Waymo">
            <a:extLst>
              <a:ext uri="{FF2B5EF4-FFF2-40B4-BE49-F238E27FC236}">
                <a16:creationId xmlns:a16="http://schemas.microsoft.com/office/drawing/2014/main" id="{25B5BEE9-A1FB-8002-F8E6-AFB28DA77F2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0243"/>
          <a:stretch/>
        </p:blipFill>
        <p:spPr bwMode="auto">
          <a:xfrm>
            <a:off x="2815683" y="4085518"/>
            <a:ext cx="3512633" cy="2462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7479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9414B-7CCD-9A3E-024A-B68979AFA21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E5C67D5-757E-A055-EC16-2B62614EDAB0}"/>
              </a:ext>
            </a:extLst>
          </p:cNvPr>
          <p:cNvSpPr txBox="1"/>
          <p:nvPr/>
        </p:nvSpPr>
        <p:spPr>
          <a:xfrm>
            <a:off x="452966" y="1394745"/>
            <a:ext cx="8238067" cy="2693045"/>
          </a:xfrm>
          <a:prstGeom prst="rect">
            <a:avLst/>
          </a:prstGeom>
          <a:noFill/>
        </p:spPr>
        <p:txBody>
          <a:bodyPr wrap="square" lIns="0" tIns="0" rIns="0" bIns="0" rtlCol="0" anchor="ctr">
            <a:spAutoFit/>
          </a:bodyPr>
          <a:lstStyle/>
          <a:p>
            <a:pPr>
              <a:spcAft>
                <a:spcPts val="600"/>
              </a:spcAft>
              <a:buClr>
                <a:schemeClr val="accent1"/>
              </a:buClr>
            </a:pPr>
            <a:r>
              <a:rPr lang="en-US" sz="2000" b="1" dirty="0">
                <a:latin typeface="CMU Serif" panose="02000603000000000000" pitchFamily="2" charset="0"/>
                <a:ea typeface="CMU Serif" panose="02000603000000000000" pitchFamily="2" charset="0"/>
                <a:cs typeface="CMU Serif" panose="02000603000000000000" pitchFamily="2" charset="0"/>
              </a:rPr>
              <a:t>Fully Observable vs. Partially Observable: </a:t>
            </a:r>
          </a:p>
          <a:p>
            <a:pPr marL="342900" indent="-342900">
              <a:spcAft>
                <a:spcPts val="6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If an agent’s sensors give it access to the complete state of the environment at each point in time, then we say that the environment is fully observable. </a:t>
            </a:r>
          </a:p>
          <a:p>
            <a:pPr marL="342900" indent="-342900">
              <a:spcAft>
                <a:spcPts val="6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A task environment is effectively fully observable if the sensors detect all aspects that are relevant to the choice of action</a:t>
            </a:r>
          </a:p>
          <a:p>
            <a:pPr marL="342900" indent="-342900">
              <a:spcAft>
                <a:spcPts val="6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If the agent has no sensors at all then the environment is unobservable.</a:t>
            </a:r>
          </a:p>
        </p:txBody>
      </p:sp>
      <p:sp>
        <p:nvSpPr>
          <p:cNvPr id="4" name="TextBox 3">
            <a:extLst>
              <a:ext uri="{FF2B5EF4-FFF2-40B4-BE49-F238E27FC236}">
                <a16:creationId xmlns:a16="http://schemas.microsoft.com/office/drawing/2014/main" id="{A7E076F0-34CC-D40A-B83B-B7E5346E3256}"/>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Properties of Environment</a:t>
            </a:r>
          </a:p>
        </p:txBody>
      </p:sp>
      <p:grpSp>
        <p:nvGrpSpPr>
          <p:cNvPr id="3" name="Group 2">
            <a:extLst>
              <a:ext uri="{FF2B5EF4-FFF2-40B4-BE49-F238E27FC236}">
                <a16:creationId xmlns:a16="http://schemas.microsoft.com/office/drawing/2014/main" id="{8B9704D2-4F3D-7BA1-9CE5-00639E0BDCAF}"/>
              </a:ext>
            </a:extLst>
          </p:cNvPr>
          <p:cNvGrpSpPr/>
          <p:nvPr/>
        </p:nvGrpSpPr>
        <p:grpSpPr>
          <a:xfrm>
            <a:off x="1005278" y="4278666"/>
            <a:ext cx="7133442" cy="2286000"/>
            <a:chOff x="1092203" y="4131013"/>
            <a:chExt cx="7133442" cy="2286000"/>
          </a:xfrm>
        </p:grpSpPr>
        <p:pic>
          <p:nvPicPr>
            <p:cNvPr id="4098" name="Picture 2" descr="Self-driving' cars are still a long way off. Here are three reasons why -  AutoTech News">
              <a:extLst>
                <a:ext uri="{FF2B5EF4-FFF2-40B4-BE49-F238E27FC236}">
                  <a16:creationId xmlns:a16="http://schemas.microsoft.com/office/drawing/2014/main" id="{CD16CC42-0F4C-E4A5-4DEB-DFB5790916A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796" r="11944" b="8844"/>
            <a:stretch/>
          </p:blipFill>
          <p:spPr bwMode="auto">
            <a:xfrm>
              <a:off x="3936999" y="4131013"/>
              <a:ext cx="4288646" cy="22860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Writing a chess program in one day | by Andreas Stöckl | Medium">
              <a:extLst>
                <a:ext uri="{FF2B5EF4-FFF2-40B4-BE49-F238E27FC236}">
                  <a16:creationId xmlns:a16="http://schemas.microsoft.com/office/drawing/2014/main" id="{07F60677-C0DF-02A3-1A13-CE6BDB3B540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118" t="5443" r="6163" b="4100"/>
            <a:stretch/>
          </p:blipFill>
          <p:spPr bwMode="auto">
            <a:xfrm>
              <a:off x="1092203" y="4131013"/>
              <a:ext cx="2292938" cy="22860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732601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CD412-D244-3140-4F92-18F07C2F7E9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556E4A7-F4BA-B80D-3507-862331D7743D}"/>
              </a:ext>
            </a:extLst>
          </p:cNvPr>
          <p:cNvSpPr txBox="1"/>
          <p:nvPr/>
        </p:nvSpPr>
        <p:spPr>
          <a:xfrm>
            <a:off x="452966" y="2048770"/>
            <a:ext cx="8238067" cy="1384995"/>
          </a:xfrm>
          <a:prstGeom prst="rect">
            <a:avLst/>
          </a:prstGeom>
          <a:noFill/>
        </p:spPr>
        <p:txBody>
          <a:bodyPr wrap="square" lIns="0" tIns="0" rIns="0" bIns="0" rtlCol="0" anchor="ctr">
            <a:spAutoFit/>
          </a:bodyPr>
          <a:lstStyle/>
          <a:p>
            <a:pPr>
              <a:spcAft>
                <a:spcPts val="600"/>
              </a:spcAft>
              <a:buClr>
                <a:schemeClr val="accent1"/>
              </a:buClr>
            </a:pPr>
            <a:r>
              <a:rPr lang="en-US" sz="2000" b="1" dirty="0">
                <a:latin typeface="CMU Serif" panose="02000603000000000000" pitchFamily="2" charset="0"/>
                <a:ea typeface="CMU Serif" panose="02000603000000000000" pitchFamily="2" charset="0"/>
                <a:cs typeface="CMU Serif" panose="02000603000000000000" pitchFamily="2" charset="0"/>
              </a:rPr>
              <a:t>Single Agent vs. Multi Agent: </a:t>
            </a:r>
          </a:p>
          <a:p>
            <a:pPr marL="342900" indent="-342900">
              <a:spcAft>
                <a:spcPts val="6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Single Agent Environment: Only agent in the environment </a:t>
            </a:r>
          </a:p>
          <a:p>
            <a:pPr marL="342900" indent="-342900">
              <a:spcAft>
                <a:spcPts val="6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Multi Agent Environment: An agent compete or cooperate with other existing agents in the environment</a:t>
            </a:r>
          </a:p>
        </p:txBody>
      </p:sp>
      <p:sp>
        <p:nvSpPr>
          <p:cNvPr id="4" name="TextBox 3">
            <a:extLst>
              <a:ext uri="{FF2B5EF4-FFF2-40B4-BE49-F238E27FC236}">
                <a16:creationId xmlns:a16="http://schemas.microsoft.com/office/drawing/2014/main" id="{F5C14621-4BCA-BE1D-F9E2-48C62DFD66D3}"/>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Properties of Environment</a:t>
            </a:r>
          </a:p>
        </p:txBody>
      </p:sp>
      <p:grpSp>
        <p:nvGrpSpPr>
          <p:cNvPr id="5" name="Group 4">
            <a:extLst>
              <a:ext uri="{FF2B5EF4-FFF2-40B4-BE49-F238E27FC236}">
                <a16:creationId xmlns:a16="http://schemas.microsoft.com/office/drawing/2014/main" id="{CC68AD0F-DCC2-C9E1-B097-CE0E3F947823}"/>
              </a:ext>
            </a:extLst>
          </p:cNvPr>
          <p:cNvGrpSpPr/>
          <p:nvPr/>
        </p:nvGrpSpPr>
        <p:grpSpPr>
          <a:xfrm>
            <a:off x="667019" y="3944984"/>
            <a:ext cx="7809959" cy="1828800"/>
            <a:chOff x="1001486" y="4093029"/>
            <a:chExt cx="7809959" cy="1828800"/>
          </a:xfrm>
        </p:grpSpPr>
        <p:pic>
          <p:nvPicPr>
            <p:cNvPr id="4098" name="Picture 2" descr="Self-driving' cars are still a long way off. Here are three reasons why -  AutoTech News">
              <a:extLst>
                <a:ext uri="{FF2B5EF4-FFF2-40B4-BE49-F238E27FC236}">
                  <a16:creationId xmlns:a16="http://schemas.microsoft.com/office/drawing/2014/main" id="{A5753532-4B14-03DB-5917-27FC11D81EF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796" r="11944" b="8844"/>
            <a:stretch/>
          </p:blipFill>
          <p:spPr bwMode="auto">
            <a:xfrm>
              <a:off x="5380528" y="4093029"/>
              <a:ext cx="3430917" cy="18288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Writing a chess program in one day | by Andreas Stöckl | Medium">
              <a:extLst>
                <a:ext uri="{FF2B5EF4-FFF2-40B4-BE49-F238E27FC236}">
                  <a16:creationId xmlns:a16="http://schemas.microsoft.com/office/drawing/2014/main" id="{AE0985AE-892E-B106-E44A-2961E9CA270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118" t="5443" r="6163" b="4100"/>
            <a:stretch/>
          </p:blipFill>
          <p:spPr bwMode="auto">
            <a:xfrm>
              <a:off x="3188232" y="4093029"/>
              <a:ext cx="1834350" cy="1828800"/>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8 Puzzle Problem, Algorithm, C++ Source Code, Download">
              <a:extLst>
                <a:ext uri="{FF2B5EF4-FFF2-40B4-BE49-F238E27FC236}">
                  <a16:creationId xmlns:a16="http://schemas.microsoft.com/office/drawing/2014/main" id="{B26ED407-FD95-022D-422E-40B34A58E79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154" t="25145" r="45248" b="21267"/>
            <a:stretch/>
          </p:blipFill>
          <p:spPr bwMode="auto">
            <a:xfrm>
              <a:off x="1001486" y="4093029"/>
              <a:ext cx="1828800" cy="18288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7753408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066DD-7727-E577-82C9-7B12822EE5B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2A4CFD5-F20A-73A4-2FA8-4A2E39133DDE}"/>
              </a:ext>
            </a:extLst>
          </p:cNvPr>
          <p:cNvSpPr txBox="1"/>
          <p:nvPr/>
        </p:nvSpPr>
        <p:spPr>
          <a:xfrm>
            <a:off x="514350" y="2010139"/>
            <a:ext cx="8238067" cy="1692771"/>
          </a:xfrm>
          <a:prstGeom prst="rect">
            <a:avLst/>
          </a:prstGeom>
          <a:noFill/>
        </p:spPr>
        <p:txBody>
          <a:bodyPr wrap="square" lIns="0" tIns="0" rIns="0" bIns="0" rtlCol="0" anchor="ctr">
            <a:spAutoFit/>
          </a:bodyPr>
          <a:lstStyle/>
          <a:p>
            <a:pPr>
              <a:spcAft>
                <a:spcPts val="600"/>
              </a:spcAft>
              <a:buClr>
                <a:schemeClr val="accent1"/>
              </a:buClr>
            </a:pPr>
            <a:r>
              <a:rPr lang="en-US" sz="2000" b="1" dirty="0">
                <a:latin typeface="CMU Serif" panose="02000603000000000000" pitchFamily="2" charset="0"/>
                <a:ea typeface="CMU Serif" panose="02000603000000000000" pitchFamily="2" charset="0"/>
                <a:cs typeface="CMU Serif" panose="02000603000000000000" pitchFamily="2" charset="0"/>
              </a:rPr>
              <a:t>Deterministic vs. Non-deterministic (Stochastic):</a:t>
            </a:r>
          </a:p>
          <a:p>
            <a:pPr marL="342900" indent="-342900">
              <a:spcAft>
                <a:spcPts val="6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If the next state of the environment is completely determined by the current state and the action executed by the agent(s), then we say the environment is deterministic. </a:t>
            </a:r>
          </a:p>
          <a:p>
            <a:pPr marL="342900" indent="-342900">
              <a:spcAft>
                <a:spcPts val="6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Otherwise, it is nondeterministic.</a:t>
            </a:r>
          </a:p>
        </p:txBody>
      </p:sp>
      <p:sp>
        <p:nvSpPr>
          <p:cNvPr id="4" name="TextBox 3">
            <a:extLst>
              <a:ext uri="{FF2B5EF4-FFF2-40B4-BE49-F238E27FC236}">
                <a16:creationId xmlns:a16="http://schemas.microsoft.com/office/drawing/2014/main" id="{8F7DD4DA-022F-DAF5-7747-6926DAC75EFE}"/>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Properties of Environment</a:t>
            </a:r>
          </a:p>
        </p:txBody>
      </p:sp>
      <p:grpSp>
        <p:nvGrpSpPr>
          <p:cNvPr id="13" name="Group 12">
            <a:extLst>
              <a:ext uri="{FF2B5EF4-FFF2-40B4-BE49-F238E27FC236}">
                <a16:creationId xmlns:a16="http://schemas.microsoft.com/office/drawing/2014/main" id="{19AB6C8E-8F5D-2899-4DD8-64BC21BE701A}"/>
              </a:ext>
            </a:extLst>
          </p:cNvPr>
          <p:cNvGrpSpPr/>
          <p:nvPr/>
        </p:nvGrpSpPr>
        <p:grpSpPr>
          <a:xfrm>
            <a:off x="514350" y="4509181"/>
            <a:ext cx="8115300" cy="615555"/>
            <a:chOff x="673100" y="4223096"/>
            <a:chExt cx="8115300" cy="615555"/>
          </a:xfrm>
        </p:grpSpPr>
        <p:sp>
          <p:nvSpPr>
            <p:cNvPr id="3" name="TextBox 2">
              <a:extLst>
                <a:ext uri="{FF2B5EF4-FFF2-40B4-BE49-F238E27FC236}">
                  <a16:creationId xmlns:a16="http://schemas.microsoft.com/office/drawing/2014/main" id="{9C9E053D-BBBD-8A6C-2743-D0358F108A04}"/>
                </a:ext>
              </a:extLst>
            </p:cNvPr>
            <p:cNvSpPr txBox="1"/>
            <p:nvPr/>
          </p:nvSpPr>
          <p:spPr>
            <a:xfrm>
              <a:off x="673100" y="4223097"/>
              <a:ext cx="1985434" cy="307777"/>
            </a:xfrm>
            <a:prstGeom prst="rect">
              <a:avLst/>
            </a:prstGeom>
            <a:noFill/>
          </p:spPr>
          <p:txBody>
            <a:bodyPr wrap="square" lIns="0" tIns="0" rIns="0" bIns="0" rtlCol="0" anchor="ctr">
              <a:spAutoFit/>
            </a:bodyPr>
            <a:lstStyle/>
            <a:p>
              <a:pPr>
                <a:spcAft>
                  <a:spcPts val="600"/>
                </a:spcAft>
                <a:buClr>
                  <a:schemeClr val="accent1"/>
                </a:buClr>
              </a:pPr>
              <a:r>
                <a:rPr lang="en-US" sz="2000" dirty="0">
                  <a:latin typeface="CMU Serif" panose="02000603000000000000" pitchFamily="2" charset="0"/>
                  <a:ea typeface="CMU Serif" panose="02000603000000000000" pitchFamily="2" charset="0"/>
                  <a:cs typeface="CMU Serif" panose="02000603000000000000" pitchFamily="2" charset="0"/>
                </a:rPr>
                <a:t>Chess</a:t>
              </a:r>
            </a:p>
          </p:txBody>
        </p:sp>
        <p:sp>
          <p:nvSpPr>
            <p:cNvPr id="6" name="TextBox 5">
              <a:extLst>
                <a:ext uri="{FF2B5EF4-FFF2-40B4-BE49-F238E27FC236}">
                  <a16:creationId xmlns:a16="http://schemas.microsoft.com/office/drawing/2014/main" id="{8F130290-8B68-8E97-D7FE-6497AE74C13A}"/>
                </a:ext>
              </a:extLst>
            </p:cNvPr>
            <p:cNvSpPr txBox="1"/>
            <p:nvPr/>
          </p:nvSpPr>
          <p:spPr>
            <a:xfrm>
              <a:off x="2658534" y="4223096"/>
              <a:ext cx="1985434" cy="307777"/>
            </a:xfrm>
            <a:prstGeom prst="rect">
              <a:avLst/>
            </a:prstGeom>
            <a:noFill/>
          </p:spPr>
          <p:txBody>
            <a:bodyPr wrap="square" lIns="0" tIns="0" rIns="0" bIns="0" rtlCol="0" anchor="ctr">
              <a:spAutoFit/>
            </a:bodyPr>
            <a:lstStyle/>
            <a:p>
              <a:pPr>
                <a:spcAft>
                  <a:spcPts val="600"/>
                </a:spcAft>
                <a:buClr>
                  <a:schemeClr val="accent1"/>
                </a:buClr>
              </a:pPr>
              <a:r>
                <a:rPr lang="en-US" sz="2000" dirty="0">
                  <a:latin typeface="CMU Serif" panose="02000603000000000000" pitchFamily="2" charset="0"/>
                  <a:ea typeface="CMU Serif" panose="02000603000000000000" pitchFamily="2" charset="0"/>
                  <a:cs typeface="CMU Serif" panose="02000603000000000000" pitchFamily="2" charset="0"/>
                </a:rPr>
                <a:t>Deterministic</a:t>
              </a:r>
            </a:p>
          </p:txBody>
        </p:sp>
        <p:sp>
          <p:nvSpPr>
            <p:cNvPr id="7" name="TextBox 6">
              <a:extLst>
                <a:ext uri="{FF2B5EF4-FFF2-40B4-BE49-F238E27FC236}">
                  <a16:creationId xmlns:a16="http://schemas.microsoft.com/office/drawing/2014/main" id="{D41EC09B-244D-DE3C-2200-8B40D3710211}"/>
                </a:ext>
              </a:extLst>
            </p:cNvPr>
            <p:cNvSpPr txBox="1"/>
            <p:nvPr/>
          </p:nvSpPr>
          <p:spPr>
            <a:xfrm>
              <a:off x="673100" y="4530874"/>
              <a:ext cx="1985434" cy="307777"/>
            </a:xfrm>
            <a:prstGeom prst="rect">
              <a:avLst/>
            </a:prstGeom>
            <a:noFill/>
          </p:spPr>
          <p:txBody>
            <a:bodyPr wrap="square" lIns="0" tIns="0" rIns="0" bIns="0" rtlCol="0" anchor="ctr">
              <a:spAutoFit/>
            </a:bodyPr>
            <a:lstStyle/>
            <a:p>
              <a:pPr>
                <a:spcAft>
                  <a:spcPts val="600"/>
                </a:spcAft>
                <a:buClr>
                  <a:schemeClr val="accent1"/>
                </a:buClr>
              </a:pPr>
              <a:r>
                <a:rPr lang="en-US" sz="2000" dirty="0">
                  <a:latin typeface="CMU Serif" panose="02000603000000000000" pitchFamily="2" charset="0"/>
                  <a:ea typeface="CMU Serif" panose="02000603000000000000" pitchFamily="2" charset="0"/>
                  <a:cs typeface="CMU Serif" panose="02000603000000000000" pitchFamily="2" charset="0"/>
                </a:rPr>
                <a:t>Tic-Tac-Toe</a:t>
              </a:r>
            </a:p>
          </p:txBody>
        </p:sp>
        <p:sp>
          <p:nvSpPr>
            <p:cNvPr id="8" name="TextBox 7">
              <a:extLst>
                <a:ext uri="{FF2B5EF4-FFF2-40B4-BE49-F238E27FC236}">
                  <a16:creationId xmlns:a16="http://schemas.microsoft.com/office/drawing/2014/main" id="{EE9EA173-172C-DE33-A0E1-F045F57B16EA}"/>
                </a:ext>
              </a:extLst>
            </p:cNvPr>
            <p:cNvSpPr txBox="1"/>
            <p:nvPr/>
          </p:nvSpPr>
          <p:spPr>
            <a:xfrm>
              <a:off x="2658534" y="4530873"/>
              <a:ext cx="1985434" cy="307777"/>
            </a:xfrm>
            <a:prstGeom prst="rect">
              <a:avLst/>
            </a:prstGeom>
            <a:noFill/>
          </p:spPr>
          <p:txBody>
            <a:bodyPr wrap="square" lIns="0" tIns="0" rIns="0" bIns="0" rtlCol="0" anchor="ctr">
              <a:spAutoFit/>
            </a:bodyPr>
            <a:lstStyle/>
            <a:p>
              <a:pPr>
                <a:spcAft>
                  <a:spcPts val="600"/>
                </a:spcAft>
                <a:buClr>
                  <a:schemeClr val="accent1"/>
                </a:buClr>
              </a:pPr>
              <a:r>
                <a:rPr lang="en-US" sz="2000" dirty="0">
                  <a:latin typeface="CMU Serif" panose="02000603000000000000" pitchFamily="2" charset="0"/>
                  <a:ea typeface="CMU Serif" panose="02000603000000000000" pitchFamily="2" charset="0"/>
                  <a:cs typeface="CMU Serif" panose="02000603000000000000" pitchFamily="2" charset="0"/>
                </a:rPr>
                <a:t>Deterministic</a:t>
              </a:r>
            </a:p>
          </p:txBody>
        </p:sp>
        <p:sp>
          <p:nvSpPr>
            <p:cNvPr id="9" name="TextBox 8">
              <a:extLst>
                <a:ext uri="{FF2B5EF4-FFF2-40B4-BE49-F238E27FC236}">
                  <a16:creationId xmlns:a16="http://schemas.microsoft.com/office/drawing/2014/main" id="{469464C2-330E-C5B5-CA52-895852A1620A}"/>
                </a:ext>
              </a:extLst>
            </p:cNvPr>
            <p:cNvSpPr txBox="1"/>
            <p:nvPr/>
          </p:nvSpPr>
          <p:spPr>
            <a:xfrm>
              <a:off x="4643968" y="4223097"/>
              <a:ext cx="1985434" cy="307777"/>
            </a:xfrm>
            <a:prstGeom prst="rect">
              <a:avLst/>
            </a:prstGeom>
            <a:noFill/>
          </p:spPr>
          <p:txBody>
            <a:bodyPr wrap="square" lIns="0" tIns="0" rIns="0" bIns="0" rtlCol="0" anchor="ctr">
              <a:spAutoFit/>
            </a:bodyPr>
            <a:lstStyle/>
            <a:p>
              <a:pPr>
                <a:spcAft>
                  <a:spcPts val="600"/>
                </a:spcAft>
                <a:buClr>
                  <a:schemeClr val="accent1"/>
                </a:buClr>
              </a:pPr>
              <a:r>
                <a:rPr lang="en-US" sz="2000" dirty="0">
                  <a:latin typeface="CMU Serif" panose="02000603000000000000" pitchFamily="2" charset="0"/>
                  <a:ea typeface="CMU Serif" panose="02000603000000000000" pitchFamily="2" charset="0"/>
                  <a:cs typeface="CMU Serif" panose="02000603000000000000" pitchFamily="2" charset="0"/>
                </a:rPr>
                <a:t>Dice Games</a:t>
              </a:r>
            </a:p>
          </p:txBody>
        </p:sp>
        <p:sp>
          <p:nvSpPr>
            <p:cNvPr id="10" name="TextBox 9">
              <a:extLst>
                <a:ext uri="{FF2B5EF4-FFF2-40B4-BE49-F238E27FC236}">
                  <a16:creationId xmlns:a16="http://schemas.microsoft.com/office/drawing/2014/main" id="{2083C55F-8E0F-D162-2723-7536696D102E}"/>
                </a:ext>
              </a:extLst>
            </p:cNvPr>
            <p:cNvSpPr txBox="1"/>
            <p:nvPr/>
          </p:nvSpPr>
          <p:spPr>
            <a:xfrm>
              <a:off x="6629402" y="4223096"/>
              <a:ext cx="2158998" cy="307777"/>
            </a:xfrm>
            <a:prstGeom prst="rect">
              <a:avLst/>
            </a:prstGeom>
            <a:noFill/>
          </p:spPr>
          <p:txBody>
            <a:bodyPr wrap="square" lIns="0" tIns="0" rIns="0" bIns="0" rtlCol="0" anchor="ctr">
              <a:spAutoFit/>
            </a:bodyPr>
            <a:lstStyle/>
            <a:p>
              <a:pPr>
                <a:spcAft>
                  <a:spcPts val="600"/>
                </a:spcAft>
                <a:buClr>
                  <a:schemeClr val="accent1"/>
                </a:buClr>
              </a:pPr>
              <a:r>
                <a:rPr lang="en-US" sz="2000" dirty="0">
                  <a:latin typeface="CMU Serif" panose="02000603000000000000" pitchFamily="2" charset="0"/>
                  <a:ea typeface="CMU Serif" panose="02000603000000000000" pitchFamily="2" charset="0"/>
                  <a:cs typeface="CMU Serif" panose="02000603000000000000" pitchFamily="2" charset="0"/>
                </a:rPr>
                <a:t>Non-deterministic</a:t>
              </a:r>
            </a:p>
          </p:txBody>
        </p:sp>
        <p:sp>
          <p:nvSpPr>
            <p:cNvPr id="11" name="TextBox 10">
              <a:extLst>
                <a:ext uri="{FF2B5EF4-FFF2-40B4-BE49-F238E27FC236}">
                  <a16:creationId xmlns:a16="http://schemas.microsoft.com/office/drawing/2014/main" id="{9CF5C095-D237-1008-CBC8-69F7B4CF5484}"/>
                </a:ext>
              </a:extLst>
            </p:cNvPr>
            <p:cNvSpPr txBox="1"/>
            <p:nvPr/>
          </p:nvSpPr>
          <p:spPr>
            <a:xfrm>
              <a:off x="4643968" y="4530874"/>
              <a:ext cx="1985434" cy="307777"/>
            </a:xfrm>
            <a:prstGeom prst="rect">
              <a:avLst/>
            </a:prstGeom>
            <a:noFill/>
          </p:spPr>
          <p:txBody>
            <a:bodyPr wrap="square" lIns="0" tIns="0" rIns="0" bIns="0" rtlCol="0" anchor="ctr">
              <a:spAutoFit/>
            </a:bodyPr>
            <a:lstStyle/>
            <a:p>
              <a:pPr>
                <a:spcAft>
                  <a:spcPts val="600"/>
                </a:spcAft>
                <a:buClr>
                  <a:schemeClr val="accent1"/>
                </a:buClr>
              </a:pPr>
              <a:r>
                <a:rPr lang="en-US" sz="2000" dirty="0">
                  <a:latin typeface="CMU Serif" panose="02000603000000000000" pitchFamily="2" charset="0"/>
                  <a:ea typeface="CMU Serif" panose="02000603000000000000" pitchFamily="2" charset="0"/>
                  <a:cs typeface="CMU Serif" panose="02000603000000000000" pitchFamily="2" charset="0"/>
                </a:rPr>
                <a:t>Self-driving Car</a:t>
              </a:r>
            </a:p>
          </p:txBody>
        </p:sp>
        <p:sp>
          <p:nvSpPr>
            <p:cNvPr id="12" name="TextBox 11">
              <a:extLst>
                <a:ext uri="{FF2B5EF4-FFF2-40B4-BE49-F238E27FC236}">
                  <a16:creationId xmlns:a16="http://schemas.microsoft.com/office/drawing/2014/main" id="{AE0F4BF8-993C-71F0-A3D2-BAADBB05B760}"/>
                </a:ext>
              </a:extLst>
            </p:cNvPr>
            <p:cNvSpPr txBox="1"/>
            <p:nvPr/>
          </p:nvSpPr>
          <p:spPr>
            <a:xfrm>
              <a:off x="6629402" y="4530873"/>
              <a:ext cx="1985434" cy="307777"/>
            </a:xfrm>
            <a:prstGeom prst="rect">
              <a:avLst/>
            </a:prstGeom>
            <a:noFill/>
          </p:spPr>
          <p:txBody>
            <a:bodyPr wrap="square" lIns="0" tIns="0" rIns="0" bIns="0" rtlCol="0" anchor="ctr">
              <a:spAutoFit/>
            </a:bodyPr>
            <a:lstStyle/>
            <a:p>
              <a:pPr>
                <a:spcAft>
                  <a:spcPts val="600"/>
                </a:spcAft>
                <a:buClr>
                  <a:schemeClr val="accent1"/>
                </a:buClr>
              </a:pPr>
              <a:r>
                <a:rPr lang="en-US" sz="2000" dirty="0">
                  <a:latin typeface="CMU Serif" panose="02000603000000000000" pitchFamily="2" charset="0"/>
                  <a:ea typeface="CMU Serif" panose="02000603000000000000" pitchFamily="2" charset="0"/>
                  <a:cs typeface="CMU Serif" panose="02000603000000000000" pitchFamily="2" charset="0"/>
                </a:rPr>
                <a:t>Non-deterministic</a:t>
              </a:r>
            </a:p>
          </p:txBody>
        </p:sp>
      </p:grpSp>
    </p:spTree>
    <p:extLst>
      <p:ext uri="{BB962C8B-B14F-4D97-AF65-F5344CB8AC3E}">
        <p14:creationId xmlns:p14="http://schemas.microsoft.com/office/powerpoint/2010/main" val="37887311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8237A-68BD-C8E0-1879-9D3BBD60DF2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2CDC924-EE1A-9FB7-5112-9E427122EA58}"/>
              </a:ext>
            </a:extLst>
          </p:cNvPr>
          <p:cNvSpPr txBox="1"/>
          <p:nvPr/>
        </p:nvSpPr>
        <p:spPr>
          <a:xfrm>
            <a:off x="452965" y="1349558"/>
            <a:ext cx="8238067" cy="5232202"/>
          </a:xfrm>
          <a:prstGeom prst="rect">
            <a:avLst/>
          </a:prstGeom>
          <a:noFill/>
        </p:spPr>
        <p:txBody>
          <a:bodyPr wrap="square" lIns="0" tIns="0" rIns="0" bIns="0" rtlCol="0" anchor="ctr">
            <a:spAutoFit/>
          </a:bodyPr>
          <a:lstStyle/>
          <a:p>
            <a:pPr>
              <a:spcAft>
                <a:spcPts val="600"/>
              </a:spcAft>
              <a:buClr>
                <a:schemeClr val="accent1"/>
              </a:buClr>
            </a:pPr>
            <a:r>
              <a:rPr lang="en-US" sz="2000" b="1" dirty="0">
                <a:latin typeface="CMU Serif" panose="02000603000000000000" pitchFamily="2" charset="0"/>
                <a:ea typeface="CMU Serif" panose="02000603000000000000" pitchFamily="2" charset="0"/>
                <a:cs typeface="CMU Serif" panose="02000603000000000000" pitchFamily="2" charset="0"/>
              </a:rPr>
              <a:t>Episodic vs. Sequential: </a:t>
            </a:r>
          </a:p>
          <a:p>
            <a:pPr marL="342900" indent="-342900">
              <a:spcAft>
                <a:spcPts val="6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Episodic environments are those where each action is independent of the next. </a:t>
            </a:r>
          </a:p>
          <a:p>
            <a:pPr marL="342900" indent="-342900">
              <a:spcAft>
                <a:spcPts val="6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While sequential environments are those where the current action affects the next state.</a:t>
            </a:r>
          </a:p>
          <a:p>
            <a:pPr>
              <a:spcAft>
                <a:spcPts val="600"/>
              </a:spcAft>
              <a:buClr>
                <a:schemeClr val="accent1"/>
              </a:buClr>
            </a:pPr>
            <a:r>
              <a:rPr lang="en-US" sz="2000" b="1" dirty="0">
                <a:latin typeface="CMU Serif" panose="02000603000000000000" pitchFamily="2" charset="0"/>
                <a:ea typeface="CMU Serif" panose="02000603000000000000" pitchFamily="2" charset="0"/>
                <a:cs typeface="CMU Serif" panose="02000603000000000000" pitchFamily="2" charset="0"/>
              </a:rPr>
              <a:t>Episodic Environment: </a:t>
            </a:r>
          </a:p>
          <a:p>
            <a:pPr marL="342900" indent="-342900">
              <a:spcAft>
                <a:spcPts val="6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Image Classification: Each image is classified independently without considering previous results.</a:t>
            </a:r>
          </a:p>
          <a:p>
            <a:pPr marL="342900" indent="-342900">
              <a:spcAft>
                <a:spcPts val="6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Tetris: Each game round is separate, and the agent doesn’t need to consider the next round.</a:t>
            </a:r>
          </a:p>
          <a:p>
            <a:pPr>
              <a:spcAft>
                <a:spcPts val="600"/>
              </a:spcAft>
              <a:buClr>
                <a:schemeClr val="accent1"/>
              </a:buClr>
            </a:pPr>
            <a:r>
              <a:rPr lang="en-US" sz="2000" b="1" dirty="0">
                <a:latin typeface="CMU Serif" panose="02000603000000000000" pitchFamily="2" charset="0"/>
                <a:ea typeface="CMU Serif" panose="02000603000000000000" pitchFamily="2" charset="0"/>
                <a:cs typeface="CMU Serif" panose="02000603000000000000" pitchFamily="2" charset="0"/>
              </a:rPr>
              <a:t>Sequential Environment:</a:t>
            </a:r>
          </a:p>
          <a:p>
            <a:pPr marL="342900" indent="-342900">
              <a:spcAft>
                <a:spcPts val="6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Chess: Each move changes the board state and influences future decisions.</a:t>
            </a:r>
          </a:p>
          <a:p>
            <a:pPr marL="342900" indent="-342900">
              <a:spcAft>
                <a:spcPts val="6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Robot Navigation: The agent’s movements in one location impact its future positioning and interactions.</a:t>
            </a:r>
          </a:p>
        </p:txBody>
      </p:sp>
      <p:sp>
        <p:nvSpPr>
          <p:cNvPr id="4" name="TextBox 3">
            <a:extLst>
              <a:ext uri="{FF2B5EF4-FFF2-40B4-BE49-F238E27FC236}">
                <a16:creationId xmlns:a16="http://schemas.microsoft.com/office/drawing/2014/main" id="{5EDFA03A-7FFB-56A4-BC22-AB62E29C387F}"/>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Properties of Environment</a:t>
            </a:r>
          </a:p>
        </p:txBody>
      </p:sp>
    </p:spTree>
    <p:extLst>
      <p:ext uri="{BB962C8B-B14F-4D97-AF65-F5344CB8AC3E}">
        <p14:creationId xmlns:p14="http://schemas.microsoft.com/office/powerpoint/2010/main" val="12779059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66371-174E-77FB-BBA7-647007D8E28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B99ABF-A738-B2DE-8C3C-0027E1CAE0E9}"/>
              </a:ext>
            </a:extLst>
          </p:cNvPr>
          <p:cNvSpPr txBox="1"/>
          <p:nvPr/>
        </p:nvSpPr>
        <p:spPr>
          <a:xfrm>
            <a:off x="452965" y="2212594"/>
            <a:ext cx="8238067" cy="2923877"/>
          </a:xfrm>
          <a:prstGeom prst="rect">
            <a:avLst/>
          </a:prstGeom>
          <a:noFill/>
        </p:spPr>
        <p:txBody>
          <a:bodyPr wrap="square" lIns="0" tIns="0" rIns="0" bIns="0" rtlCol="0" anchor="ctr">
            <a:spAutoFit/>
          </a:bodyPr>
          <a:lstStyle/>
          <a:p>
            <a:pPr>
              <a:spcAft>
                <a:spcPts val="1200"/>
              </a:spcAft>
              <a:buClr>
                <a:schemeClr val="accent1"/>
              </a:buClr>
            </a:pPr>
            <a:r>
              <a:rPr lang="en-US" sz="2000" b="1" dirty="0">
                <a:latin typeface="CMU Serif" panose="02000603000000000000" pitchFamily="2" charset="0"/>
                <a:ea typeface="CMU Serif" panose="02000603000000000000" pitchFamily="2" charset="0"/>
                <a:cs typeface="CMU Serif" panose="02000603000000000000" pitchFamily="2" charset="0"/>
              </a:rPr>
              <a:t>Static vs. Dynamic: </a:t>
            </a:r>
          </a:p>
          <a:p>
            <a:pPr marL="342900" indent="-342900">
              <a:spcAft>
                <a:spcPts val="12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If the environment can change while an agent is deliberating (considering), we say the environment is dynamic for that agent.</a:t>
            </a:r>
          </a:p>
          <a:p>
            <a:pPr marL="342900" indent="-342900">
              <a:spcAft>
                <a:spcPts val="12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Otherwise, it is static.</a:t>
            </a:r>
          </a:p>
          <a:p>
            <a:pPr marL="342900" indent="-342900">
              <a:spcAft>
                <a:spcPts val="12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A static environment does not change while the agent is thinking.</a:t>
            </a:r>
          </a:p>
          <a:p>
            <a:pPr marL="342900" indent="-342900">
              <a:spcAft>
                <a:spcPts val="12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The passage of time as an agent deliberates is irrelevant.</a:t>
            </a:r>
          </a:p>
          <a:p>
            <a:pPr marL="342900" indent="-342900">
              <a:spcAft>
                <a:spcPts val="12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The agent doesn’t need to observe the world during deliberation. </a:t>
            </a:r>
          </a:p>
        </p:txBody>
      </p:sp>
      <p:sp>
        <p:nvSpPr>
          <p:cNvPr id="4" name="TextBox 3">
            <a:extLst>
              <a:ext uri="{FF2B5EF4-FFF2-40B4-BE49-F238E27FC236}">
                <a16:creationId xmlns:a16="http://schemas.microsoft.com/office/drawing/2014/main" id="{FAFBCF52-B888-F2F5-AA97-2CE6130CBC71}"/>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Properties of Environment</a:t>
            </a:r>
          </a:p>
        </p:txBody>
      </p:sp>
    </p:spTree>
    <p:extLst>
      <p:ext uri="{BB962C8B-B14F-4D97-AF65-F5344CB8AC3E}">
        <p14:creationId xmlns:p14="http://schemas.microsoft.com/office/powerpoint/2010/main" val="23418642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F057E-5B45-35D5-8786-8D262429369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14AEE05-4E7E-F50D-4F0B-66B58A489575}"/>
              </a:ext>
            </a:extLst>
          </p:cNvPr>
          <p:cNvSpPr txBox="1"/>
          <p:nvPr/>
        </p:nvSpPr>
        <p:spPr>
          <a:xfrm>
            <a:off x="452965" y="2428726"/>
            <a:ext cx="8238067" cy="2000548"/>
          </a:xfrm>
          <a:prstGeom prst="rect">
            <a:avLst/>
          </a:prstGeom>
          <a:noFill/>
        </p:spPr>
        <p:txBody>
          <a:bodyPr wrap="square" lIns="0" tIns="0" rIns="0" bIns="0" rtlCol="0" anchor="ctr">
            <a:spAutoFit/>
          </a:bodyPr>
          <a:lstStyle/>
          <a:p>
            <a:pPr>
              <a:spcAft>
                <a:spcPts val="1200"/>
              </a:spcAft>
              <a:buClr>
                <a:schemeClr val="accent1"/>
              </a:buClr>
            </a:pPr>
            <a:r>
              <a:rPr lang="en-US" sz="2000" b="1" dirty="0">
                <a:latin typeface="CMU Serif" panose="02000603000000000000" pitchFamily="2" charset="0"/>
                <a:ea typeface="CMU Serif" panose="02000603000000000000" pitchFamily="2" charset="0"/>
                <a:cs typeface="CMU Serif" panose="02000603000000000000" pitchFamily="2" charset="0"/>
              </a:rPr>
              <a:t>Discrete vs. Continuous: </a:t>
            </a:r>
          </a:p>
          <a:p>
            <a:pPr marL="342900" indent="-342900">
              <a:spcAft>
                <a:spcPts val="12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If the number of distinct </a:t>
            </a:r>
            <a:r>
              <a:rPr lang="en-US" sz="2000" dirty="0">
                <a:solidFill>
                  <a:schemeClr val="accent1"/>
                </a:solidFill>
                <a:latin typeface="CMU Serif" panose="02000603000000000000" pitchFamily="2" charset="0"/>
                <a:ea typeface="CMU Serif" panose="02000603000000000000" pitchFamily="2" charset="0"/>
                <a:cs typeface="CMU Serif" panose="02000603000000000000" pitchFamily="2" charset="0"/>
              </a:rPr>
              <a:t>percepts</a:t>
            </a:r>
            <a:r>
              <a:rPr lang="en-US" sz="2000" dirty="0">
                <a:latin typeface="CMU Serif" panose="02000603000000000000" pitchFamily="2" charset="0"/>
                <a:ea typeface="CMU Serif" panose="02000603000000000000" pitchFamily="2" charset="0"/>
                <a:cs typeface="CMU Serif" panose="02000603000000000000" pitchFamily="2" charset="0"/>
              </a:rPr>
              <a:t> and </a:t>
            </a:r>
            <a:r>
              <a:rPr lang="en-US" sz="2000" dirty="0">
                <a:solidFill>
                  <a:schemeClr val="accent1"/>
                </a:solidFill>
                <a:latin typeface="CMU Serif" panose="02000603000000000000" pitchFamily="2" charset="0"/>
                <a:ea typeface="CMU Serif" panose="02000603000000000000" pitchFamily="2" charset="0"/>
                <a:cs typeface="CMU Serif" panose="02000603000000000000" pitchFamily="2" charset="0"/>
              </a:rPr>
              <a:t>actions</a:t>
            </a:r>
            <a:r>
              <a:rPr lang="en-US" sz="2000" dirty="0">
                <a:latin typeface="CMU Serif" panose="02000603000000000000" pitchFamily="2" charset="0"/>
                <a:ea typeface="CMU Serif" panose="02000603000000000000" pitchFamily="2" charset="0"/>
                <a:cs typeface="CMU Serif" panose="02000603000000000000" pitchFamily="2" charset="0"/>
              </a:rPr>
              <a:t> is limited, the environment is discrete, otherwise it is continuous.</a:t>
            </a:r>
          </a:p>
          <a:p>
            <a:pPr marL="342900" indent="-342900">
              <a:spcAft>
                <a:spcPts val="12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Receives percepts describing the world one at a time. </a:t>
            </a:r>
          </a:p>
          <a:p>
            <a:pPr marL="342900" indent="-342900">
              <a:spcAft>
                <a:spcPts val="12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Maps this percept sequence to a sequence of discrete actions. </a:t>
            </a:r>
          </a:p>
        </p:txBody>
      </p:sp>
      <p:sp>
        <p:nvSpPr>
          <p:cNvPr id="4" name="TextBox 3">
            <a:extLst>
              <a:ext uri="{FF2B5EF4-FFF2-40B4-BE49-F238E27FC236}">
                <a16:creationId xmlns:a16="http://schemas.microsoft.com/office/drawing/2014/main" id="{4A642E04-069F-7107-1E9D-D12B2A313514}"/>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Properties of Environment</a:t>
            </a:r>
          </a:p>
        </p:txBody>
      </p:sp>
    </p:spTree>
    <p:extLst>
      <p:ext uri="{BB962C8B-B14F-4D97-AF65-F5344CB8AC3E}">
        <p14:creationId xmlns:p14="http://schemas.microsoft.com/office/powerpoint/2010/main" val="24410538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F2112-9B07-F593-C942-D9D43B6DD84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0938504-BF2E-2D92-A0CC-039908144714}"/>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Characteristics of Environments</a:t>
            </a:r>
          </a:p>
        </p:txBody>
      </p:sp>
      <p:graphicFrame>
        <p:nvGraphicFramePr>
          <p:cNvPr id="6" name="Table 5">
            <a:extLst>
              <a:ext uri="{FF2B5EF4-FFF2-40B4-BE49-F238E27FC236}">
                <a16:creationId xmlns:a16="http://schemas.microsoft.com/office/drawing/2014/main" id="{1326CF75-CAEC-E95E-6546-C024CC20179E}"/>
              </a:ext>
            </a:extLst>
          </p:cNvPr>
          <p:cNvGraphicFramePr>
            <a:graphicFrameLocks noGrp="1"/>
          </p:cNvGraphicFramePr>
          <p:nvPr>
            <p:extLst>
              <p:ext uri="{D42A27DB-BD31-4B8C-83A1-F6EECF244321}">
                <p14:modId xmlns:p14="http://schemas.microsoft.com/office/powerpoint/2010/main" val="889337523"/>
              </p:ext>
            </p:extLst>
          </p:nvPr>
        </p:nvGraphicFramePr>
        <p:xfrm>
          <a:off x="452966" y="2184642"/>
          <a:ext cx="8241450" cy="3297644"/>
        </p:xfrm>
        <a:graphic>
          <a:graphicData uri="http://schemas.openxmlformats.org/drawingml/2006/table">
            <a:tbl>
              <a:tblPr firstRow="1" bandRow="1">
                <a:tableStyleId>{6E25E649-3F16-4E02-A733-19D2CDBF48F0}</a:tableStyleId>
              </a:tblPr>
              <a:tblGrid>
                <a:gridCol w="1394457">
                  <a:extLst>
                    <a:ext uri="{9D8B030D-6E8A-4147-A177-3AD203B41FA5}">
                      <a16:colId xmlns:a16="http://schemas.microsoft.com/office/drawing/2014/main" val="688925186"/>
                    </a:ext>
                  </a:extLst>
                </a:gridCol>
                <a:gridCol w="1234440">
                  <a:extLst>
                    <a:ext uri="{9D8B030D-6E8A-4147-A177-3AD203B41FA5}">
                      <a16:colId xmlns:a16="http://schemas.microsoft.com/office/drawing/2014/main" val="1868142969"/>
                    </a:ext>
                  </a:extLst>
                </a:gridCol>
                <a:gridCol w="1417320">
                  <a:extLst>
                    <a:ext uri="{9D8B030D-6E8A-4147-A177-3AD203B41FA5}">
                      <a16:colId xmlns:a16="http://schemas.microsoft.com/office/drawing/2014/main" val="4250934764"/>
                    </a:ext>
                  </a:extLst>
                </a:gridCol>
                <a:gridCol w="1112520">
                  <a:extLst>
                    <a:ext uri="{9D8B030D-6E8A-4147-A177-3AD203B41FA5}">
                      <a16:colId xmlns:a16="http://schemas.microsoft.com/office/drawing/2014/main" val="3433188855"/>
                    </a:ext>
                  </a:extLst>
                </a:gridCol>
                <a:gridCol w="1013460">
                  <a:extLst>
                    <a:ext uri="{9D8B030D-6E8A-4147-A177-3AD203B41FA5}">
                      <a16:colId xmlns:a16="http://schemas.microsoft.com/office/drawing/2014/main" val="3691740048"/>
                    </a:ext>
                  </a:extLst>
                </a:gridCol>
                <a:gridCol w="1074420">
                  <a:extLst>
                    <a:ext uri="{9D8B030D-6E8A-4147-A177-3AD203B41FA5}">
                      <a16:colId xmlns:a16="http://schemas.microsoft.com/office/drawing/2014/main" val="853341249"/>
                    </a:ext>
                  </a:extLst>
                </a:gridCol>
                <a:gridCol w="994833">
                  <a:extLst>
                    <a:ext uri="{9D8B030D-6E8A-4147-A177-3AD203B41FA5}">
                      <a16:colId xmlns:a16="http://schemas.microsoft.com/office/drawing/2014/main" val="2316218446"/>
                    </a:ext>
                  </a:extLst>
                </a:gridCol>
              </a:tblGrid>
              <a:tr h="423817">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Task</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Observable</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Deterministic</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Episodic</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Static</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Discrete</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Agents</a:t>
                      </a:r>
                    </a:p>
                  </a:txBody>
                  <a:tcPr marL="0" marR="0" marT="0" marB="0" anchor="ctr"/>
                </a:tc>
                <a:extLst>
                  <a:ext uri="{0D108BD9-81ED-4DB2-BD59-A6C34878D82A}">
                    <a16:rowId xmlns:a16="http://schemas.microsoft.com/office/drawing/2014/main" val="1485445105"/>
                  </a:ext>
                </a:extLst>
              </a:tr>
              <a:tr h="423817">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Solitaire</a:t>
                      </a: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extLst>
                  <a:ext uri="{0D108BD9-81ED-4DB2-BD59-A6C34878D82A}">
                    <a16:rowId xmlns:a16="http://schemas.microsoft.com/office/drawing/2014/main" val="1852746854"/>
                  </a:ext>
                </a:extLst>
              </a:tr>
              <a:tr h="423817">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Chess</a:t>
                      </a: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extLst>
                  <a:ext uri="{0D108BD9-81ED-4DB2-BD59-A6C34878D82A}">
                    <a16:rowId xmlns:a16="http://schemas.microsoft.com/office/drawing/2014/main" val="48212700"/>
                  </a:ext>
                </a:extLst>
              </a:tr>
              <a:tr h="423817">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Taxi Driving</a:t>
                      </a: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extLst>
                  <a:ext uri="{0D108BD9-81ED-4DB2-BD59-A6C34878D82A}">
                    <a16:rowId xmlns:a16="http://schemas.microsoft.com/office/drawing/2014/main" val="4294430783"/>
                  </a:ext>
                </a:extLst>
              </a:tr>
              <a:tr h="557348">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Internet shopping</a:t>
                      </a: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extLst>
                  <a:ext uri="{0D108BD9-81ED-4DB2-BD59-A6C34878D82A}">
                    <a16:rowId xmlns:a16="http://schemas.microsoft.com/office/drawing/2014/main" val="2978692195"/>
                  </a:ext>
                </a:extLst>
              </a:tr>
              <a:tr h="557348">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Medical Diagnosis</a:t>
                      </a: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extLst>
                  <a:ext uri="{0D108BD9-81ED-4DB2-BD59-A6C34878D82A}">
                    <a16:rowId xmlns:a16="http://schemas.microsoft.com/office/drawing/2014/main" val="2791929853"/>
                  </a:ext>
                </a:extLst>
              </a:tr>
              <a:tr h="423817">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Crossword Puzzle</a:t>
                      </a: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extLst>
                  <a:ext uri="{0D108BD9-81ED-4DB2-BD59-A6C34878D82A}">
                    <a16:rowId xmlns:a16="http://schemas.microsoft.com/office/drawing/2014/main" val="1203513485"/>
                  </a:ext>
                </a:extLst>
              </a:tr>
            </a:tbl>
          </a:graphicData>
        </a:graphic>
      </p:graphicFrame>
    </p:spTree>
    <p:extLst>
      <p:ext uri="{BB962C8B-B14F-4D97-AF65-F5344CB8AC3E}">
        <p14:creationId xmlns:p14="http://schemas.microsoft.com/office/powerpoint/2010/main" val="21517509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B21E7-3616-F7D3-5E1F-E15D513DBA8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1116284-0DC6-EA3B-7BDB-8572C6D0A6AE}"/>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Characteristics of Environments</a:t>
            </a:r>
          </a:p>
        </p:txBody>
      </p:sp>
      <p:graphicFrame>
        <p:nvGraphicFramePr>
          <p:cNvPr id="5" name="Table 4">
            <a:extLst>
              <a:ext uri="{FF2B5EF4-FFF2-40B4-BE49-F238E27FC236}">
                <a16:creationId xmlns:a16="http://schemas.microsoft.com/office/drawing/2014/main" id="{17A51B6F-9065-0784-00EA-3D08C6A77A27}"/>
              </a:ext>
            </a:extLst>
          </p:cNvPr>
          <p:cNvGraphicFramePr>
            <a:graphicFrameLocks noGrp="1"/>
          </p:cNvGraphicFramePr>
          <p:nvPr>
            <p:extLst>
              <p:ext uri="{D42A27DB-BD31-4B8C-83A1-F6EECF244321}">
                <p14:modId xmlns:p14="http://schemas.microsoft.com/office/powerpoint/2010/main" val="2458640042"/>
              </p:ext>
            </p:extLst>
          </p:nvPr>
        </p:nvGraphicFramePr>
        <p:xfrm>
          <a:off x="452966" y="2184642"/>
          <a:ext cx="8241450" cy="3297644"/>
        </p:xfrm>
        <a:graphic>
          <a:graphicData uri="http://schemas.openxmlformats.org/drawingml/2006/table">
            <a:tbl>
              <a:tblPr firstRow="1" bandRow="1">
                <a:tableStyleId>{6E25E649-3F16-4E02-A733-19D2CDBF48F0}</a:tableStyleId>
              </a:tblPr>
              <a:tblGrid>
                <a:gridCol w="1394457">
                  <a:extLst>
                    <a:ext uri="{9D8B030D-6E8A-4147-A177-3AD203B41FA5}">
                      <a16:colId xmlns:a16="http://schemas.microsoft.com/office/drawing/2014/main" val="688925186"/>
                    </a:ext>
                  </a:extLst>
                </a:gridCol>
                <a:gridCol w="1234440">
                  <a:extLst>
                    <a:ext uri="{9D8B030D-6E8A-4147-A177-3AD203B41FA5}">
                      <a16:colId xmlns:a16="http://schemas.microsoft.com/office/drawing/2014/main" val="1868142969"/>
                    </a:ext>
                  </a:extLst>
                </a:gridCol>
                <a:gridCol w="1417320">
                  <a:extLst>
                    <a:ext uri="{9D8B030D-6E8A-4147-A177-3AD203B41FA5}">
                      <a16:colId xmlns:a16="http://schemas.microsoft.com/office/drawing/2014/main" val="4250934764"/>
                    </a:ext>
                  </a:extLst>
                </a:gridCol>
                <a:gridCol w="1112520">
                  <a:extLst>
                    <a:ext uri="{9D8B030D-6E8A-4147-A177-3AD203B41FA5}">
                      <a16:colId xmlns:a16="http://schemas.microsoft.com/office/drawing/2014/main" val="3433188855"/>
                    </a:ext>
                  </a:extLst>
                </a:gridCol>
                <a:gridCol w="1013460">
                  <a:extLst>
                    <a:ext uri="{9D8B030D-6E8A-4147-A177-3AD203B41FA5}">
                      <a16:colId xmlns:a16="http://schemas.microsoft.com/office/drawing/2014/main" val="3691740048"/>
                    </a:ext>
                  </a:extLst>
                </a:gridCol>
                <a:gridCol w="1074420">
                  <a:extLst>
                    <a:ext uri="{9D8B030D-6E8A-4147-A177-3AD203B41FA5}">
                      <a16:colId xmlns:a16="http://schemas.microsoft.com/office/drawing/2014/main" val="853341249"/>
                    </a:ext>
                  </a:extLst>
                </a:gridCol>
                <a:gridCol w="994833">
                  <a:extLst>
                    <a:ext uri="{9D8B030D-6E8A-4147-A177-3AD203B41FA5}">
                      <a16:colId xmlns:a16="http://schemas.microsoft.com/office/drawing/2014/main" val="2316218446"/>
                    </a:ext>
                  </a:extLst>
                </a:gridCol>
              </a:tblGrid>
              <a:tr h="423817">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Task</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Observable</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Deterministic</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Episodic</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Static</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Discrete</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Agents</a:t>
                      </a:r>
                    </a:p>
                  </a:txBody>
                  <a:tcPr marL="0" marR="0" marT="0" marB="0" anchor="ctr"/>
                </a:tc>
                <a:extLst>
                  <a:ext uri="{0D108BD9-81ED-4DB2-BD59-A6C34878D82A}">
                    <a16:rowId xmlns:a16="http://schemas.microsoft.com/office/drawing/2014/main" val="1485445105"/>
                  </a:ext>
                </a:extLst>
              </a:tr>
              <a:tr h="423817">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Solitaire</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Single</a:t>
                      </a:r>
                    </a:p>
                  </a:txBody>
                  <a:tcPr marL="0" marR="0" marT="0" marB="0" anchor="ctr"/>
                </a:tc>
                <a:extLst>
                  <a:ext uri="{0D108BD9-81ED-4DB2-BD59-A6C34878D82A}">
                    <a16:rowId xmlns:a16="http://schemas.microsoft.com/office/drawing/2014/main" val="1852746854"/>
                  </a:ext>
                </a:extLst>
              </a:tr>
              <a:tr h="423817">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Chess</a:t>
                      </a: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extLst>
                  <a:ext uri="{0D108BD9-81ED-4DB2-BD59-A6C34878D82A}">
                    <a16:rowId xmlns:a16="http://schemas.microsoft.com/office/drawing/2014/main" val="48212700"/>
                  </a:ext>
                </a:extLst>
              </a:tr>
              <a:tr h="423817">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Taxi Driving</a:t>
                      </a: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extLst>
                  <a:ext uri="{0D108BD9-81ED-4DB2-BD59-A6C34878D82A}">
                    <a16:rowId xmlns:a16="http://schemas.microsoft.com/office/drawing/2014/main" val="4294430783"/>
                  </a:ext>
                </a:extLst>
              </a:tr>
              <a:tr h="557348">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Internet shopping</a:t>
                      </a: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extLst>
                  <a:ext uri="{0D108BD9-81ED-4DB2-BD59-A6C34878D82A}">
                    <a16:rowId xmlns:a16="http://schemas.microsoft.com/office/drawing/2014/main" val="2978692195"/>
                  </a:ext>
                </a:extLst>
              </a:tr>
              <a:tr h="557348">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Medical Diagnosis</a:t>
                      </a: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extLst>
                  <a:ext uri="{0D108BD9-81ED-4DB2-BD59-A6C34878D82A}">
                    <a16:rowId xmlns:a16="http://schemas.microsoft.com/office/drawing/2014/main" val="2791929853"/>
                  </a:ext>
                </a:extLst>
              </a:tr>
              <a:tr h="423817">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Crossword Puzzle</a:t>
                      </a: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extLst>
                  <a:ext uri="{0D108BD9-81ED-4DB2-BD59-A6C34878D82A}">
                    <a16:rowId xmlns:a16="http://schemas.microsoft.com/office/drawing/2014/main" val="1203513485"/>
                  </a:ext>
                </a:extLst>
              </a:tr>
            </a:tbl>
          </a:graphicData>
        </a:graphic>
      </p:graphicFrame>
    </p:spTree>
    <p:extLst>
      <p:ext uri="{BB962C8B-B14F-4D97-AF65-F5344CB8AC3E}">
        <p14:creationId xmlns:p14="http://schemas.microsoft.com/office/powerpoint/2010/main" val="27253073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C1FF4-6EF1-B21F-DAA1-8678949E6C1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AD6F7A5-FFF7-6BDA-7556-B263D9D332EC}"/>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Characteristics of Environments</a:t>
            </a:r>
          </a:p>
        </p:txBody>
      </p:sp>
      <p:graphicFrame>
        <p:nvGraphicFramePr>
          <p:cNvPr id="5" name="Table 4">
            <a:extLst>
              <a:ext uri="{FF2B5EF4-FFF2-40B4-BE49-F238E27FC236}">
                <a16:creationId xmlns:a16="http://schemas.microsoft.com/office/drawing/2014/main" id="{C84E9E67-D207-54BE-9ED9-B82D5EB10EB7}"/>
              </a:ext>
            </a:extLst>
          </p:cNvPr>
          <p:cNvGraphicFramePr>
            <a:graphicFrameLocks noGrp="1"/>
          </p:cNvGraphicFramePr>
          <p:nvPr>
            <p:extLst>
              <p:ext uri="{D42A27DB-BD31-4B8C-83A1-F6EECF244321}">
                <p14:modId xmlns:p14="http://schemas.microsoft.com/office/powerpoint/2010/main" val="3188938256"/>
              </p:ext>
            </p:extLst>
          </p:nvPr>
        </p:nvGraphicFramePr>
        <p:xfrm>
          <a:off x="452966" y="2184642"/>
          <a:ext cx="8241450" cy="3297644"/>
        </p:xfrm>
        <a:graphic>
          <a:graphicData uri="http://schemas.openxmlformats.org/drawingml/2006/table">
            <a:tbl>
              <a:tblPr firstRow="1" bandRow="1">
                <a:tableStyleId>{6E25E649-3F16-4E02-A733-19D2CDBF48F0}</a:tableStyleId>
              </a:tblPr>
              <a:tblGrid>
                <a:gridCol w="1394457">
                  <a:extLst>
                    <a:ext uri="{9D8B030D-6E8A-4147-A177-3AD203B41FA5}">
                      <a16:colId xmlns:a16="http://schemas.microsoft.com/office/drawing/2014/main" val="688925186"/>
                    </a:ext>
                  </a:extLst>
                </a:gridCol>
                <a:gridCol w="1234440">
                  <a:extLst>
                    <a:ext uri="{9D8B030D-6E8A-4147-A177-3AD203B41FA5}">
                      <a16:colId xmlns:a16="http://schemas.microsoft.com/office/drawing/2014/main" val="1868142969"/>
                    </a:ext>
                  </a:extLst>
                </a:gridCol>
                <a:gridCol w="1417320">
                  <a:extLst>
                    <a:ext uri="{9D8B030D-6E8A-4147-A177-3AD203B41FA5}">
                      <a16:colId xmlns:a16="http://schemas.microsoft.com/office/drawing/2014/main" val="4250934764"/>
                    </a:ext>
                  </a:extLst>
                </a:gridCol>
                <a:gridCol w="1112520">
                  <a:extLst>
                    <a:ext uri="{9D8B030D-6E8A-4147-A177-3AD203B41FA5}">
                      <a16:colId xmlns:a16="http://schemas.microsoft.com/office/drawing/2014/main" val="3433188855"/>
                    </a:ext>
                  </a:extLst>
                </a:gridCol>
                <a:gridCol w="1013460">
                  <a:extLst>
                    <a:ext uri="{9D8B030D-6E8A-4147-A177-3AD203B41FA5}">
                      <a16:colId xmlns:a16="http://schemas.microsoft.com/office/drawing/2014/main" val="3691740048"/>
                    </a:ext>
                  </a:extLst>
                </a:gridCol>
                <a:gridCol w="1074420">
                  <a:extLst>
                    <a:ext uri="{9D8B030D-6E8A-4147-A177-3AD203B41FA5}">
                      <a16:colId xmlns:a16="http://schemas.microsoft.com/office/drawing/2014/main" val="853341249"/>
                    </a:ext>
                  </a:extLst>
                </a:gridCol>
                <a:gridCol w="994833">
                  <a:extLst>
                    <a:ext uri="{9D8B030D-6E8A-4147-A177-3AD203B41FA5}">
                      <a16:colId xmlns:a16="http://schemas.microsoft.com/office/drawing/2014/main" val="2316218446"/>
                    </a:ext>
                  </a:extLst>
                </a:gridCol>
              </a:tblGrid>
              <a:tr h="423817">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Task</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Observable</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Deterministic</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Episodic</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Static</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Discrete</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Agents</a:t>
                      </a:r>
                    </a:p>
                  </a:txBody>
                  <a:tcPr marL="0" marR="0" marT="0" marB="0" anchor="ctr"/>
                </a:tc>
                <a:extLst>
                  <a:ext uri="{0D108BD9-81ED-4DB2-BD59-A6C34878D82A}">
                    <a16:rowId xmlns:a16="http://schemas.microsoft.com/office/drawing/2014/main" val="1485445105"/>
                  </a:ext>
                </a:extLst>
              </a:tr>
              <a:tr h="423817">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Solitaire</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Single</a:t>
                      </a:r>
                    </a:p>
                  </a:txBody>
                  <a:tcPr marL="0" marR="0" marT="0" marB="0" anchor="ctr"/>
                </a:tc>
                <a:extLst>
                  <a:ext uri="{0D108BD9-81ED-4DB2-BD59-A6C34878D82A}">
                    <a16:rowId xmlns:a16="http://schemas.microsoft.com/office/drawing/2014/main" val="1852746854"/>
                  </a:ext>
                </a:extLst>
              </a:tr>
              <a:tr h="423817">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Chess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Multi</a:t>
                      </a:r>
                    </a:p>
                  </a:txBody>
                  <a:tcPr marL="0" marR="0" marT="0" marB="0" anchor="ctr"/>
                </a:tc>
                <a:extLst>
                  <a:ext uri="{0D108BD9-81ED-4DB2-BD59-A6C34878D82A}">
                    <a16:rowId xmlns:a16="http://schemas.microsoft.com/office/drawing/2014/main" val="48212700"/>
                  </a:ext>
                </a:extLst>
              </a:tr>
              <a:tr h="423817">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Taxi Driving</a:t>
                      </a: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extLst>
                  <a:ext uri="{0D108BD9-81ED-4DB2-BD59-A6C34878D82A}">
                    <a16:rowId xmlns:a16="http://schemas.microsoft.com/office/drawing/2014/main" val="4294430783"/>
                  </a:ext>
                </a:extLst>
              </a:tr>
              <a:tr h="557348">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Internet shopping</a:t>
                      </a: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extLst>
                  <a:ext uri="{0D108BD9-81ED-4DB2-BD59-A6C34878D82A}">
                    <a16:rowId xmlns:a16="http://schemas.microsoft.com/office/drawing/2014/main" val="2978692195"/>
                  </a:ext>
                </a:extLst>
              </a:tr>
              <a:tr h="557348">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Medical Diagnosis</a:t>
                      </a: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extLst>
                  <a:ext uri="{0D108BD9-81ED-4DB2-BD59-A6C34878D82A}">
                    <a16:rowId xmlns:a16="http://schemas.microsoft.com/office/drawing/2014/main" val="2791929853"/>
                  </a:ext>
                </a:extLst>
              </a:tr>
              <a:tr h="423817">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Crossword Puzzle</a:t>
                      </a: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extLst>
                  <a:ext uri="{0D108BD9-81ED-4DB2-BD59-A6C34878D82A}">
                    <a16:rowId xmlns:a16="http://schemas.microsoft.com/office/drawing/2014/main" val="1203513485"/>
                  </a:ext>
                </a:extLst>
              </a:tr>
            </a:tbl>
          </a:graphicData>
        </a:graphic>
      </p:graphicFrame>
    </p:spTree>
    <p:extLst>
      <p:ext uri="{BB962C8B-B14F-4D97-AF65-F5344CB8AC3E}">
        <p14:creationId xmlns:p14="http://schemas.microsoft.com/office/powerpoint/2010/main" val="34862584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64408-E1DB-4763-FFFA-F150186A964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8896ABF-EAF0-29CF-1C8D-1970EEFBFB0E}"/>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Characteristics of Environments</a:t>
            </a:r>
          </a:p>
        </p:txBody>
      </p:sp>
      <p:graphicFrame>
        <p:nvGraphicFramePr>
          <p:cNvPr id="5" name="Table 4">
            <a:extLst>
              <a:ext uri="{FF2B5EF4-FFF2-40B4-BE49-F238E27FC236}">
                <a16:creationId xmlns:a16="http://schemas.microsoft.com/office/drawing/2014/main" id="{297B8356-9394-C29F-C3A4-F81978345E98}"/>
              </a:ext>
            </a:extLst>
          </p:cNvPr>
          <p:cNvGraphicFramePr>
            <a:graphicFrameLocks noGrp="1"/>
          </p:cNvGraphicFramePr>
          <p:nvPr>
            <p:extLst>
              <p:ext uri="{D42A27DB-BD31-4B8C-83A1-F6EECF244321}">
                <p14:modId xmlns:p14="http://schemas.microsoft.com/office/powerpoint/2010/main" val="216029448"/>
              </p:ext>
            </p:extLst>
          </p:nvPr>
        </p:nvGraphicFramePr>
        <p:xfrm>
          <a:off x="452966" y="2184642"/>
          <a:ext cx="8241450" cy="3297644"/>
        </p:xfrm>
        <a:graphic>
          <a:graphicData uri="http://schemas.openxmlformats.org/drawingml/2006/table">
            <a:tbl>
              <a:tblPr firstRow="1" bandRow="1">
                <a:tableStyleId>{6E25E649-3F16-4E02-A733-19D2CDBF48F0}</a:tableStyleId>
              </a:tblPr>
              <a:tblGrid>
                <a:gridCol w="1394457">
                  <a:extLst>
                    <a:ext uri="{9D8B030D-6E8A-4147-A177-3AD203B41FA5}">
                      <a16:colId xmlns:a16="http://schemas.microsoft.com/office/drawing/2014/main" val="688925186"/>
                    </a:ext>
                  </a:extLst>
                </a:gridCol>
                <a:gridCol w="1234440">
                  <a:extLst>
                    <a:ext uri="{9D8B030D-6E8A-4147-A177-3AD203B41FA5}">
                      <a16:colId xmlns:a16="http://schemas.microsoft.com/office/drawing/2014/main" val="1868142969"/>
                    </a:ext>
                  </a:extLst>
                </a:gridCol>
                <a:gridCol w="1417320">
                  <a:extLst>
                    <a:ext uri="{9D8B030D-6E8A-4147-A177-3AD203B41FA5}">
                      <a16:colId xmlns:a16="http://schemas.microsoft.com/office/drawing/2014/main" val="4250934764"/>
                    </a:ext>
                  </a:extLst>
                </a:gridCol>
                <a:gridCol w="1112520">
                  <a:extLst>
                    <a:ext uri="{9D8B030D-6E8A-4147-A177-3AD203B41FA5}">
                      <a16:colId xmlns:a16="http://schemas.microsoft.com/office/drawing/2014/main" val="3433188855"/>
                    </a:ext>
                  </a:extLst>
                </a:gridCol>
                <a:gridCol w="1013460">
                  <a:extLst>
                    <a:ext uri="{9D8B030D-6E8A-4147-A177-3AD203B41FA5}">
                      <a16:colId xmlns:a16="http://schemas.microsoft.com/office/drawing/2014/main" val="3691740048"/>
                    </a:ext>
                  </a:extLst>
                </a:gridCol>
                <a:gridCol w="1074420">
                  <a:extLst>
                    <a:ext uri="{9D8B030D-6E8A-4147-A177-3AD203B41FA5}">
                      <a16:colId xmlns:a16="http://schemas.microsoft.com/office/drawing/2014/main" val="853341249"/>
                    </a:ext>
                  </a:extLst>
                </a:gridCol>
                <a:gridCol w="994833">
                  <a:extLst>
                    <a:ext uri="{9D8B030D-6E8A-4147-A177-3AD203B41FA5}">
                      <a16:colId xmlns:a16="http://schemas.microsoft.com/office/drawing/2014/main" val="2316218446"/>
                    </a:ext>
                  </a:extLst>
                </a:gridCol>
              </a:tblGrid>
              <a:tr h="423817">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Task</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Observable</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Deterministic</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Episodic</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Static</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Discrete</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Agents</a:t>
                      </a:r>
                    </a:p>
                  </a:txBody>
                  <a:tcPr marL="0" marR="0" marT="0" marB="0" anchor="ctr"/>
                </a:tc>
                <a:extLst>
                  <a:ext uri="{0D108BD9-81ED-4DB2-BD59-A6C34878D82A}">
                    <a16:rowId xmlns:a16="http://schemas.microsoft.com/office/drawing/2014/main" val="1485445105"/>
                  </a:ext>
                </a:extLst>
              </a:tr>
              <a:tr h="423817">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Solitaire</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Single</a:t>
                      </a:r>
                    </a:p>
                  </a:txBody>
                  <a:tcPr marL="0" marR="0" marT="0" marB="0" anchor="ctr"/>
                </a:tc>
                <a:extLst>
                  <a:ext uri="{0D108BD9-81ED-4DB2-BD59-A6C34878D82A}">
                    <a16:rowId xmlns:a16="http://schemas.microsoft.com/office/drawing/2014/main" val="1852746854"/>
                  </a:ext>
                </a:extLst>
              </a:tr>
              <a:tr h="423817">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Chess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Multi</a:t>
                      </a:r>
                    </a:p>
                  </a:txBody>
                  <a:tcPr marL="0" marR="0" marT="0" marB="0" anchor="ctr"/>
                </a:tc>
                <a:extLst>
                  <a:ext uri="{0D108BD9-81ED-4DB2-BD59-A6C34878D82A}">
                    <a16:rowId xmlns:a16="http://schemas.microsoft.com/office/drawing/2014/main" val="48212700"/>
                  </a:ext>
                </a:extLst>
              </a:tr>
              <a:tr h="423817">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Taxi Driving</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Multi</a:t>
                      </a:r>
                    </a:p>
                  </a:txBody>
                  <a:tcPr marL="0" marR="0" marT="0" marB="0" anchor="ctr"/>
                </a:tc>
                <a:extLst>
                  <a:ext uri="{0D108BD9-81ED-4DB2-BD59-A6C34878D82A}">
                    <a16:rowId xmlns:a16="http://schemas.microsoft.com/office/drawing/2014/main" val="4294430783"/>
                  </a:ext>
                </a:extLst>
              </a:tr>
              <a:tr h="557348">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Internet shopping</a:t>
                      </a: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extLst>
                  <a:ext uri="{0D108BD9-81ED-4DB2-BD59-A6C34878D82A}">
                    <a16:rowId xmlns:a16="http://schemas.microsoft.com/office/drawing/2014/main" val="2978692195"/>
                  </a:ext>
                </a:extLst>
              </a:tr>
              <a:tr h="557348">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Medical Diagnosis</a:t>
                      </a: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extLst>
                  <a:ext uri="{0D108BD9-81ED-4DB2-BD59-A6C34878D82A}">
                    <a16:rowId xmlns:a16="http://schemas.microsoft.com/office/drawing/2014/main" val="2791929853"/>
                  </a:ext>
                </a:extLst>
              </a:tr>
              <a:tr h="423817">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Crossword Puzzle</a:t>
                      </a: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extLst>
                  <a:ext uri="{0D108BD9-81ED-4DB2-BD59-A6C34878D82A}">
                    <a16:rowId xmlns:a16="http://schemas.microsoft.com/office/drawing/2014/main" val="1203513485"/>
                  </a:ext>
                </a:extLst>
              </a:tr>
            </a:tbl>
          </a:graphicData>
        </a:graphic>
      </p:graphicFrame>
    </p:spTree>
    <p:extLst>
      <p:ext uri="{BB962C8B-B14F-4D97-AF65-F5344CB8AC3E}">
        <p14:creationId xmlns:p14="http://schemas.microsoft.com/office/powerpoint/2010/main" val="16611246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4B418-5B0F-42D6-BD07-79A5075EBC8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3940D13-57CE-1198-3158-ABDC99B88354}"/>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Characteristics of Environments</a:t>
            </a:r>
          </a:p>
        </p:txBody>
      </p:sp>
      <p:graphicFrame>
        <p:nvGraphicFramePr>
          <p:cNvPr id="5" name="Table 4">
            <a:extLst>
              <a:ext uri="{FF2B5EF4-FFF2-40B4-BE49-F238E27FC236}">
                <a16:creationId xmlns:a16="http://schemas.microsoft.com/office/drawing/2014/main" id="{C93683EB-999E-56FA-28E8-71D544A77C1E}"/>
              </a:ext>
            </a:extLst>
          </p:cNvPr>
          <p:cNvGraphicFramePr>
            <a:graphicFrameLocks noGrp="1"/>
          </p:cNvGraphicFramePr>
          <p:nvPr>
            <p:extLst>
              <p:ext uri="{D42A27DB-BD31-4B8C-83A1-F6EECF244321}">
                <p14:modId xmlns:p14="http://schemas.microsoft.com/office/powerpoint/2010/main" val="2618777786"/>
              </p:ext>
            </p:extLst>
          </p:nvPr>
        </p:nvGraphicFramePr>
        <p:xfrm>
          <a:off x="452966" y="2184642"/>
          <a:ext cx="8241450" cy="3297644"/>
        </p:xfrm>
        <a:graphic>
          <a:graphicData uri="http://schemas.openxmlformats.org/drawingml/2006/table">
            <a:tbl>
              <a:tblPr firstRow="1" bandRow="1">
                <a:tableStyleId>{6E25E649-3F16-4E02-A733-19D2CDBF48F0}</a:tableStyleId>
              </a:tblPr>
              <a:tblGrid>
                <a:gridCol w="1394457">
                  <a:extLst>
                    <a:ext uri="{9D8B030D-6E8A-4147-A177-3AD203B41FA5}">
                      <a16:colId xmlns:a16="http://schemas.microsoft.com/office/drawing/2014/main" val="688925186"/>
                    </a:ext>
                  </a:extLst>
                </a:gridCol>
                <a:gridCol w="1234440">
                  <a:extLst>
                    <a:ext uri="{9D8B030D-6E8A-4147-A177-3AD203B41FA5}">
                      <a16:colId xmlns:a16="http://schemas.microsoft.com/office/drawing/2014/main" val="1868142969"/>
                    </a:ext>
                  </a:extLst>
                </a:gridCol>
                <a:gridCol w="1417320">
                  <a:extLst>
                    <a:ext uri="{9D8B030D-6E8A-4147-A177-3AD203B41FA5}">
                      <a16:colId xmlns:a16="http://schemas.microsoft.com/office/drawing/2014/main" val="4250934764"/>
                    </a:ext>
                  </a:extLst>
                </a:gridCol>
                <a:gridCol w="1112520">
                  <a:extLst>
                    <a:ext uri="{9D8B030D-6E8A-4147-A177-3AD203B41FA5}">
                      <a16:colId xmlns:a16="http://schemas.microsoft.com/office/drawing/2014/main" val="3433188855"/>
                    </a:ext>
                  </a:extLst>
                </a:gridCol>
                <a:gridCol w="1013460">
                  <a:extLst>
                    <a:ext uri="{9D8B030D-6E8A-4147-A177-3AD203B41FA5}">
                      <a16:colId xmlns:a16="http://schemas.microsoft.com/office/drawing/2014/main" val="3691740048"/>
                    </a:ext>
                  </a:extLst>
                </a:gridCol>
                <a:gridCol w="1074420">
                  <a:extLst>
                    <a:ext uri="{9D8B030D-6E8A-4147-A177-3AD203B41FA5}">
                      <a16:colId xmlns:a16="http://schemas.microsoft.com/office/drawing/2014/main" val="853341249"/>
                    </a:ext>
                  </a:extLst>
                </a:gridCol>
                <a:gridCol w="994833">
                  <a:extLst>
                    <a:ext uri="{9D8B030D-6E8A-4147-A177-3AD203B41FA5}">
                      <a16:colId xmlns:a16="http://schemas.microsoft.com/office/drawing/2014/main" val="2316218446"/>
                    </a:ext>
                  </a:extLst>
                </a:gridCol>
              </a:tblGrid>
              <a:tr h="423817">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Task</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Observable</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Deterministic</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Episodic</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Static</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Discrete</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Agents</a:t>
                      </a:r>
                    </a:p>
                  </a:txBody>
                  <a:tcPr marL="0" marR="0" marT="0" marB="0" anchor="ctr"/>
                </a:tc>
                <a:extLst>
                  <a:ext uri="{0D108BD9-81ED-4DB2-BD59-A6C34878D82A}">
                    <a16:rowId xmlns:a16="http://schemas.microsoft.com/office/drawing/2014/main" val="1485445105"/>
                  </a:ext>
                </a:extLst>
              </a:tr>
              <a:tr h="423817">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Solitaire</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Single</a:t>
                      </a:r>
                    </a:p>
                  </a:txBody>
                  <a:tcPr marL="0" marR="0" marT="0" marB="0" anchor="ctr"/>
                </a:tc>
                <a:extLst>
                  <a:ext uri="{0D108BD9-81ED-4DB2-BD59-A6C34878D82A}">
                    <a16:rowId xmlns:a16="http://schemas.microsoft.com/office/drawing/2014/main" val="1852746854"/>
                  </a:ext>
                </a:extLst>
              </a:tr>
              <a:tr h="423817">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Chess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Multi</a:t>
                      </a:r>
                    </a:p>
                  </a:txBody>
                  <a:tcPr marL="0" marR="0" marT="0" marB="0" anchor="ctr"/>
                </a:tc>
                <a:extLst>
                  <a:ext uri="{0D108BD9-81ED-4DB2-BD59-A6C34878D82A}">
                    <a16:rowId xmlns:a16="http://schemas.microsoft.com/office/drawing/2014/main" val="48212700"/>
                  </a:ext>
                </a:extLst>
              </a:tr>
              <a:tr h="423817">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Taxi Driving</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Multi</a:t>
                      </a:r>
                    </a:p>
                  </a:txBody>
                  <a:tcPr marL="0" marR="0" marT="0" marB="0" anchor="ctr"/>
                </a:tc>
                <a:extLst>
                  <a:ext uri="{0D108BD9-81ED-4DB2-BD59-A6C34878D82A}">
                    <a16:rowId xmlns:a16="http://schemas.microsoft.com/office/drawing/2014/main" val="4294430783"/>
                  </a:ext>
                </a:extLst>
              </a:tr>
              <a:tr h="557348">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Internet shopping</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Multi</a:t>
                      </a:r>
                    </a:p>
                  </a:txBody>
                  <a:tcPr marL="0" marR="0" marT="0" marB="0" anchor="ctr"/>
                </a:tc>
                <a:extLst>
                  <a:ext uri="{0D108BD9-81ED-4DB2-BD59-A6C34878D82A}">
                    <a16:rowId xmlns:a16="http://schemas.microsoft.com/office/drawing/2014/main" val="2978692195"/>
                  </a:ext>
                </a:extLst>
              </a:tr>
              <a:tr h="557348">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Medical Diagnosis</a:t>
                      </a: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extLst>
                  <a:ext uri="{0D108BD9-81ED-4DB2-BD59-A6C34878D82A}">
                    <a16:rowId xmlns:a16="http://schemas.microsoft.com/office/drawing/2014/main" val="2791929853"/>
                  </a:ext>
                </a:extLst>
              </a:tr>
              <a:tr h="423817">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Crossword Puzzle</a:t>
                      </a: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extLst>
                  <a:ext uri="{0D108BD9-81ED-4DB2-BD59-A6C34878D82A}">
                    <a16:rowId xmlns:a16="http://schemas.microsoft.com/office/drawing/2014/main" val="1203513485"/>
                  </a:ext>
                </a:extLst>
              </a:tr>
            </a:tbl>
          </a:graphicData>
        </a:graphic>
      </p:graphicFrame>
    </p:spTree>
    <p:extLst>
      <p:ext uri="{BB962C8B-B14F-4D97-AF65-F5344CB8AC3E}">
        <p14:creationId xmlns:p14="http://schemas.microsoft.com/office/powerpoint/2010/main" val="3710858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9CD91-D8F8-B848-1874-40C31F8367C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0F2116D-C021-8A9E-11D8-CE428F674ECA}"/>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Characteristics of Environments</a:t>
            </a:r>
          </a:p>
        </p:txBody>
      </p:sp>
      <p:graphicFrame>
        <p:nvGraphicFramePr>
          <p:cNvPr id="5" name="Table 4">
            <a:extLst>
              <a:ext uri="{FF2B5EF4-FFF2-40B4-BE49-F238E27FC236}">
                <a16:creationId xmlns:a16="http://schemas.microsoft.com/office/drawing/2014/main" id="{BA3E5FB5-1D62-6416-1662-3BC9FB497C78}"/>
              </a:ext>
            </a:extLst>
          </p:cNvPr>
          <p:cNvGraphicFramePr>
            <a:graphicFrameLocks noGrp="1"/>
          </p:cNvGraphicFramePr>
          <p:nvPr>
            <p:extLst>
              <p:ext uri="{D42A27DB-BD31-4B8C-83A1-F6EECF244321}">
                <p14:modId xmlns:p14="http://schemas.microsoft.com/office/powerpoint/2010/main" val="2377811829"/>
              </p:ext>
            </p:extLst>
          </p:nvPr>
        </p:nvGraphicFramePr>
        <p:xfrm>
          <a:off x="452966" y="2184642"/>
          <a:ext cx="8241450" cy="3297644"/>
        </p:xfrm>
        <a:graphic>
          <a:graphicData uri="http://schemas.openxmlformats.org/drawingml/2006/table">
            <a:tbl>
              <a:tblPr firstRow="1" bandRow="1">
                <a:tableStyleId>{6E25E649-3F16-4E02-A733-19D2CDBF48F0}</a:tableStyleId>
              </a:tblPr>
              <a:tblGrid>
                <a:gridCol w="1394457">
                  <a:extLst>
                    <a:ext uri="{9D8B030D-6E8A-4147-A177-3AD203B41FA5}">
                      <a16:colId xmlns:a16="http://schemas.microsoft.com/office/drawing/2014/main" val="688925186"/>
                    </a:ext>
                  </a:extLst>
                </a:gridCol>
                <a:gridCol w="1234440">
                  <a:extLst>
                    <a:ext uri="{9D8B030D-6E8A-4147-A177-3AD203B41FA5}">
                      <a16:colId xmlns:a16="http://schemas.microsoft.com/office/drawing/2014/main" val="1868142969"/>
                    </a:ext>
                  </a:extLst>
                </a:gridCol>
                <a:gridCol w="1417320">
                  <a:extLst>
                    <a:ext uri="{9D8B030D-6E8A-4147-A177-3AD203B41FA5}">
                      <a16:colId xmlns:a16="http://schemas.microsoft.com/office/drawing/2014/main" val="4250934764"/>
                    </a:ext>
                  </a:extLst>
                </a:gridCol>
                <a:gridCol w="1112520">
                  <a:extLst>
                    <a:ext uri="{9D8B030D-6E8A-4147-A177-3AD203B41FA5}">
                      <a16:colId xmlns:a16="http://schemas.microsoft.com/office/drawing/2014/main" val="3433188855"/>
                    </a:ext>
                  </a:extLst>
                </a:gridCol>
                <a:gridCol w="1013460">
                  <a:extLst>
                    <a:ext uri="{9D8B030D-6E8A-4147-A177-3AD203B41FA5}">
                      <a16:colId xmlns:a16="http://schemas.microsoft.com/office/drawing/2014/main" val="3691740048"/>
                    </a:ext>
                  </a:extLst>
                </a:gridCol>
                <a:gridCol w="1074420">
                  <a:extLst>
                    <a:ext uri="{9D8B030D-6E8A-4147-A177-3AD203B41FA5}">
                      <a16:colId xmlns:a16="http://schemas.microsoft.com/office/drawing/2014/main" val="853341249"/>
                    </a:ext>
                  </a:extLst>
                </a:gridCol>
                <a:gridCol w="994833">
                  <a:extLst>
                    <a:ext uri="{9D8B030D-6E8A-4147-A177-3AD203B41FA5}">
                      <a16:colId xmlns:a16="http://schemas.microsoft.com/office/drawing/2014/main" val="2316218446"/>
                    </a:ext>
                  </a:extLst>
                </a:gridCol>
              </a:tblGrid>
              <a:tr h="423817">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Task</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Observable</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Deterministic</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Episodic</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Static</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Discrete</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Agents</a:t>
                      </a:r>
                    </a:p>
                  </a:txBody>
                  <a:tcPr marL="0" marR="0" marT="0" marB="0" anchor="ctr"/>
                </a:tc>
                <a:extLst>
                  <a:ext uri="{0D108BD9-81ED-4DB2-BD59-A6C34878D82A}">
                    <a16:rowId xmlns:a16="http://schemas.microsoft.com/office/drawing/2014/main" val="1485445105"/>
                  </a:ext>
                </a:extLst>
              </a:tr>
              <a:tr h="423817">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Solitaire</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Single</a:t>
                      </a:r>
                    </a:p>
                  </a:txBody>
                  <a:tcPr marL="0" marR="0" marT="0" marB="0" anchor="ctr"/>
                </a:tc>
                <a:extLst>
                  <a:ext uri="{0D108BD9-81ED-4DB2-BD59-A6C34878D82A}">
                    <a16:rowId xmlns:a16="http://schemas.microsoft.com/office/drawing/2014/main" val="1852746854"/>
                  </a:ext>
                </a:extLst>
              </a:tr>
              <a:tr h="423817">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Chess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Multi</a:t>
                      </a:r>
                    </a:p>
                  </a:txBody>
                  <a:tcPr marL="0" marR="0" marT="0" marB="0" anchor="ctr"/>
                </a:tc>
                <a:extLst>
                  <a:ext uri="{0D108BD9-81ED-4DB2-BD59-A6C34878D82A}">
                    <a16:rowId xmlns:a16="http://schemas.microsoft.com/office/drawing/2014/main" val="48212700"/>
                  </a:ext>
                </a:extLst>
              </a:tr>
              <a:tr h="423817">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Taxi Driving</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Multi</a:t>
                      </a:r>
                    </a:p>
                  </a:txBody>
                  <a:tcPr marL="0" marR="0" marT="0" marB="0" anchor="ctr"/>
                </a:tc>
                <a:extLst>
                  <a:ext uri="{0D108BD9-81ED-4DB2-BD59-A6C34878D82A}">
                    <a16:rowId xmlns:a16="http://schemas.microsoft.com/office/drawing/2014/main" val="4294430783"/>
                  </a:ext>
                </a:extLst>
              </a:tr>
              <a:tr h="557348">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Internet shopping</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Multi</a:t>
                      </a:r>
                    </a:p>
                  </a:txBody>
                  <a:tcPr marL="0" marR="0" marT="0" marB="0" anchor="ctr"/>
                </a:tc>
                <a:extLst>
                  <a:ext uri="{0D108BD9-81ED-4DB2-BD59-A6C34878D82A}">
                    <a16:rowId xmlns:a16="http://schemas.microsoft.com/office/drawing/2014/main" val="2978692195"/>
                  </a:ext>
                </a:extLst>
              </a:tr>
              <a:tr h="557348">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Medical Diagnosis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Single</a:t>
                      </a:r>
                    </a:p>
                  </a:txBody>
                  <a:tcPr marL="0" marR="0" marT="0" marB="0" anchor="ctr"/>
                </a:tc>
                <a:extLst>
                  <a:ext uri="{0D108BD9-81ED-4DB2-BD59-A6C34878D82A}">
                    <a16:rowId xmlns:a16="http://schemas.microsoft.com/office/drawing/2014/main" val="2791929853"/>
                  </a:ext>
                </a:extLst>
              </a:tr>
              <a:tr h="423817">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Crossword Puzzle</a:t>
                      </a: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tc>
                  <a:txBody>
                    <a:bodyPr/>
                    <a:lstStyle/>
                    <a:p>
                      <a:pPr algn="ctr"/>
                      <a:endParaRPr lang="en-US" sz="1600" b="0" dirty="0">
                        <a:latin typeface="CMU Serif" panose="02000603000000000000" pitchFamily="2" charset="0"/>
                        <a:ea typeface="CMU Serif" panose="02000603000000000000" pitchFamily="2" charset="0"/>
                        <a:cs typeface="CMU Serif" panose="02000603000000000000" pitchFamily="2" charset="0"/>
                      </a:endParaRPr>
                    </a:p>
                  </a:txBody>
                  <a:tcPr marL="0" marR="0" marT="0" marB="0" anchor="ctr"/>
                </a:tc>
                <a:extLst>
                  <a:ext uri="{0D108BD9-81ED-4DB2-BD59-A6C34878D82A}">
                    <a16:rowId xmlns:a16="http://schemas.microsoft.com/office/drawing/2014/main" val="1203513485"/>
                  </a:ext>
                </a:extLst>
              </a:tr>
            </a:tbl>
          </a:graphicData>
        </a:graphic>
      </p:graphicFrame>
    </p:spTree>
    <p:extLst>
      <p:ext uri="{BB962C8B-B14F-4D97-AF65-F5344CB8AC3E}">
        <p14:creationId xmlns:p14="http://schemas.microsoft.com/office/powerpoint/2010/main" val="22992012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63106-079F-F007-426C-4861FFC0AF5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72718B4-2AF9-36B3-A76D-378AC3A5D82D}"/>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Characteristics of Environments</a:t>
            </a:r>
          </a:p>
        </p:txBody>
      </p:sp>
      <p:graphicFrame>
        <p:nvGraphicFramePr>
          <p:cNvPr id="5" name="Table 4">
            <a:extLst>
              <a:ext uri="{FF2B5EF4-FFF2-40B4-BE49-F238E27FC236}">
                <a16:creationId xmlns:a16="http://schemas.microsoft.com/office/drawing/2014/main" id="{2EABB35E-2026-4306-210C-F32905B615CF}"/>
              </a:ext>
            </a:extLst>
          </p:cNvPr>
          <p:cNvGraphicFramePr>
            <a:graphicFrameLocks noGrp="1"/>
          </p:cNvGraphicFramePr>
          <p:nvPr/>
        </p:nvGraphicFramePr>
        <p:xfrm>
          <a:off x="452966" y="2184642"/>
          <a:ext cx="8241450" cy="3297644"/>
        </p:xfrm>
        <a:graphic>
          <a:graphicData uri="http://schemas.openxmlformats.org/drawingml/2006/table">
            <a:tbl>
              <a:tblPr firstRow="1" bandRow="1">
                <a:tableStyleId>{6E25E649-3F16-4E02-A733-19D2CDBF48F0}</a:tableStyleId>
              </a:tblPr>
              <a:tblGrid>
                <a:gridCol w="1394457">
                  <a:extLst>
                    <a:ext uri="{9D8B030D-6E8A-4147-A177-3AD203B41FA5}">
                      <a16:colId xmlns:a16="http://schemas.microsoft.com/office/drawing/2014/main" val="688925186"/>
                    </a:ext>
                  </a:extLst>
                </a:gridCol>
                <a:gridCol w="1234440">
                  <a:extLst>
                    <a:ext uri="{9D8B030D-6E8A-4147-A177-3AD203B41FA5}">
                      <a16:colId xmlns:a16="http://schemas.microsoft.com/office/drawing/2014/main" val="1868142969"/>
                    </a:ext>
                  </a:extLst>
                </a:gridCol>
                <a:gridCol w="1417320">
                  <a:extLst>
                    <a:ext uri="{9D8B030D-6E8A-4147-A177-3AD203B41FA5}">
                      <a16:colId xmlns:a16="http://schemas.microsoft.com/office/drawing/2014/main" val="4250934764"/>
                    </a:ext>
                  </a:extLst>
                </a:gridCol>
                <a:gridCol w="1112520">
                  <a:extLst>
                    <a:ext uri="{9D8B030D-6E8A-4147-A177-3AD203B41FA5}">
                      <a16:colId xmlns:a16="http://schemas.microsoft.com/office/drawing/2014/main" val="3433188855"/>
                    </a:ext>
                  </a:extLst>
                </a:gridCol>
                <a:gridCol w="1013460">
                  <a:extLst>
                    <a:ext uri="{9D8B030D-6E8A-4147-A177-3AD203B41FA5}">
                      <a16:colId xmlns:a16="http://schemas.microsoft.com/office/drawing/2014/main" val="3691740048"/>
                    </a:ext>
                  </a:extLst>
                </a:gridCol>
                <a:gridCol w="1074420">
                  <a:extLst>
                    <a:ext uri="{9D8B030D-6E8A-4147-A177-3AD203B41FA5}">
                      <a16:colId xmlns:a16="http://schemas.microsoft.com/office/drawing/2014/main" val="853341249"/>
                    </a:ext>
                  </a:extLst>
                </a:gridCol>
                <a:gridCol w="994833">
                  <a:extLst>
                    <a:ext uri="{9D8B030D-6E8A-4147-A177-3AD203B41FA5}">
                      <a16:colId xmlns:a16="http://schemas.microsoft.com/office/drawing/2014/main" val="2316218446"/>
                    </a:ext>
                  </a:extLst>
                </a:gridCol>
              </a:tblGrid>
              <a:tr h="423817">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Task</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Observable</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Deterministic</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Episodic</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Static</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Discrete</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Agents</a:t>
                      </a:r>
                    </a:p>
                  </a:txBody>
                  <a:tcPr marL="0" marR="0" marT="0" marB="0" anchor="ctr"/>
                </a:tc>
                <a:extLst>
                  <a:ext uri="{0D108BD9-81ED-4DB2-BD59-A6C34878D82A}">
                    <a16:rowId xmlns:a16="http://schemas.microsoft.com/office/drawing/2014/main" val="1485445105"/>
                  </a:ext>
                </a:extLst>
              </a:tr>
              <a:tr h="423817">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Solitaire</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Single</a:t>
                      </a:r>
                    </a:p>
                  </a:txBody>
                  <a:tcPr marL="0" marR="0" marT="0" marB="0" anchor="ctr"/>
                </a:tc>
                <a:extLst>
                  <a:ext uri="{0D108BD9-81ED-4DB2-BD59-A6C34878D82A}">
                    <a16:rowId xmlns:a16="http://schemas.microsoft.com/office/drawing/2014/main" val="1852746854"/>
                  </a:ext>
                </a:extLst>
              </a:tr>
              <a:tr h="423817">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Chess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Multi</a:t>
                      </a:r>
                    </a:p>
                  </a:txBody>
                  <a:tcPr marL="0" marR="0" marT="0" marB="0" anchor="ctr"/>
                </a:tc>
                <a:extLst>
                  <a:ext uri="{0D108BD9-81ED-4DB2-BD59-A6C34878D82A}">
                    <a16:rowId xmlns:a16="http://schemas.microsoft.com/office/drawing/2014/main" val="48212700"/>
                  </a:ext>
                </a:extLst>
              </a:tr>
              <a:tr h="423817">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Taxi Driving</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Multi</a:t>
                      </a:r>
                    </a:p>
                  </a:txBody>
                  <a:tcPr marL="0" marR="0" marT="0" marB="0" anchor="ctr"/>
                </a:tc>
                <a:extLst>
                  <a:ext uri="{0D108BD9-81ED-4DB2-BD59-A6C34878D82A}">
                    <a16:rowId xmlns:a16="http://schemas.microsoft.com/office/drawing/2014/main" val="4294430783"/>
                  </a:ext>
                </a:extLst>
              </a:tr>
              <a:tr h="557348">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Internet shopping</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Multi</a:t>
                      </a:r>
                    </a:p>
                  </a:txBody>
                  <a:tcPr marL="0" marR="0" marT="0" marB="0" anchor="ctr"/>
                </a:tc>
                <a:extLst>
                  <a:ext uri="{0D108BD9-81ED-4DB2-BD59-A6C34878D82A}">
                    <a16:rowId xmlns:a16="http://schemas.microsoft.com/office/drawing/2014/main" val="2978692195"/>
                  </a:ext>
                </a:extLst>
              </a:tr>
              <a:tr h="557348">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Medical Diagnosis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Single</a:t>
                      </a:r>
                    </a:p>
                  </a:txBody>
                  <a:tcPr marL="0" marR="0" marT="0" marB="0" anchor="ctr"/>
                </a:tc>
                <a:extLst>
                  <a:ext uri="{0D108BD9-81ED-4DB2-BD59-A6C34878D82A}">
                    <a16:rowId xmlns:a16="http://schemas.microsoft.com/office/drawing/2014/main" val="2791929853"/>
                  </a:ext>
                </a:extLst>
              </a:tr>
              <a:tr h="423817">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Crossword Puzzle</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No</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Yes</a:t>
                      </a:r>
                    </a:p>
                  </a:txBody>
                  <a:tcPr marL="0" marR="0" marT="0" marB="0" anchor="ctr"/>
                </a:tc>
                <a:tc>
                  <a:txBody>
                    <a:bodyPr/>
                    <a:lstStyle/>
                    <a:p>
                      <a:pPr algn="ctr"/>
                      <a:r>
                        <a:rPr lang="en-US" sz="1600" b="0" dirty="0">
                          <a:latin typeface="CMU Serif" panose="02000603000000000000" pitchFamily="2" charset="0"/>
                          <a:ea typeface="CMU Serif" panose="02000603000000000000" pitchFamily="2" charset="0"/>
                          <a:cs typeface="CMU Serif" panose="02000603000000000000" pitchFamily="2" charset="0"/>
                        </a:rPr>
                        <a:t>Single</a:t>
                      </a:r>
                    </a:p>
                  </a:txBody>
                  <a:tcPr marL="0" marR="0" marT="0" marB="0" anchor="ctr"/>
                </a:tc>
                <a:extLst>
                  <a:ext uri="{0D108BD9-81ED-4DB2-BD59-A6C34878D82A}">
                    <a16:rowId xmlns:a16="http://schemas.microsoft.com/office/drawing/2014/main" val="1203513485"/>
                  </a:ext>
                </a:extLst>
              </a:tr>
            </a:tbl>
          </a:graphicData>
        </a:graphic>
      </p:graphicFrame>
    </p:spTree>
    <p:extLst>
      <p:ext uri="{BB962C8B-B14F-4D97-AF65-F5344CB8AC3E}">
        <p14:creationId xmlns:p14="http://schemas.microsoft.com/office/powerpoint/2010/main" val="29631640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C1150-F8F1-BF96-89B8-12B720DCD4C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1C16DE4-C4EE-7416-400F-FD02F0FD22A7}"/>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Structure of Agents</a:t>
            </a:r>
          </a:p>
        </p:txBody>
      </p:sp>
      <p:sp>
        <p:nvSpPr>
          <p:cNvPr id="2" name="TextBox 1">
            <a:extLst>
              <a:ext uri="{FF2B5EF4-FFF2-40B4-BE49-F238E27FC236}">
                <a16:creationId xmlns:a16="http://schemas.microsoft.com/office/drawing/2014/main" id="{C293383C-E990-4808-7635-01B0FBA25EB4}"/>
              </a:ext>
            </a:extLst>
          </p:cNvPr>
          <p:cNvSpPr txBox="1"/>
          <p:nvPr/>
        </p:nvSpPr>
        <p:spPr>
          <a:xfrm>
            <a:off x="452965" y="2013228"/>
            <a:ext cx="8238067" cy="2831544"/>
          </a:xfrm>
          <a:prstGeom prst="rect">
            <a:avLst/>
          </a:prstGeom>
          <a:noFill/>
        </p:spPr>
        <p:txBody>
          <a:bodyPr wrap="square" lIns="0" tIns="0" rIns="0" bIns="0" rtlCol="0" anchor="ctr">
            <a:spAutoFit/>
          </a:bodyPr>
          <a:lstStyle/>
          <a:p>
            <a:pPr>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Four basic kinds of </a:t>
            </a: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agent programs</a:t>
            </a:r>
            <a:r>
              <a:rPr lang="en-US" sz="2400" dirty="0">
                <a:latin typeface="CMU Serif" panose="02000603000000000000" pitchFamily="2" charset="0"/>
                <a:ea typeface="CMU Serif" panose="02000603000000000000" pitchFamily="2" charset="0"/>
                <a:cs typeface="CMU Serif" panose="02000603000000000000" pitchFamily="2" charset="0"/>
              </a:rPr>
              <a:t> embody the principles underlying almost all intelligent systems:</a:t>
            </a:r>
          </a:p>
          <a:p>
            <a:pPr marL="342900" indent="-342900">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Simple reflex agents;</a:t>
            </a:r>
          </a:p>
          <a:p>
            <a:pPr marL="342900" indent="-342900">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Model-based reflex agents;</a:t>
            </a:r>
          </a:p>
          <a:p>
            <a:pPr marL="342900" indent="-342900">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Goal-based agents;</a:t>
            </a:r>
          </a:p>
          <a:p>
            <a:pPr marL="342900" indent="-342900">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Utility-based agents;</a:t>
            </a:r>
          </a:p>
        </p:txBody>
      </p:sp>
    </p:spTree>
    <p:extLst>
      <p:ext uri="{BB962C8B-B14F-4D97-AF65-F5344CB8AC3E}">
        <p14:creationId xmlns:p14="http://schemas.microsoft.com/office/powerpoint/2010/main" val="27467829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AC565-BEB1-47B2-602D-83AF6A62859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CEF4755-973A-9025-63BF-27CE98A7934A}"/>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Simple Reflex Agents</a:t>
            </a:r>
          </a:p>
        </p:txBody>
      </p:sp>
      <p:sp>
        <p:nvSpPr>
          <p:cNvPr id="2" name="TextBox 1">
            <a:extLst>
              <a:ext uri="{FF2B5EF4-FFF2-40B4-BE49-F238E27FC236}">
                <a16:creationId xmlns:a16="http://schemas.microsoft.com/office/drawing/2014/main" id="{DAD7465D-3039-E0B2-C5B1-8B24A2F3954C}"/>
              </a:ext>
            </a:extLst>
          </p:cNvPr>
          <p:cNvSpPr txBox="1"/>
          <p:nvPr/>
        </p:nvSpPr>
        <p:spPr>
          <a:xfrm>
            <a:off x="452965" y="1466840"/>
            <a:ext cx="8238067" cy="1785104"/>
          </a:xfrm>
          <a:prstGeom prst="rect">
            <a:avLst/>
          </a:prstGeom>
          <a:noFill/>
        </p:spPr>
        <p:txBody>
          <a:bodyPr wrap="square" lIns="0" tIns="0" rIns="0" bIns="0" rtlCol="0" anchor="ctr">
            <a:spAutoFit/>
          </a:bodyPr>
          <a:lstStyle/>
          <a:p>
            <a:pPr marL="342900" indent="-342900">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The simplest kind of agent is the simple reflex agent. </a:t>
            </a:r>
          </a:p>
          <a:p>
            <a:pPr marL="342900" indent="-342900">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Select actions on the basis of the current percept, ignoring the rest of the percept history.</a:t>
            </a:r>
          </a:p>
          <a:p>
            <a:pPr marL="342900" indent="-342900">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Ex: Chess, Checkers, Tic-Tac-Toe. </a:t>
            </a:r>
          </a:p>
        </p:txBody>
      </p:sp>
      <p:pic>
        <p:nvPicPr>
          <p:cNvPr id="5" name="Picture 4">
            <a:extLst>
              <a:ext uri="{FF2B5EF4-FFF2-40B4-BE49-F238E27FC236}">
                <a16:creationId xmlns:a16="http://schemas.microsoft.com/office/drawing/2014/main" id="{1DAAD4F9-2FF6-97C8-05F1-884F0B4439F7}"/>
              </a:ext>
            </a:extLst>
          </p:cNvPr>
          <p:cNvPicPr>
            <a:picLocks noChangeAspect="1"/>
          </p:cNvPicPr>
          <p:nvPr/>
        </p:nvPicPr>
        <p:blipFill>
          <a:blip r:embed="rId3"/>
          <a:stretch>
            <a:fillRect/>
          </a:stretch>
        </p:blipFill>
        <p:spPr>
          <a:xfrm>
            <a:off x="2118945" y="3514916"/>
            <a:ext cx="4906108" cy="3200400"/>
          </a:xfrm>
          <a:prstGeom prst="rect">
            <a:avLst/>
          </a:prstGeom>
        </p:spPr>
      </p:pic>
    </p:spTree>
    <p:extLst>
      <p:ext uri="{BB962C8B-B14F-4D97-AF65-F5344CB8AC3E}">
        <p14:creationId xmlns:p14="http://schemas.microsoft.com/office/powerpoint/2010/main" val="17776778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CCF31-E0FA-062B-BD6E-209CAAE0FD5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BDB4E7B-7DC7-00CA-E701-7E60EBF6DFDA}"/>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Model-based Reflex Agents</a:t>
            </a:r>
          </a:p>
        </p:txBody>
      </p:sp>
      <p:sp>
        <p:nvSpPr>
          <p:cNvPr id="2" name="TextBox 1">
            <a:extLst>
              <a:ext uri="{FF2B5EF4-FFF2-40B4-BE49-F238E27FC236}">
                <a16:creationId xmlns:a16="http://schemas.microsoft.com/office/drawing/2014/main" id="{4E9F04FD-80C3-5614-E1F1-69414B087A9A}"/>
              </a:ext>
            </a:extLst>
          </p:cNvPr>
          <p:cNvSpPr txBox="1"/>
          <p:nvPr/>
        </p:nvSpPr>
        <p:spPr>
          <a:xfrm>
            <a:off x="452966" y="1423882"/>
            <a:ext cx="8238067" cy="1785104"/>
          </a:xfrm>
          <a:prstGeom prst="rect">
            <a:avLst/>
          </a:prstGeom>
          <a:noFill/>
        </p:spPr>
        <p:txBody>
          <a:bodyPr wrap="square" lIns="0" tIns="0" rIns="0" bIns="0" rtlCol="0" anchor="ctr">
            <a:spAutoFit/>
          </a:bodyPr>
          <a:lstStyle/>
          <a:p>
            <a:pPr marL="342900" indent="-342900">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The most effective way to handle </a:t>
            </a: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partial observability </a:t>
            </a:r>
            <a:r>
              <a:rPr lang="en-US" sz="2400" dirty="0">
                <a:latin typeface="CMU Serif" panose="02000603000000000000" pitchFamily="2" charset="0"/>
                <a:ea typeface="CMU Serif" panose="02000603000000000000" pitchFamily="2" charset="0"/>
                <a:cs typeface="CMU Serif" panose="02000603000000000000" pitchFamily="2" charset="0"/>
              </a:rPr>
              <a:t>environment.</a:t>
            </a:r>
          </a:p>
          <a:p>
            <a:pPr marL="342900" indent="-342900">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Keeps track of the part of the world it can’t see now. </a:t>
            </a:r>
          </a:p>
          <a:p>
            <a:pPr marL="342900" indent="-342900">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Ex: Self-driving car, Vacuum cleaning robot. </a:t>
            </a:r>
          </a:p>
        </p:txBody>
      </p:sp>
      <p:pic>
        <p:nvPicPr>
          <p:cNvPr id="6" name="Picture 5">
            <a:extLst>
              <a:ext uri="{FF2B5EF4-FFF2-40B4-BE49-F238E27FC236}">
                <a16:creationId xmlns:a16="http://schemas.microsoft.com/office/drawing/2014/main" id="{12F77682-3B6D-9C93-7266-449EDD1336D2}"/>
              </a:ext>
            </a:extLst>
          </p:cNvPr>
          <p:cNvPicPr>
            <a:picLocks noChangeAspect="1"/>
          </p:cNvPicPr>
          <p:nvPr/>
        </p:nvPicPr>
        <p:blipFill>
          <a:blip r:embed="rId3"/>
          <a:stretch>
            <a:fillRect/>
          </a:stretch>
        </p:blipFill>
        <p:spPr>
          <a:xfrm>
            <a:off x="2071499" y="3429000"/>
            <a:ext cx="5000999" cy="3200400"/>
          </a:xfrm>
          <a:prstGeom prst="rect">
            <a:avLst/>
          </a:prstGeom>
        </p:spPr>
      </p:pic>
    </p:spTree>
    <p:extLst>
      <p:ext uri="{BB962C8B-B14F-4D97-AF65-F5344CB8AC3E}">
        <p14:creationId xmlns:p14="http://schemas.microsoft.com/office/powerpoint/2010/main" val="24430787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9F4B4-E864-5BF2-97CA-66D6B7091E5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F915035-1A9D-F0AA-88FD-7D7756B75000}"/>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Goal-based Agents</a:t>
            </a:r>
          </a:p>
        </p:txBody>
      </p:sp>
      <p:sp>
        <p:nvSpPr>
          <p:cNvPr id="2" name="TextBox 1">
            <a:extLst>
              <a:ext uri="{FF2B5EF4-FFF2-40B4-BE49-F238E27FC236}">
                <a16:creationId xmlns:a16="http://schemas.microsoft.com/office/drawing/2014/main" id="{8A147396-3554-2725-71FC-75F7FE24D2FE}"/>
              </a:ext>
            </a:extLst>
          </p:cNvPr>
          <p:cNvSpPr txBox="1"/>
          <p:nvPr/>
        </p:nvSpPr>
        <p:spPr>
          <a:xfrm>
            <a:off x="452966" y="1543160"/>
            <a:ext cx="8238067" cy="1631216"/>
          </a:xfrm>
          <a:prstGeom prst="rect">
            <a:avLst/>
          </a:prstGeom>
          <a:noFill/>
        </p:spPr>
        <p:txBody>
          <a:bodyPr wrap="square" lIns="0" tIns="0" rIns="0" bIns="0" rtlCol="0" anchor="ctr">
            <a:spAutoFit/>
          </a:bodyPr>
          <a:lstStyle/>
          <a:p>
            <a:pPr marL="342900" indent="-342900">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Agent needs some sort of goal information that describes situations that are desirable. </a:t>
            </a:r>
          </a:p>
          <a:p>
            <a:pPr marL="342900" indent="-342900">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Agent program can combine this with the model information to choose actions that achieve the goal.</a:t>
            </a:r>
          </a:p>
        </p:txBody>
      </p:sp>
      <p:pic>
        <p:nvPicPr>
          <p:cNvPr id="5" name="Picture 4">
            <a:extLst>
              <a:ext uri="{FF2B5EF4-FFF2-40B4-BE49-F238E27FC236}">
                <a16:creationId xmlns:a16="http://schemas.microsoft.com/office/drawing/2014/main" id="{FA578F93-EDB1-3361-B19D-F2A95585C59A}"/>
              </a:ext>
            </a:extLst>
          </p:cNvPr>
          <p:cNvPicPr>
            <a:picLocks noChangeAspect="1"/>
          </p:cNvPicPr>
          <p:nvPr/>
        </p:nvPicPr>
        <p:blipFill>
          <a:blip r:embed="rId3"/>
          <a:stretch>
            <a:fillRect/>
          </a:stretch>
        </p:blipFill>
        <p:spPr>
          <a:xfrm>
            <a:off x="2095427" y="3513668"/>
            <a:ext cx="4953143" cy="3200400"/>
          </a:xfrm>
          <a:prstGeom prst="rect">
            <a:avLst/>
          </a:prstGeom>
        </p:spPr>
      </p:pic>
    </p:spTree>
    <p:extLst>
      <p:ext uri="{BB962C8B-B14F-4D97-AF65-F5344CB8AC3E}">
        <p14:creationId xmlns:p14="http://schemas.microsoft.com/office/powerpoint/2010/main" val="33059123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B9C81-66C7-4074-79B2-1619C821BA2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4C56DE2-5DD3-FEEF-ADC4-540D00A85C4F}"/>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Utility-based Agents</a:t>
            </a:r>
          </a:p>
        </p:txBody>
      </p:sp>
      <p:sp>
        <p:nvSpPr>
          <p:cNvPr id="2" name="TextBox 1">
            <a:extLst>
              <a:ext uri="{FF2B5EF4-FFF2-40B4-BE49-F238E27FC236}">
                <a16:creationId xmlns:a16="http://schemas.microsoft.com/office/drawing/2014/main" id="{828A6495-A6BE-D075-1A6D-38536F8E87CA}"/>
              </a:ext>
            </a:extLst>
          </p:cNvPr>
          <p:cNvSpPr txBox="1"/>
          <p:nvPr/>
        </p:nvSpPr>
        <p:spPr>
          <a:xfrm>
            <a:off x="452966" y="1415984"/>
            <a:ext cx="8238067" cy="2893100"/>
          </a:xfrm>
          <a:prstGeom prst="rect">
            <a:avLst/>
          </a:prstGeom>
          <a:noFill/>
        </p:spPr>
        <p:txBody>
          <a:bodyPr wrap="square" lIns="0" tIns="0" rIns="0" bIns="0" rtlCol="0" anchor="ctr">
            <a:spAutoFit/>
          </a:bodyPr>
          <a:lstStyle/>
          <a:p>
            <a:pPr marL="342900" indent="-342900">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Goals alone are not enough to generate high-quality behavior in most environments. </a:t>
            </a:r>
          </a:p>
          <a:p>
            <a:pPr marL="342900" indent="-342900">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For example, many action sequences will get a taxi to its destination, but some are quicker, safer, more reliable, or cheaper than others.</a:t>
            </a:r>
          </a:p>
          <a:p>
            <a:pPr marL="342900" indent="-342900">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Agent’s utility is essentially a function of the </a:t>
            </a: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performance measure. </a:t>
            </a:r>
          </a:p>
        </p:txBody>
      </p:sp>
      <p:pic>
        <p:nvPicPr>
          <p:cNvPr id="6" name="Picture 5">
            <a:extLst>
              <a:ext uri="{FF2B5EF4-FFF2-40B4-BE49-F238E27FC236}">
                <a16:creationId xmlns:a16="http://schemas.microsoft.com/office/drawing/2014/main" id="{915A6BE7-E24A-2751-0EEF-88781FB60C44}"/>
              </a:ext>
            </a:extLst>
          </p:cNvPr>
          <p:cNvPicPr>
            <a:picLocks noChangeAspect="1"/>
          </p:cNvPicPr>
          <p:nvPr/>
        </p:nvPicPr>
        <p:blipFill>
          <a:blip r:embed="rId3"/>
          <a:stretch>
            <a:fillRect/>
          </a:stretch>
        </p:blipFill>
        <p:spPr>
          <a:xfrm>
            <a:off x="2455019" y="4004284"/>
            <a:ext cx="4233959" cy="2743200"/>
          </a:xfrm>
          <a:prstGeom prst="rect">
            <a:avLst/>
          </a:prstGeom>
        </p:spPr>
      </p:pic>
    </p:spTree>
    <p:extLst>
      <p:ext uri="{BB962C8B-B14F-4D97-AF65-F5344CB8AC3E}">
        <p14:creationId xmlns:p14="http://schemas.microsoft.com/office/powerpoint/2010/main" val="20407040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51E39-C921-7918-0E5C-FD69FCE75AC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AF9E7FF-0F56-C1F8-0873-01845EB011C0}"/>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Reading</a:t>
            </a:r>
          </a:p>
        </p:txBody>
      </p:sp>
      <p:sp>
        <p:nvSpPr>
          <p:cNvPr id="2" name="TextBox 1">
            <a:extLst>
              <a:ext uri="{FF2B5EF4-FFF2-40B4-BE49-F238E27FC236}">
                <a16:creationId xmlns:a16="http://schemas.microsoft.com/office/drawing/2014/main" id="{85F2C1FC-A726-ADD7-357C-A7463742494F}"/>
              </a:ext>
            </a:extLst>
          </p:cNvPr>
          <p:cNvSpPr txBox="1"/>
          <p:nvPr/>
        </p:nvSpPr>
        <p:spPr>
          <a:xfrm>
            <a:off x="452966" y="2416258"/>
            <a:ext cx="8238067" cy="892552"/>
          </a:xfrm>
          <a:prstGeom prst="rect">
            <a:avLst/>
          </a:prstGeom>
          <a:noFill/>
        </p:spPr>
        <p:txBody>
          <a:bodyPr wrap="square" lIns="0" tIns="0" rIns="0" bIns="0" rtlCol="0" anchor="ctr">
            <a:spAutoFit/>
          </a:bodyPr>
          <a:lstStyle/>
          <a:p>
            <a:pPr>
              <a:spcAft>
                <a:spcPts val="1200"/>
              </a:spcAft>
              <a:buClr>
                <a:schemeClr val="accent1"/>
              </a:buClr>
            </a:pP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Chapter 02 of the textbook </a:t>
            </a:r>
          </a:p>
          <a:p>
            <a:pPr>
              <a:spcAft>
                <a:spcPts val="1200"/>
              </a:spcAft>
              <a:buClr>
                <a:schemeClr val="accent1"/>
              </a:buClr>
            </a:pP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Pages 54 to 74 </a:t>
            </a:r>
          </a:p>
        </p:txBody>
      </p:sp>
    </p:spTree>
    <p:extLst>
      <p:ext uri="{BB962C8B-B14F-4D97-AF65-F5344CB8AC3E}">
        <p14:creationId xmlns:p14="http://schemas.microsoft.com/office/powerpoint/2010/main" val="548635645"/>
      </p:ext>
    </p:extLst>
  </p:cSld>
  <p:clrMapOvr>
    <a:masterClrMapping/>
  </p:clrMapOvr>
</p:sld>
</file>

<file path=ppt/theme/theme1.xml><?xml version="1.0" encoding="utf-8"?>
<a:theme xmlns:a="http://schemas.openxmlformats.org/drawingml/2006/main" name="Dividend">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TM03457464[[fn=Dividend]]</Template>
  <TotalTime>730</TotalTime>
  <Words>1420</Words>
  <Application>Microsoft Office PowerPoint</Application>
  <PresentationFormat>On-screen Show (4:3)</PresentationFormat>
  <Paragraphs>395</Paragraphs>
  <Slides>30</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Aptos</vt:lpstr>
      <vt:lpstr>Arial</vt:lpstr>
      <vt:lpstr>CMU Serif</vt:lpstr>
      <vt:lpstr>Gill Sans MT</vt:lpstr>
      <vt:lpstr>Wingdings 2</vt:lpstr>
      <vt:lpstr>Dividend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Mohammad M Alam</dc:creator>
  <cp:lastModifiedBy>Mohammad M Alam</cp:lastModifiedBy>
  <cp:revision>21</cp:revision>
  <dcterms:created xsi:type="dcterms:W3CDTF">2025-01-08T01:58:03Z</dcterms:created>
  <dcterms:modified xsi:type="dcterms:W3CDTF">2025-02-28T09:44:03Z</dcterms:modified>
</cp:coreProperties>
</file>